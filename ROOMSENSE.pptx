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</p:sldIdLst>
  <p:sldSz cy="5143500" cx="9144000"/>
  <p:notesSz cx="6858000" cy="9144000"/>
  <p:embeddedFontLst>
    <p:embeddedFont>
      <p:font typeface="Nunito"/>
      <p:regular r:id="rId40"/>
      <p:bold r:id="rId41"/>
      <p:italic r:id="rId42"/>
      <p:boldItalic r:id="rId43"/>
    </p:embeddedFont>
    <p:embeddedFont>
      <p:font typeface="Spectral"/>
      <p:regular r:id="rId44"/>
      <p:bold r:id="rId45"/>
      <p:italic r:id="rId46"/>
      <p:boldItalic r:id="rId47"/>
    </p:embeddedFont>
    <p:embeddedFont>
      <p:font typeface="Roboto Mono"/>
      <p:regular r:id="rId48"/>
      <p:bold r:id="rId49"/>
      <p:italic r:id="rId50"/>
      <p:boldItalic r:id="rId5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Nunito-regular.fntdata"/><Relationship Id="rId42" Type="http://schemas.openxmlformats.org/officeDocument/2006/relationships/font" Target="fonts/Nunito-italic.fntdata"/><Relationship Id="rId41" Type="http://schemas.openxmlformats.org/officeDocument/2006/relationships/font" Target="fonts/Nunito-bold.fntdata"/><Relationship Id="rId44" Type="http://schemas.openxmlformats.org/officeDocument/2006/relationships/font" Target="fonts/Spectral-regular.fntdata"/><Relationship Id="rId43" Type="http://schemas.openxmlformats.org/officeDocument/2006/relationships/font" Target="fonts/Nunito-boldItalic.fntdata"/><Relationship Id="rId46" Type="http://schemas.openxmlformats.org/officeDocument/2006/relationships/font" Target="fonts/Spectral-italic.fntdata"/><Relationship Id="rId45" Type="http://schemas.openxmlformats.org/officeDocument/2006/relationships/font" Target="fonts/Spectral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RobotoMono-regular.fntdata"/><Relationship Id="rId47" Type="http://schemas.openxmlformats.org/officeDocument/2006/relationships/font" Target="fonts/Spectral-boldItalic.fntdata"/><Relationship Id="rId49" Type="http://schemas.openxmlformats.org/officeDocument/2006/relationships/font" Target="fonts/RobotoMono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RobotoMono-boldItalic.fntdata"/><Relationship Id="rId50" Type="http://schemas.openxmlformats.org/officeDocument/2006/relationships/font" Target="fonts/RobotoMono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" name="Google Shape;12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a5c9ef78fb_1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a5c9ef78fb_1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a5c9ef78fb_1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a5c9ef78fb_1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" name="Google Shape;14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ad84d1fe08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" name="Google Shape;157;g3ad84d1fe08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ad84d1fe08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" name="Google Shape;165;g3ad84d1fe08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a5c9ef78fb_1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a5c9ef78fb_1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a5c3291686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g3a5c3291686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a5c3291686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0" name="Google Shape;190;g3a5c3291686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a5c3291686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" name="Google Shape;199;g3a5c3291686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a5c9ef78fb_1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3a5c9ef78fb_1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ae7f5436d5_2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4" name="Google Shape;224;g3ae7f5436d5_2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ae7f5436d5_2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4" name="Google Shape;234;g3ae7f5436d5_2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aedf28e8bc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7" name="Google Shape;247;g3aedf28e8bc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aedf28e8bc_1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7" name="Google Shape;257;g3aedf28e8bc_1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aedf28e8bc_1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5" name="Google Shape;265;g3aedf28e8bc_1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aedf28e8bc_1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3" name="Google Shape;273;g3aedf28e8bc_1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ae7f5436d5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3ae7f5436d5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ae751ff987_1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3ae751ff987_1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ae7f5436d5_1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3ae7f5436d5_1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ae751ff987_1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3ae751ff987_1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ae751ff987_1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" name="Google Shape;309;g3ae751ff987_1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ae751ff987_1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6" name="Google Shape;316;g3ae751ff987_1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3ae7f5436d5_1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5" name="Google Shape;325;g3ae7f5436d5_1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3ae7f5436d5_1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g3ae7f5436d5_1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3ae7f5436d5_1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7" name="Google Shape;347;g3ae7f5436d5_1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3aedf28e8bc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8" name="Google Shape;358;g3aedf28e8bc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3aedf28e8bc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7" name="Google Shape;367;g3aedf28e8bc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3ae7f5436d5_1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7" name="Google Shape;377;g3ae7f5436d5_1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3ae7f5436d5_1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8" name="Google Shape;388;g3ae7f5436d5_1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3aedf28e8bc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9" name="Google Shape;399;g3aedf28e8bc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3ae751ff987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9" name="Google Shape;409;g3ae751ff987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3ae751ff987_1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0" name="Google Shape;420;g3ae751ff987_1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3a5c9ef78fb_1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1" name="Google Shape;431;g3a5c9ef78fb_1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6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2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2"/>
          <p:cNvSpPr/>
          <p:nvPr/>
        </p:nvSpPr>
        <p:spPr>
          <a:xfrm rot="10800000">
            <a:off x="5058905" y="0"/>
            <a:ext cx="4085100" cy="20526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2"/>
          <p:cNvSpPr/>
          <p:nvPr/>
        </p:nvSpPr>
        <p:spPr>
          <a:xfrm>
            <a:off x="20327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" name="Google Shape;14;p2"/>
          <p:cNvGrpSpPr/>
          <p:nvPr/>
        </p:nvGrpSpPr>
        <p:grpSpPr>
          <a:xfrm>
            <a:off x="255200" y="592"/>
            <a:ext cx="2250363" cy="1044300"/>
            <a:chOff x="255200" y="592"/>
            <a:chExt cx="2250363" cy="1044300"/>
          </a:xfrm>
        </p:grpSpPr>
        <p:sp>
          <p:nvSpPr>
            <p:cNvPr id="15" name="Google Shape;15;p2"/>
            <p:cNvSpPr/>
            <p:nvPr/>
          </p:nvSpPr>
          <p:spPr>
            <a:xfrm>
              <a:off x="764063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09632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55200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" name="Google Shape;18;p2"/>
          <p:cNvGrpSpPr/>
          <p:nvPr/>
        </p:nvGrpSpPr>
        <p:grpSpPr>
          <a:xfrm>
            <a:off x="905395" y="592"/>
            <a:ext cx="2250363" cy="1044300"/>
            <a:chOff x="905395" y="592"/>
            <a:chExt cx="2250363" cy="1044300"/>
          </a:xfrm>
        </p:grpSpPr>
        <p:sp>
          <p:nvSpPr>
            <p:cNvPr id="19" name="Google Shape;19;p2"/>
            <p:cNvSpPr/>
            <p:nvPr/>
          </p:nvSpPr>
          <p:spPr>
            <a:xfrm>
              <a:off x="1414258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1159826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905395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" name="Google Shape;22;p2"/>
          <p:cNvGrpSpPr/>
          <p:nvPr/>
        </p:nvGrpSpPr>
        <p:grpSpPr>
          <a:xfrm>
            <a:off x="7057468" y="5088"/>
            <a:ext cx="1851281" cy="752108"/>
            <a:chOff x="6917201" y="0"/>
            <a:chExt cx="2227776" cy="863400"/>
          </a:xfrm>
        </p:grpSpPr>
        <p:sp>
          <p:nvSpPr>
            <p:cNvPr id="23" name="Google Shape;23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" name="Google Shape;26;p2"/>
          <p:cNvGrpSpPr/>
          <p:nvPr/>
        </p:nvGrpSpPr>
        <p:grpSpPr>
          <a:xfrm>
            <a:off x="6553032" y="4217852"/>
            <a:ext cx="2389067" cy="925737"/>
            <a:chOff x="6917201" y="0"/>
            <a:chExt cx="2227776" cy="863400"/>
          </a:xfrm>
        </p:grpSpPr>
        <p:sp>
          <p:nvSpPr>
            <p:cNvPr id="27" name="Google Shape;27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0" name="Google Shape;30;p2"/>
          <p:cNvGrpSpPr/>
          <p:nvPr/>
        </p:nvGrpSpPr>
        <p:grpSpPr>
          <a:xfrm>
            <a:off x="199149" y="4055652"/>
            <a:ext cx="2795413" cy="1083308"/>
            <a:chOff x="6917201" y="0"/>
            <a:chExt cx="2227776" cy="863400"/>
          </a:xfrm>
        </p:grpSpPr>
        <p:sp>
          <p:nvSpPr>
            <p:cNvPr id="31" name="Google Shape;31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4" name="Google Shape;34;p2"/>
          <p:cNvSpPr txBox="1"/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35" name="Google Shape;35;p2"/>
          <p:cNvSpPr txBox="1"/>
          <p:nvPr>
            <p:ph idx="1" type="subTitle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" name="Google Shape;36;p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chemeClr val="dk2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3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3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3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2" name="Google Shape;42;p3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3" name="Google Shape;43;p3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4"/>
          <p:cNvSpPr/>
          <p:nvPr/>
        </p:nvSpPr>
        <p:spPr>
          <a:xfrm flipH="1">
            <a:off x="4757100" y="2309400"/>
            <a:ext cx="4386900" cy="2834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6" name="Google Shape;46;p4"/>
          <p:cNvGrpSpPr/>
          <p:nvPr/>
        </p:nvGrpSpPr>
        <p:grpSpPr>
          <a:xfrm>
            <a:off x="5594191" y="3961115"/>
            <a:ext cx="2910144" cy="1182340"/>
            <a:chOff x="6917201" y="0"/>
            <a:chExt cx="2227776" cy="863400"/>
          </a:xfrm>
        </p:grpSpPr>
        <p:sp>
          <p:nvSpPr>
            <p:cNvPr id="47" name="Google Shape;47;p4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" name="Google Shape;48;p4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" name="Google Shape;49;p4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0" name="Google Shape;50;p4"/>
          <p:cNvGrpSpPr/>
          <p:nvPr/>
        </p:nvGrpSpPr>
        <p:grpSpPr>
          <a:xfrm>
            <a:off x="199149" y="2"/>
            <a:ext cx="2795413" cy="1083308"/>
            <a:chOff x="6917201" y="0"/>
            <a:chExt cx="2227776" cy="863400"/>
          </a:xfrm>
        </p:grpSpPr>
        <p:sp>
          <p:nvSpPr>
            <p:cNvPr id="51" name="Google Shape;51;p4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" name="Google Shape;52;p4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" name="Google Shape;53;p4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4" name="Google Shape;54;p4"/>
          <p:cNvSpPr txBox="1"/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5" name="Google Shape;55;p4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solidFill>
          <a:schemeClr val="dk2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5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5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5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1" name="Google Shape;61;p5"/>
          <p:cNvSpPr txBox="1"/>
          <p:nvPr>
            <p:ph idx="1" type="body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2" name="Google Shape;62;p5"/>
          <p:cNvSpPr txBox="1"/>
          <p:nvPr>
            <p:ph idx="2" type="body"/>
          </p:nvPr>
        </p:nvSpPr>
        <p:spPr>
          <a:xfrm>
            <a:off x="4638675" y="1990725"/>
            <a:ext cx="3686100" cy="24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3" name="Google Shape;63;p5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solidFill>
          <a:schemeClr val="dk2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6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6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6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9" name="Google Shape;69;p6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solidFill>
          <a:schemeClr val="accent3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7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7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7"/>
          <p:cNvSpPr txBox="1"/>
          <p:nvPr>
            <p:ph type="title"/>
          </p:nvPr>
        </p:nvSpPr>
        <p:spPr>
          <a:xfrm>
            <a:off x="819150" y="845600"/>
            <a:ext cx="3709200" cy="13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5" name="Google Shape;75;p7"/>
          <p:cNvSpPr txBox="1"/>
          <p:nvPr>
            <p:ph idx="1" type="body"/>
          </p:nvPr>
        </p:nvSpPr>
        <p:spPr>
          <a:xfrm>
            <a:off x="830700" y="2319050"/>
            <a:ext cx="3709200" cy="21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6" name="Google Shape;76;p7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"/>
          <p:cNvSpPr/>
          <p:nvPr/>
        </p:nvSpPr>
        <p:spPr>
          <a:xfrm>
            <a:off x="0" y="2823144"/>
            <a:ext cx="7369200" cy="23169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8"/>
          <p:cNvSpPr/>
          <p:nvPr/>
        </p:nvSpPr>
        <p:spPr>
          <a:xfrm flipH="1">
            <a:off x="3583210" y="1554113"/>
            <a:ext cx="5560500" cy="35895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0" name="Google Shape;80;p8"/>
          <p:cNvGrpSpPr/>
          <p:nvPr/>
        </p:nvGrpSpPr>
        <p:grpSpPr>
          <a:xfrm>
            <a:off x="255991" y="-118"/>
            <a:ext cx="2251347" cy="1043408"/>
            <a:chOff x="3961956" y="4383950"/>
            <a:chExt cx="1160548" cy="548700"/>
          </a:xfrm>
        </p:grpSpPr>
        <p:sp>
          <p:nvSpPr>
            <p:cNvPr id="81" name="Google Shape;81;p8"/>
            <p:cNvSpPr/>
            <p:nvPr/>
          </p:nvSpPr>
          <p:spPr>
            <a:xfrm>
              <a:off x="4224904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" name="Google Shape;82;p8"/>
            <p:cNvSpPr/>
            <p:nvPr/>
          </p:nvSpPr>
          <p:spPr>
            <a:xfrm>
              <a:off x="4093430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Google Shape;83;p8"/>
            <p:cNvSpPr/>
            <p:nvPr/>
          </p:nvSpPr>
          <p:spPr>
            <a:xfrm>
              <a:off x="3961956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4" name="Google Shape;84;p8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5" name="Google Shape;85;p8"/>
          <p:cNvGrpSpPr/>
          <p:nvPr/>
        </p:nvGrpSpPr>
        <p:grpSpPr>
          <a:xfrm>
            <a:off x="34934" y="4522125"/>
            <a:ext cx="1593305" cy="617072"/>
            <a:chOff x="6917201" y="0"/>
            <a:chExt cx="2227776" cy="863400"/>
          </a:xfrm>
        </p:grpSpPr>
        <p:sp>
          <p:nvSpPr>
            <p:cNvPr id="86" name="Google Shape;86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" name="Google Shape;87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" name="Google Shape;88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9" name="Google Shape;89;p8"/>
          <p:cNvGrpSpPr/>
          <p:nvPr/>
        </p:nvGrpSpPr>
        <p:grpSpPr>
          <a:xfrm>
            <a:off x="5886353" y="1243"/>
            <a:ext cx="3257454" cy="1261514"/>
            <a:chOff x="6917201" y="0"/>
            <a:chExt cx="2227776" cy="863400"/>
          </a:xfrm>
        </p:grpSpPr>
        <p:sp>
          <p:nvSpPr>
            <p:cNvPr id="90" name="Google Shape;90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" name="Google Shape;91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" name="Google Shape;92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3" name="Google Shape;93;p8"/>
          <p:cNvSpPr txBox="1"/>
          <p:nvPr>
            <p:ph type="title"/>
          </p:nvPr>
        </p:nvSpPr>
        <p:spPr>
          <a:xfrm>
            <a:off x="1393929" y="1301146"/>
            <a:ext cx="6366900" cy="253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94" name="Google Shape;94;p8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2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9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9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9"/>
          <p:cNvSpPr txBox="1"/>
          <p:nvPr>
            <p:ph type="title"/>
          </p:nvPr>
        </p:nvSpPr>
        <p:spPr>
          <a:xfrm>
            <a:off x="819150" y="845600"/>
            <a:ext cx="6424200" cy="7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00" name="Google Shape;100;p9"/>
          <p:cNvSpPr txBox="1"/>
          <p:nvPr>
            <p:ph idx="1" type="subTitle"/>
          </p:nvPr>
        </p:nvSpPr>
        <p:spPr>
          <a:xfrm>
            <a:off x="819150" y="1550700"/>
            <a:ext cx="58599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1" name="Google Shape;101;p9"/>
          <p:cNvSpPr txBox="1"/>
          <p:nvPr>
            <p:ph idx="2" type="body"/>
          </p:nvPr>
        </p:nvSpPr>
        <p:spPr>
          <a:xfrm>
            <a:off x="819150" y="2467050"/>
            <a:ext cx="5859900" cy="20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2" name="Google Shape;102;p9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solidFill>
          <a:schemeClr val="accent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0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10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0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10"/>
          <p:cNvSpPr txBox="1"/>
          <p:nvPr>
            <p:ph idx="1" type="body"/>
          </p:nvPr>
        </p:nvSpPr>
        <p:spPr>
          <a:xfrm>
            <a:off x="328025" y="4163500"/>
            <a:ext cx="74151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8" name="Google Shape;108;p10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"/>
          <p:cNvSpPr/>
          <p:nvPr/>
        </p:nvSpPr>
        <p:spPr>
          <a:xfrm flipH="1">
            <a:off x="5569200" y="2834075"/>
            <a:ext cx="3574800" cy="23094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1" name="Google Shape;111;p11"/>
          <p:cNvGrpSpPr/>
          <p:nvPr/>
        </p:nvGrpSpPr>
        <p:grpSpPr>
          <a:xfrm>
            <a:off x="5959222" y="4119576"/>
            <a:ext cx="2520951" cy="1024165"/>
            <a:chOff x="6917201" y="0"/>
            <a:chExt cx="2227776" cy="863400"/>
          </a:xfrm>
        </p:grpSpPr>
        <p:sp>
          <p:nvSpPr>
            <p:cNvPr id="112" name="Google Shape;112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" name="Google Shape;113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" name="Google Shape;114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5" name="Google Shape;115;p11"/>
          <p:cNvGrpSpPr/>
          <p:nvPr/>
        </p:nvGrpSpPr>
        <p:grpSpPr>
          <a:xfrm>
            <a:off x="199149" y="2"/>
            <a:ext cx="2795413" cy="1083308"/>
            <a:chOff x="6917201" y="0"/>
            <a:chExt cx="2227776" cy="863400"/>
          </a:xfrm>
        </p:grpSpPr>
        <p:sp>
          <p:nvSpPr>
            <p:cNvPr id="116" name="Google Shape;116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" name="Google Shape;117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" name="Google Shape;118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9" name="Google Shape;119;p11"/>
          <p:cNvSpPr txBox="1"/>
          <p:nvPr>
            <p:ph hasCustomPrompt="1" type="title"/>
          </p:nvPr>
        </p:nvSpPr>
        <p:spPr>
          <a:xfrm>
            <a:off x="1385850" y="1383850"/>
            <a:ext cx="6372300" cy="137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0" name="Google Shape;120;p11"/>
          <p:cNvSpPr txBox="1"/>
          <p:nvPr>
            <p:ph idx="1" type="body"/>
          </p:nvPr>
        </p:nvSpPr>
        <p:spPr>
          <a:xfrm>
            <a:off x="1385850" y="2863850"/>
            <a:ext cx="6372300" cy="6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1" name="Google Shape;121;p1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hift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b="0" i="0" sz="28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b="0" i="0" sz="28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b="0" i="0" sz="28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b="0" i="0" sz="28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b="0" i="0" sz="28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b="0" i="0" sz="28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b="0" i="0" sz="28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b="0" i="0" sz="28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b="0" i="0" sz="28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  <a:defRPr b="0" i="0" sz="13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b="0" i="0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984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b="0" i="0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845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b="0" i="0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845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b="0" i="0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845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b="0" i="0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845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b="0" i="0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845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b="0" i="0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845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b="0" i="0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16.png"/><Relationship Id="rId5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Relationship Id="rId4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Relationship Id="rId4" Type="http://schemas.openxmlformats.org/officeDocument/2006/relationships/image" Target="../media/image1.png"/><Relationship Id="rId5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jpg"/><Relationship Id="rId4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Relationship Id="rId4" Type="http://schemas.openxmlformats.org/officeDocument/2006/relationships/image" Target="../media/image30.png"/><Relationship Id="rId5" Type="http://schemas.openxmlformats.org/officeDocument/2006/relationships/image" Target="../media/image15.png"/><Relationship Id="rId6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9.png"/><Relationship Id="rId4" Type="http://schemas.openxmlformats.org/officeDocument/2006/relationships/image" Target="../media/image20.png"/><Relationship Id="rId5" Type="http://schemas.openxmlformats.org/officeDocument/2006/relationships/image" Target="../media/image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Relationship Id="rId4" Type="http://schemas.openxmlformats.org/officeDocument/2006/relationships/image" Target="../media/image14.png"/><Relationship Id="rId5" Type="http://schemas.openxmlformats.org/officeDocument/2006/relationships/image" Target="../media/image1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.png"/><Relationship Id="rId4" Type="http://schemas.openxmlformats.org/officeDocument/2006/relationships/image" Target="../media/image2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9.png"/><Relationship Id="rId4" Type="http://schemas.openxmlformats.org/officeDocument/2006/relationships/image" Target="../media/image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4.png"/><Relationship Id="rId4" Type="http://schemas.openxmlformats.org/officeDocument/2006/relationships/image" Target="../media/image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2.png"/><Relationship Id="rId4" Type="http://schemas.openxmlformats.org/officeDocument/2006/relationships/image" Target="../media/image6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6.png"/><Relationship Id="rId4" Type="http://schemas.openxmlformats.org/officeDocument/2006/relationships/image" Target="../media/image18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5.png"/><Relationship Id="rId4" Type="http://schemas.openxmlformats.org/officeDocument/2006/relationships/image" Target="../media/image25.png"/><Relationship Id="rId5" Type="http://schemas.openxmlformats.org/officeDocument/2006/relationships/image" Target="../media/image6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3.png"/><Relationship Id="rId4" Type="http://schemas.openxmlformats.org/officeDocument/2006/relationships/image" Target="../media/image6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6.png"/><Relationship Id="rId4" Type="http://schemas.openxmlformats.org/officeDocument/2006/relationships/image" Target="../media/image33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6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6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6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6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6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6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7.png"/><Relationship Id="rId4" Type="http://schemas.openxmlformats.org/officeDocument/2006/relationships/image" Target="../media/image22.png"/><Relationship Id="rId5" Type="http://schemas.openxmlformats.org/officeDocument/2006/relationships/image" Target="../media/image26.png"/><Relationship Id="rId6" Type="http://schemas.openxmlformats.org/officeDocument/2006/relationships/image" Target="../media/image6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8.png"/><Relationship Id="rId4" Type="http://schemas.openxmlformats.org/officeDocument/2006/relationships/image" Target="../media/image21.png"/><Relationship Id="rId5" Type="http://schemas.openxmlformats.org/officeDocument/2006/relationships/image" Target="../media/image34.png"/><Relationship Id="rId6" Type="http://schemas.openxmlformats.org/officeDocument/2006/relationships/image" Target="../media/image32.png"/><Relationship Id="rId7" Type="http://schemas.openxmlformats.org/officeDocument/2006/relationships/image" Target="../media/image6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1.png"/><Relationship Id="rId4" Type="http://schemas.openxmlformats.org/officeDocument/2006/relationships/image" Target="../media/image36.png"/><Relationship Id="rId5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3"/>
          <p:cNvSpPr txBox="1"/>
          <p:nvPr>
            <p:ph idx="1" type="subTitle"/>
          </p:nvPr>
        </p:nvSpPr>
        <p:spPr>
          <a:xfrm>
            <a:off x="6299977" y="4065874"/>
            <a:ext cx="2610600" cy="84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635" lvl="0" marL="173990" marR="49530" rtl="0" algn="ctr">
              <a:lnSpc>
                <a:spcPct val="729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es" sz="14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Mario Caudevilla Ruiz</a:t>
            </a:r>
            <a:endParaRPr b="1" i="1" sz="1400">
              <a:solidFill>
                <a:srgbClr val="25252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635" lvl="0" marL="173990" marR="49530" rtl="0" algn="ctr">
              <a:lnSpc>
                <a:spcPct val="729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1" sz="200">
              <a:solidFill>
                <a:srgbClr val="25252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635" lvl="0" marL="173990" marR="49530" rtl="0" algn="ctr">
              <a:lnSpc>
                <a:spcPct val="729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es" sz="14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Marcos Galán Carrillo </a:t>
            </a:r>
            <a:endParaRPr b="1" i="1" sz="1400">
              <a:solidFill>
                <a:srgbClr val="25252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635" lvl="0" marL="173990" marR="49530" rtl="0" algn="ctr">
              <a:lnSpc>
                <a:spcPct val="729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1" sz="200">
              <a:solidFill>
                <a:srgbClr val="25252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635" lvl="0" marL="173990" marR="49530" rtl="0" algn="ctr">
              <a:lnSpc>
                <a:spcPct val="729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es" sz="14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Víctor</a:t>
            </a:r>
            <a:r>
              <a:rPr b="1" i="1" lang="es" sz="14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Martínez </a:t>
            </a:r>
            <a:r>
              <a:rPr b="1" i="1" lang="es" sz="14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Páramo</a:t>
            </a:r>
            <a:endParaRPr b="1" i="1" sz="1400">
              <a:solidFill>
                <a:srgbClr val="25252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29" name="Google Shape;129;p13"/>
          <p:cNvPicPr preferRelativeResize="0"/>
          <p:nvPr/>
        </p:nvPicPr>
        <p:blipFill rotWithShape="1">
          <a:blip r:embed="rId3">
            <a:alphaModFix/>
          </a:blip>
          <a:srcRect b="16105" l="17335" r="13076" t="16112"/>
          <a:stretch/>
        </p:blipFill>
        <p:spPr>
          <a:xfrm>
            <a:off x="849812" y="1203803"/>
            <a:ext cx="2808576" cy="2735826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3"/>
          <p:cNvSpPr txBox="1"/>
          <p:nvPr/>
        </p:nvSpPr>
        <p:spPr>
          <a:xfrm>
            <a:off x="3576895" y="2122665"/>
            <a:ext cx="4953300" cy="9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635" lvl="0" marL="173990" marR="49530" rtl="0" algn="ctr">
              <a:lnSpc>
                <a:spcPct val="82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6531">
                <a:latin typeface="Spectral"/>
                <a:ea typeface="Spectral"/>
                <a:cs typeface="Spectral"/>
                <a:sym typeface="Spectral"/>
              </a:rPr>
              <a:t>R</a:t>
            </a:r>
            <a:r>
              <a:rPr lang="es" sz="4387">
                <a:latin typeface="Spectral"/>
                <a:ea typeface="Spectral"/>
                <a:cs typeface="Spectral"/>
                <a:sym typeface="Spectral"/>
              </a:rPr>
              <a:t>OOM</a:t>
            </a:r>
            <a:r>
              <a:rPr lang="es" sz="6531">
                <a:latin typeface="Spectral"/>
                <a:ea typeface="Spectral"/>
                <a:cs typeface="Spectral"/>
                <a:sym typeface="Spectral"/>
              </a:rPr>
              <a:t>S</a:t>
            </a:r>
            <a:r>
              <a:rPr lang="es" sz="4387">
                <a:latin typeface="Spectral"/>
                <a:ea typeface="Spectral"/>
                <a:cs typeface="Spectral"/>
                <a:sym typeface="Spectral"/>
              </a:rPr>
              <a:t>ENSE</a:t>
            </a:r>
            <a:endParaRPr sz="4731">
              <a:latin typeface="Spectral"/>
              <a:ea typeface="Spectral"/>
              <a:cs typeface="Spectral"/>
              <a:sym typeface="Spectral"/>
            </a:endParaRPr>
          </a:p>
          <a:p>
            <a:pPr indent="635" lvl="0" marL="173990" marR="49530" rtl="0" algn="ctr">
              <a:lnSpc>
                <a:spcPct val="829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Arial"/>
              <a:buNone/>
            </a:pPr>
            <a:r>
              <a:t/>
            </a:r>
            <a:endParaRPr sz="1831">
              <a:solidFill>
                <a:srgbClr val="25252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635" lvl="0" marL="173990" marR="49530" rtl="0" algn="ctr">
              <a:lnSpc>
                <a:spcPct val="829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Arial"/>
              <a:buNone/>
            </a:pPr>
            <a:r>
              <a:t/>
            </a:r>
            <a:endParaRPr sz="5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4"/>
          <p:cNvSpPr txBox="1"/>
          <p:nvPr>
            <p:ph idx="4294967295" type="title"/>
          </p:nvPr>
        </p:nvSpPr>
        <p:spPr>
          <a:xfrm>
            <a:off x="626325" y="687875"/>
            <a:ext cx="29862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2700" marR="5080" rtl="0" algn="just">
              <a:lnSpc>
                <a:spcPct val="10812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1" lang="es" sz="2900">
                <a:latin typeface="Times New Roman"/>
                <a:ea typeface="Times New Roman"/>
                <a:cs typeface="Times New Roman"/>
                <a:sym typeface="Times New Roman"/>
              </a:rPr>
              <a:t>Table Of Contents</a:t>
            </a:r>
            <a:endParaRPr b="1" i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36" name="Google Shape;136;p14"/>
          <p:cNvPicPr preferRelativeResize="0"/>
          <p:nvPr/>
        </p:nvPicPr>
        <p:blipFill rotWithShape="1">
          <a:blip r:embed="rId3">
            <a:alphaModFix/>
          </a:blip>
          <a:srcRect b="16105" l="17335" r="16755" t="16112"/>
          <a:stretch/>
        </p:blipFill>
        <p:spPr>
          <a:xfrm>
            <a:off x="4482324" y="374925"/>
            <a:ext cx="4382249" cy="4506826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4"/>
          <p:cNvSpPr/>
          <p:nvPr/>
        </p:nvSpPr>
        <p:spPr>
          <a:xfrm>
            <a:off x="729575" y="1773275"/>
            <a:ext cx="5128200" cy="13173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4"/>
          <p:cNvSpPr txBox="1"/>
          <p:nvPr>
            <p:ph idx="4294967295" type="title"/>
          </p:nvPr>
        </p:nvSpPr>
        <p:spPr>
          <a:xfrm>
            <a:off x="729575" y="1773275"/>
            <a:ext cx="5247600" cy="13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2700" marR="5080" rtl="0" algn="just">
              <a:lnSpc>
                <a:spcPct val="1081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</a:t>
            </a:r>
            <a:r>
              <a:rPr i="1" lang="es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Overview</a:t>
            </a:r>
            <a:endParaRPr i="1" sz="23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5080" rtl="0" algn="just">
              <a:lnSpc>
                <a:spcPct val="1081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</a:t>
            </a:r>
            <a:r>
              <a:rPr i="1" lang="es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High-Level System Architecture</a:t>
            </a:r>
            <a:endParaRPr i="1" sz="23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5080" rtl="0" algn="just">
              <a:lnSpc>
                <a:spcPct val="1081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</a:t>
            </a:r>
            <a:r>
              <a:rPr i="1" lang="es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Technical Implementation Details</a:t>
            </a:r>
            <a:endParaRPr i="1" sz="23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5080" rtl="0" algn="just">
              <a:lnSpc>
                <a:spcPct val="10812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1" i="1" sz="2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5080" rtl="0" algn="just">
              <a:lnSpc>
                <a:spcPct val="10812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1" i="1" sz="2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15"/>
          <p:cNvPicPr preferRelativeResize="0"/>
          <p:nvPr/>
        </p:nvPicPr>
        <p:blipFill rotWithShape="1">
          <a:blip r:embed="rId3">
            <a:alphaModFix/>
          </a:blip>
          <a:srcRect b="16105" l="17335" r="16755" t="16112"/>
          <a:stretch/>
        </p:blipFill>
        <p:spPr>
          <a:xfrm>
            <a:off x="4482324" y="374925"/>
            <a:ext cx="4382249" cy="4506826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5"/>
          <p:cNvSpPr/>
          <p:nvPr/>
        </p:nvSpPr>
        <p:spPr>
          <a:xfrm>
            <a:off x="729575" y="2249525"/>
            <a:ext cx="5198100" cy="739800"/>
          </a:xfrm>
          <a:prstGeom prst="rect">
            <a:avLst/>
          </a:prstGeom>
          <a:solidFill>
            <a:schemeClr val="dk1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5"/>
          <p:cNvSpPr txBox="1"/>
          <p:nvPr>
            <p:ph idx="4294967295" type="title"/>
          </p:nvPr>
        </p:nvSpPr>
        <p:spPr>
          <a:xfrm>
            <a:off x="778325" y="2197825"/>
            <a:ext cx="5149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2700" marR="5080" rtl="0" algn="just">
              <a:lnSpc>
                <a:spcPct val="1081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" sz="4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</a:t>
            </a:r>
            <a:r>
              <a:rPr i="1" lang="es" sz="4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i="1" lang="es" sz="3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ROJECT</a:t>
            </a:r>
            <a:r>
              <a:rPr i="1" lang="es" sz="4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</a:t>
            </a:r>
            <a:r>
              <a:rPr i="1" lang="es" sz="3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VERVIEW</a:t>
            </a:r>
            <a:endParaRPr i="1" sz="3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5080" rtl="0" algn="just">
              <a:lnSpc>
                <a:spcPct val="1081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27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5080" rtl="0" algn="just">
              <a:lnSpc>
                <a:spcPct val="10812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1" i="1" sz="2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5080" rtl="0" algn="just">
              <a:lnSpc>
                <a:spcPct val="10812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1" i="1" sz="2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6"/>
          <p:cNvSpPr txBox="1"/>
          <p:nvPr>
            <p:ph type="title"/>
          </p:nvPr>
        </p:nvSpPr>
        <p:spPr>
          <a:xfrm>
            <a:off x="727650" y="71907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2700" marR="5080" rtl="0" algn="just">
              <a:lnSpc>
                <a:spcPct val="10812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1" lang="es" sz="2700">
                <a:latin typeface="Times New Roman"/>
                <a:ea typeface="Times New Roman"/>
                <a:cs typeface="Times New Roman"/>
                <a:sym typeface="Times New Roman"/>
              </a:rPr>
              <a:t>What is RoomSense?</a:t>
            </a:r>
            <a:endParaRPr b="1" i="1" sz="2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" name="Google Shape;151;p16"/>
          <p:cNvSpPr txBox="1"/>
          <p:nvPr>
            <p:ph idx="1" type="body"/>
          </p:nvPr>
        </p:nvSpPr>
        <p:spPr>
          <a:xfrm>
            <a:off x="727650" y="1489587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Times New Roman"/>
              <a:buChar char="●"/>
            </a:pPr>
            <a:r>
              <a:rPr b="1" lang="e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RoomSense </a:t>
            </a:r>
            <a:r>
              <a:rPr lang="e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 an IoT system designed to monitor study rooms in real time.</a:t>
            </a:r>
            <a:endParaRPr sz="1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Times New Roman"/>
              <a:buChar char="●"/>
            </a:pPr>
            <a:r>
              <a:rPr lang="e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Each room is equipped with temperature, humidity, and light sensors that continuously collect environmental data.</a:t>
            </a:r>
            <a:endParaRPr sz="1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Times New Roman"/>
              <a:buChar char="●"/>
            </a:pPr>
            <a:r>
              <a:rPr b="1" lang="e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Goal:</a:t>
            </a:r>
            <a:r>
              <a:rPr lang="e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</a:t>
            </a:r>
            <a:r>
              <a:rPr lang="e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improve the student experience by allowing users to choose the most comfortable study space before entering.</a:t>
            </a:r>
            <a:endParaRPr sz="1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5080" rtl="0" algn="l">
              <a:lnSpc>
                <a:spcPct val="1208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152" name="Google Shape;152;p16"/>
          <p:cNvPicPr preferRelativeResize="0"/>
          <p:nvPr/>
        </p:nvPicPr>
        <p:blipFill rotWithShape="1">
          <a:blip r:embed="rId3">
            <a:alphaModFix/>
          </a:blip>
          <a:srcRect b="8349" l="0" r="0" t="0"/>
          <a:stretch/>
        </p:blipFill>
        <p:spPr>
          <a:xfrm>
            <a:off x="1887830" y="3213180"/>
            <a:ext cx="1535150" cy="1515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57776" y="3140672"/>
            <a:ext cx="1660300" cy="166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6"/>
          <p:cNvPicPr preferRelativeResize="0"/>
          <p:nvPr/>
        </p:nvPicPr>
        <p:blipFill rotWithShape="1">
          <a:blip r:embed="rId5">
            <a:alphaModFix/>
          </a:blip>
          <a:srcRect b="16105" l="17335" r="16755" t="16112"/>
          <a:stretch/>
        </p:blipFill>
        <p:spPr>
          <a:xfrm>
            <a:off x="8591496" y="216279"/>
            <a:ext cx="348925" cy="358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7"/>
          <p:cNvSpPr txBox="1"/>
          <p:nvPr>
            <p:ph type="title"/>
          </p:nvPr>
        </p:nvSpPr>
        <p:spPr>
          <a:xfrm>
            <a:off x="727650" y="71907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2700" marR="5080" rtl="0" algn="just">
              <a:lnSpc>
                <a:spcPct val="10812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1" lang="es" sz="2700">
                <a:latin typeface="Times New Roman"/>
                <a:ea typeface="Times New Roman"/>
                <a:cs typeface="Times New Roman"/>
                <a:sym typeface="Times New Roman"/>
              </a:rPr>
              <a:t>The RoomSense Application</a:t>
            </a:r>
            <a:endParaRPr b="1" i="1" sz="2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0" name="Google Shape;160;p17"/>
          <p:cNvSpPr txBox="1"/>
          <p:nvPr>
            <p:ph idx="1" type="body"/>
          </p:nvPr>
        </p:nvSpPr>
        <p:spPr>
          <a:xfrm>
            <a:off x="727650" y="156081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</a:pPr>
            <a:r>
              <a:rPr lang="e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Users can select their preferred temperature level</a:t>
            </a:r>
            <a:r>
              <a:rPr lang="e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Times New Roman"/>
              <a:buChar char="●"/>
            </a:pPr>
            <a:r>
              <a:rPr lang="e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Each room displays:</a:t>
            </a:r>
            <a:endParaRPr sz="1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Times New Roman"/>
              <a:buChar char="○"/>
            </a:pPr>
            <a:r>
              <a:rPr b="1" lang="e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Temperature </a:t>
            </a:r>
            <a:r>
              <a:rPr lang="e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s" sz="1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ºC</a:t>
            </a:r>
            <a:r>
              <a:rPr lang="e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and </a:t>
            </a:r>
            <a:r>
              <a:rPr b="1" lang="e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humidity </a:t>
            </a:r>
            <a:r>
              <a:rPr lang="e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(%)</a:t>
            </a:r>
            <a:endParaRPr sz="1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Times New Roman"/>
              <a:buChar char="○"/>
            </a:pPr>
            <a:r>
              <a:rPr lang="e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Total </a:t>
            </a:r>
            <a:r>
              <a:rPr b="1" lang="e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capacity </a:t>
            </a:r>
            <a:r>
              <a:rPr lang="e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 current </a:t>
            </a:r>
            <a:r>
              <a:rPr b="1" lang="e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occupancy</a:t>
            </a:r>
            <a:endParaRPr b="1" sz="1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○"/>
            </a:pPr>
            <a:r>
              <a:rPr b="1" lang="e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Availability</a:t>
            </a:r>
            <a:r>
              <a:rPr lang="e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(no ambient light → unavailable)</a:t>
            </a:r>
            <a:endParaRPr sz="1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Times New Roman"/>
              <a:buChar char="○"/>
            </a:pPr>
            <a:r>
              <a:rPr b="1" lang="e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</a:t>
            </a:r>
            <a:r>
              <a:rPr b="1" lang="e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</a:t>
            </a:r>
            <a:r>
              <a:rPr b="1" lang="e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7</a:t>
            </a:r>
            <a:r>
              <a:rPr lang="e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temperature </a:t>
            </a:r>
            <a:r>
              <a:rPr lang="e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measurements</a:t>
            </a:r>
            <a:endParaRPr sz="1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Times New Roman"/>
              <a:buChar char="●"/>
            </a:pPr>
            <a:r>
              <a:rPr lang="e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Recommends rooms based on users temperature preferences.</a:t>
            </a:r>
            <a:endParaRPr sz="1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Times New Roman"/>
              <a:buChar char="●"/>
            </a:pPr>
            <a:r>
              <a:rPr lang="e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 recommendation engine suggests the most suitable room based on advanced criteria</a:t>
            </a:r>
            <a:r>
              <a:rPr lang="e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5080" rtl="0" algn="l">
              <a:lnSpc>
                <a:spcPct val="1108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161" name="Google Shape;161;p17"/>
          <p:cNvPicPr preferRelativeResize="0"/>
          <p:nvPr/>
        </p:nvPicPr>
        <p:blipFill rotWithShape="1">
          <a:blip r:embed="rId3">
            <a:alphaModFix/>
          </a:blip>
          <a:srcRect b="12224" l="17412" r="15748" t="15746"/>
          <a:stretch/>
        </p:blipFill>
        <p:spPr>
          <a:xfrm>
            <a:off x="6086475" y="809625"/>
            <a:ext cx="2266950" cy="1628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7"/>
          <p:cNvPicPr preferRelativeResize="0"/>
          <p:nvPr/>
        </p:nvPicPr>
        <p:blipFill rotWithShape="1">
          <a:blip r:embed="rId4">
            <a:alphaModFix/>
          </a:blip>
          <a:srcRect b="16105" l="17335" r="16755" t="16112"/>
          <a:stretch/>
        </p:blipFill>
        <p:spPr>
          <a:xfrm>
            <a:off x="8582093" y="216279"/>
            <a:ext cx="348925" cy="358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8"/>
          <p:cNvSpPr txBox="1"/>
          <p:nvPr>
            <p:ph type="title"/>
          </p:nvPr>
        </p:nvSpPr>
        <p:spPr>
          <a:xfrm>
            <a:off x="727650" y="71907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5080" rtl="0" algn="just">
              <a:lnSpc>
                <a:spcPct val="10812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1" lang="es" sz="2700">
                <a:latin typeface="Times New Roman"/>
                <a:ea typeface="Times New Roman"/>
                <a:cs typeface="Times New Roman"/>
                <a:sym typeface="Times New Roman"/>
              </a:rPr>
              <a:t>Who can use RoomSense?</a:t>
            </a:r>
            <a:endParaRPr b="1" i="1" sz="2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8" name="Google Shape;168;p18"/>
          <p:cNvSpPr txBox="1"/>
          <p:nvPr>
            <p:ph idx="1" type="body"/>
          </p:nvPr>
        </p:nvSpPr>
        <p:spPr>
          <a:xfrm>
            <a:off x="727650" y="1441200"/>
            <a:ext cx="7635300" cy="17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Potential Clients</a:t>
            </a:r>
            <a:endParaRPr b="1" sz="1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Times New Roman"/>
              <a:buChar char="●"/>
            </a:pPr>
            <a:r>
              <a:rPr lang="e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Public and university libraries.</a:t>
            </a:r>
            <a:endParaRPr sz="1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Times New Roman"/>
              <a:buChar char="●"/>
            </a:pPr>
            <a:r>
              <a:rPr lang="e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Study centers and collaborative spaces.</a:t>
            </a:r>
            <a:endParaRPr sz="1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Times New Roman"/>
              <a:buChar char="●"/>
            </a:pPr>
            <a:r>
              <a:rPr lang="e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Educational institutions.</a:t>
            </a:r>
            <a:endParaRPr sz="1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Times New Roman"/>
              <a:buChar char="●"/>
            </a:pPr>
            <a:r>
              <a:rPr lang="e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Institutions aiming to improve user comfort and space management.</a:t>
            </a:r>
            <a:endParaRPr sz="1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5080" rtl="0" algn="l">
              <a:lnSpc>
                <a:spcPct val="1108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69" name="Google Shape;16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56700" y="3295750"/>
            <a:ext cx="1284275" cy="128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16775" y="3248950"/>
            <a:ext cx="1377900" cy="1377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7725" y="3121300"/>
            <a:ext cx="1633201" cy="1633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18"/>
          <p:cNvPicPr preferRelativeResize="0"/>
          <p:nvPr/>
        </p:nvPicPr>
        <p:blipFill rotWithShape="1">
          <a:blip r:embed="rId6">
            <a:alphaModFix/>
          </a:blip>
          <a:srcRect b="16105" l="17335" r="16755" t="16112"/>
          <a:stretch/>
        </p:blipFill>
        <p:spPr>
          <a:xfrm>
            <a:off x="8582093" y="216279"/>
            <a:ext cx="348925" cy="358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Google Shape;177;p19"/>
          <p:cNvPicPr preferRelativeResize="0"/>
          <p:nvPr/>
        </p:nvPicPr>
        <p:blipFill rotWithShape="1">
          <a:blip r:embed="rId3">
            <a:alphaModFix/>
          </a:blip>
          <a:srcRect b="16105" l="17335" r="16755" t="16112"/>
          <a:stretch/>
        </p:blipFill>
        <p:spPr>
          <a:xfrm>
            <a:off x="4482324" y="374925"/>
            <a:ext cx="4382249" cy="4506826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9"/>
          <p:cNvSpPr/>
          <p:nvPr/>
        </p:nvSpPr>
        <p:spPr>
          <a:xfrm>
            <a:off x="729575" y="2249525"/>
            <a:ext cx="6719100" cy="739800"/>
          </a:xfrm>
          <a:prstGeom prst="rect">
            <a:avLst/>
          </a:prstGeom>
          <a:solidFill>
            <a:schemeClr val="dk1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9"/>
          <p:cNvSpPr txBox="1"/>
          <p:nvPr>
            <p:ph idx="4294967295" type="title"/>
          </p:nvPr>
        </p:nvSpPr>
        <p:spPr>
          <a:xfrm>
            <a:off x="778325" y="2197825"/>
            <a:ext cx="6813000" cy="7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2700" marR="5080" rtl="0" algn="just">
              <a:lnSpc>
                <a:spcPct val="1081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" sz="4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b="1" i="1" lang="es" sz="4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r>
              <a:rPr i="1" lang="es" sz="4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i="1" lang="es" sz="3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IGH</a:t>
            </a:r>
            <a:r>
              <a:rPr i="1" lang="es" sz="4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-L</a:t>
            </a:r>
            <a:r>
              <a:rPr i="1" lang="es" sz="3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EVEL</a:t>
            </a:r>
            <a:r>
              <a:rPr i="1" lang="es" sz="4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</a:t>
            </a:r>
            <a:r>
              <a:rPr i="1" lang="es" sz="3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YSTEM </a:t>
            </a:r>
            <a:r>
              <a:rPr i="1" lang="es" sz="4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i="1" lang="es" sz="3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RCH.</a:t>
            </a:r>
            <a:endParaRPr i="1" sz="41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5080" rtl="0" algn="just">
              <a:lnSpc>
                <a:spcPct val="1081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27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5080" rtl="0" algn="just">
              <a:lnSpc>
                <a:spcPct val="10812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1" i="1" sz="2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5080" rtl="0" algn="just">
              <a:lnSpc>
                <a:spcPct val="10812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1" i="1" sz="2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0"/>
          <p:cNvSpPr txBox="1"/>
          <p:nvPr>
            <p:ph type="title"/>
          </p:nvPr>
        </p:nvSpPr>
        <p:spPr>
          <a:xfrm>
            <a:off x="727650" y="71907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2700" marR="5080" rtl="0" algn="just">
              <a:lnSpc>
                <a:spcPct val="10812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1" lang="es" sz="2700">
                <a:latin typeface="Times New Roman"/>
                <a:ea typeface="Times New Roman"/>
                <a:cs typeface="Times New Roman"/>
                <a:sym typeface="Times New Roman"/>
              </a:rPr>
              <a:t>Hardware &amp; Communication</a:t>
            </a:r>
            <a:endParaRPr b="1" i="1" sz="2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5" name="Google Shape;185;p20"/>
          <p:cNvSpPr txBox="1"/>
          <p:nvPr>
            <p:ph idx="1" type="body"/>
          </p:nvPr>
        </p:nvSpPr>
        <p:spPr>
          <a:xfrm>
            <a:off x="727650" y="1441200"/>
            <a:ext cx="7688700" cy="321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Hardware Components</a:t>
            </a:r>
            <a:endParaRPr b="1" sz="1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Times New Roman"/>
              <a:buChar char="●"/>
            </a:pPr>
            <a:r>
              <a:rPr lang="e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Arduino Uno (data acquisition)</a:t>
            </a:r>
            <a:endParaRPr sz="1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Times New Roman"/>
              <a:buChar char="●"/>
            </a:pPr>
            <a:r>
              <a:rPr lang="e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CNT5 sensor (temperature &amp; humidity)</a:t>
            </a:r>
            <a:endParaRPr sz="1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Times New Roman"/>
              <a:buChar char="●"/>
            </a:pPr>
            <a:r>
              <a:rPr lang="e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LDR + potentiometer (light sensing through a voltage divider)</a:t>
            </a:r>
            <a:endParaRPr sz="1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Times New Roman"/>
              <a:buChar char="●"/>
            </a:pPr>
            <a:r>
              <a:rPr lang="e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Breadboard prototype</a:t>
            </a:r>
            <a:endParaRPr sz="1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Communication</a:t>
            </a:r>
            <a:endParaRPr b="1" sz="1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</a:pPr>
            <a:r>
              <a:rPr lang="e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Arduino sends data through </a:t>
            </a:r>
            <a:r>
              <a:rPr b="1" lang="e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Serial.</a:t>
            </a:r>
            <a:endParaRPr b="1" sz="1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</a:pPr>
            <a:r>
              <a:rPr lang="e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Bridge application forwards data to the cloud.</a:t>
            </a:r>
            <a:endParaRPr b="1" sz="1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5080" rtl="0" algn="l">
              <a:lnSpc>
                <a:spcPct val="1108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86" name="Google Shape;18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31450" y="719075"/>
            <a:ext cx="1884902" cy="1282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20"/>
          <p:cNvPicPr preferRelativeResize="0"/>
          <p:nvPr/>
        </p:nvPicPr>
        <p:blipFill rotWithShape="1">
          <a:blip r:embed="rId4">
            <a:alphaModFix/>
          </a:blip>
          <a:srcRect b="16105" l="17335" r="16755" t="16112"/>
          <a:stretch/>
        </p:blipFill>
        <p:spPr>
          <a:xfrm>
            <a:off x="8582093" y="216279"/>
            <a:ext cx="348925" cy="358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1"/>
          <p:cNvSpPr txBox="1"/>
          <p:nvPr>
            <p:ph type="title"/>
          </p:nvPr>
        </p:nvSpPr>
        <p:spPr>
          <a:xfrm>
            <a:off x="727650" y="71907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2700" marR="5080" rtl="0" algn="just">
              <a:lnSpc>
                <a:spcPct val="10812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1" lang="es" sz="2700">
                <a:latin typeface="Times New Roman"/>
                <a:ea typeface="Times New Roman"/>
                <a:cs typeface="Times New Roman"/>
                <a:sym typeface="Times New Roman"/>
              </a:rPr>
              <a:t>Cloud Backend &amp; RoomSense App</a:t>
            </a:r>
            <a:endParaRPr b="1" i="1" sz="2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3" name="Google Shape;193;p21"/>
          <p:cNvSpPr txBox="1"/>
          <p:nvPr>
            <p:ph idx="1" type="body"/>
          </p:nvPr>
        </p:nvSpPr>
        <p:spPr>
          <a:xfrm>
            <a:off x="727650" y="1441200"/>
            <a:ext cx="7688700" cy="28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Cloud Backend (DigitalOcean)</a:t>
            </a:r>
            <a:endParaRPr b="1" sz="1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Times New Roman"/>
              <a:buChar char="●"/>
            </a:pPr>
            <a:r>
              <a:rPr lang="e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Node.js server processing incoming sensor data.</a:t>
            </a:r>
            <a:endParaRPr sz="1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Times New Roman"/>
              <a:buChar char="●"/>
            </a:pPr>
            <a:r>
              <a:rPr lang="e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Updates each rooms digital twin.</a:t>
            </a:r>
            <a:endParaRPr sz="1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Times New Roman"/>
              <a:buChar char="●"/>
            </a:pPr>
            <a:r>
              <a:rPr lang="e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Stores all data in a PostgreSQL database.</a:t>
            </a:r>
            <a:endParaRPr sz="1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Times New Roman"/>
              <a:buChar char="●"/>
            </a:pPr>
            <a:r>
              <a:rPr lang="e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Provides a real-time API for external clients.</a:t>
            </a:r>
            <a:endParaRPr sz="1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RoomSense Application</a:t>
            </a:r>
            <a:endParaRPr b="1" sz="1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Times New Roman"/>
              <a:buChar char="●"/>
            </a:pPr>
            <a:r>
              <a:rPr lang="e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Displays temperature, humidity, light, occupancy and availability.</a:t>
            </a:r>
            <a:endParaRPr sz="1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Times New Roman"/>
              <a:buChar char="●"/>
            </a:pPr>
            <a:r>
              <a:rPr lang="e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Recommends the best study room based on user preferences.</a:t>
            </a:r>
            <a:endParaRPr sz="1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Times New Roman"/>
              <a:buChar char="●"/>
            </a:pPr>
            <a:r>
              <a:rPr lang="e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Developed in Kotlin.</a:t>
            </a:r>
            <a:endParaRPr sz="1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5080" rtl="0" algn="l">
              <a:lnSpc>
                <a:spcPct val="1108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94" name="Google Shape;19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11300" y="895350"/>
            <a:ext cx="1932624" cy="1932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04150" y="2960050"/>
            <a:ext cx="1830250" cy="13737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21"/>
          <p:cNvPicPr preferRelativeResize="0"/>
          <p:nvPr/>
        </p:nvPicPr>
        <p:blipFill rotWithShape="1">
          <a:blip r:embed="rId5">
            <a:alphaModFix/>
          </a:blip>
          <a:srcRect b="16105" l="17335" r="16755" t="16112"/>
          <a:stretch/>
        </p:blipFill>
        <p:spPr>
          <a:xfrm>
            <a:off x="8582093" y="216279"/>
            <a:ext cx="348925" cy="358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2"/>
          <p:cNvSpPr txBox="1"/>
          <p:nvPr>
            <p:ph type="title"/>
          </p:nvPr>
        </p:nvSpPr>
        <p:spPr>
          <a:xfrm>
            <a:off x="727650" y="71907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2700" marR="5080" rtl="0" algn="just">
              <a:lnSpc>
                <a:spcPct val="10812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1" lang="es" sz="2700">
                <a:latin typeface="Times New Roman"/>
                <a:ea typeface="Times New Roman"/>
                <a:cs typeface="Times New Roman"/>
                <a:sym typeface="Times New Roman"/>
              </a:rPr>
              <a:t>Circuit Implementation</a:t>
            </a:r>
            <a:endParaRPr b="1" i="1" sz="2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2" name="Google Shape;202;p22"/>
          <p:cNvSpPr txBox="1"/>
          <p:nvPr>
            <p:ph idx="1" type="body"/>
          </p:nvPr>
        </p:nvSpPr>
        <p:spPr>
          <a:xfrm>
            <a:off x="727650" y="1441200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5080" rtl="0" algn="l">
              <a:lnSpc>
                <a:spcPct val="1108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03" name="Google Shape;203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50225" y="1441200"/>
            <a:ext cx="4902700" cy="32725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4" name="Google Shape;204;p22"/>
          <p:cNvCxnSpPr/>
          <p:nvPr/>
        </p:nvCxnSpPr>
        <p:spPr>
          <a:xfrm flipH="1" rot="10800000">
            <a:off x="5667625" y="1254275"/>
            <a:ext cx="163200" cy="10875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5" name="Google Shape;205;p22"/>
          <p:cNvSpPr txBox="1"/>
          <p:nvPr/>
        </p:nvSpPr>
        <p:spPr>
          <a:xfrm>
            <a:off x="5558900" y="934600"/>
            <a:ext cx="685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CNT5</a:t>
            </a:r>
            <a:endParaRPr b="1" sz="13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06" name="Google Shape;206;p22"/>
          <p:cNvCxnSpPr/>
          <p:nvPr/>
        </p:nvCxnSpPr>
        <p:spPr>
          <a:xfrm>
            <a:off x="6526700" y="3702300"/>
            <a:ext cx="815700" cy="3915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7" name="Google Shape;207;p22"/>
          <p:cNvSpPr txBox="1"/>
          <p:nvPr/>
        </p:nvSpPr>
        <p:spPr>
          <a:xfrm>
            <a:off x="7342400" y="3946900"/>
            <a:ext cx="1261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Potentiometer</a:t>
            </a:r>
            <a:endParaRPr b="1" sz="13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08" name="Google Shape;208;p22"/>
          <p:cNvCxnSpPr/>
          <p:nvPr/>
        </p:nvCxnSpPr>
        <p:spPr>
          <a:xfrm>
            <a:off x="5667625" y="4180925"/>
            <a:ext cx="1696500" cy="5319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9" name="Google Shape;209;p22"/>
          <p:cNvSpPr txBox="1"/>
          <p:nvPr/>
        </p:nvSpPr>
        <p:spPr>
          <a:xfrm>
            <a:off x="7342400" y="4522025"/>
            <a:ext cx="1261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LDR</a:t>
            </a:r>
            <a:endParaRPr b="1" sz="13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10" name="Google Shape;210;p22"/>
          <p:cNvCxnSpPr/>
          <p:nvPr/>
        </p:nvCxnSpPr>
        <p:spPr>
          <a:xfrm>
            <a:off x="727650" y="2723950"/>
            <a:ext cx="1696500" cy="5319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1" name="Google Shape;211;p22"/>
          <p:cNvSpPr txBox="1"/>
          <p:nvPr/>
        </p:nvSpPr>
        <p:spPr>
          <a:xfrm>
            <a:off x="219950" y="2339050"/>
            <a:ext cx="1261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Arduino Uno</a:t>
            </a:r>
            <a:endParaRPr b="1" sz="13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12" name="Google Shape;212;p22"/>
          <p:cNvCxnSpPr/>
          <p:nvPr/>
        </p:nvCxnSpPr>
        <p:spPr>
          <a:xfrm flipH="1" rot="10800000">
            <a:off x="6396375" y="2766300"/>
            <a:ext cx="935100" cy="2076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3" name="Google Shape;213;p22"/>
          <p:cNvSpPr txBox="1"/>
          <p:nvPr/>
        </p:nvSpPr>
        <p:spPr>
          <a:xfrm>
            <a:off x="7364125" y="2571750"/>
            <a:ext cx="10548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Breadboard</a:t>
            </a:r>
            <a:endParaRPr b="1" sz="13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14" name="Google Shape;214;p22"/>
          <p:cNvPicPr preferRelativeResize="0"/>
          <p:nvPr/>
        </p:nvPicPr>
        <p:blipFill rotWithShape="1">
          <a:blip r:embed="rId4">
            <a:alphaModFix/>
          </a:blip>
          <a:srcRect b="16105" l="17335" r="16755" t="16112"/>
          <a:stretch/>
        </p:blipFill>
        <p:spPr>
          <a:xfrm>
            <a:off x="8582093" y="216279"/>
            <a:ext cx="348925" cy="358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Google Shape;219;p23"/>
          <p:cNvPicPr preferRelativeResize="0"/>
          <p:nvPr/>
        </p:nvPicPr>
        <p:blipFill rotWithShape="1">
          <a:blip r:embed="rId3">
            <a:alphaModFix/>
          </a:blip>
          <a:srcRect b="16105" l="17335" r="16755" t="16112"/>
          <a:stretch/>
        </p:blipFill>
        <p:spPr>
          <a:xfrm>
            <a:off x="4482324" y="374925"/>
            <a:ext cx="4382249" cy="4506826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3"/>
          <p:cNvSpPr/>
          <p:nvPr/>
        </p:nvSpPr>
        <p:spPr>
          <a:xfrm>
            <a:off x="729575" y="2249525"/>
            <a:ext cx="7900200" cy="739800"/>
          </a:xfrm>
          <a:prstGeom prst="rect">
            <a:avLst/>
          </a:prstGeom>
          <a:solidFill>
            <a:schemeClr val="dk1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3"/>
          <p:cNvSpPr txBox="1"/>
          <p:nvPr>
            <p:ph idx="4294967295" type="title"/>
          </p:nvPr>
        </p:nvSpPr>
        <p:spPr>
          <a:xfrm>
            <a:off x="778325" y="2197825"/>
            <a:ext cx="78513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2700" marR="5080" rtl="0" algn="just">
              <a:lnSpc>
                <a:spcPct val="1081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" sz="4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b="1" i="1" lang="es" sz="4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r>
              <a:rPr i="1" lang="es" sz="4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i="1" lang="es" sz="3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ECH</a:t>
            </a:r>
            <a:r>
              <a:rPr i="1" lang="es" sz="4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I</a:t>
            </a:r>
            <a:r>
              <a:rPr i="1" lang="es" sz="3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MPLEMENTATION</a:t>
            </a:r>
            <a:r>
              <a:rPr i="1" lang="es" sz="4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</a:t>
            </a:r>
            <a:r>
              <a:rPr i="1" lang="es" sz="3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ETAILS</a:t>
            </a:r>
            <a:endParaRPr i="1" sz="41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5080" rtl="0" algn="just">
              <a:lnSpc>
                <a:spcPct val="1081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27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5080" rtl="0" algn="just">
              <a:lnSpc>
                <a:spcPct val="10812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1" i="1" sz="2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5080" rtl="0" algn="just">
              <a:lnSpc>
                <a:spcPct val="10812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1" i="1" sz="2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4"/>
          <p:cNvSpPr txBox="1"/>
          <p:nvPr>
            <p:ph type="title"/>
          </p:nvPr>
        </p:nvSpPr>
        <p:spPr>
          <a:xfrm>
            <a:off x="727650" y="71907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2700" marR="5080" rtl="0" algn="just">
              <a:lnSpc>
                <a:spcPct val="10812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1" lang="es" sz="2700">
                <a:latin typeface="Times New Roman"/>
                <a:ea typeface="Times New Roman"/>
                <a:cs typeface="Times New Roman"/>
                <a:sym typeface="Times New Roman"/>
              </a:rPr>
              <a:t>Hardware Architecture</a:t>
            </a:r>
            <a:r>
              <a:rPr b="1" i="1" lang="es" sz="2700">
                <a:latin typeface="Times New Roman"/>
                <a:ea typeface="Times New Roman"/>
                <a:cs typeface="Times New Roman"/>
                <a:sym typeface="Times New Roman"/>
              </a:rPr>
              <a:t> (I)</a:t>
            </a:r>
            <a:endParaRPr b="1" i="1" sz="2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7" name="Google Shape;227;p24"/>
          <p:cNvSpPr txBox="1"/>
          <p:nvPr>
            <p:ph idx="1" type="body"/>
          </p:nvPr>
        </p:nvSpPr>
        <p:spPr>
          <a:xfrm>
            <a:off x="727650" y="1470714"/>
            <a:ext cx="7688700" cy="28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Times New Roman"/>
              <a:buChar char="●"/>
            </a:pPr>
            <a:r>
              <a:rPr b="1" lang="e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Arduino Uno</a:t>
            </a:r>
            <a:endParaRPr b="1" sz="1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Times New Roman"/>
              <a:buChar char="○"/>
            </a:pPr>
            <a:r>
              <a:rPr lang="e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Microcontroller that captures all sensor readings.</a:t>
            </a:r>
            <a:endParaRPr sz="1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Times New Roman"/>
              <a:buChar char="○"/>
            </a:pPr>
            <a:r>
              <a:rPr lang="e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Sends prepared data to the next system stage</a:t>
            </a:r>
            <a:endParaRPr sz="1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Times New Roman"/>
              <a:buChar char="●"/>
            </a:pPr>
            <a:r>
              <a:rPr b="1" lang="e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CNT5</a:t>
            </a:r>
            <a:endParaRPr b="1" sz="1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Times New Roman"/>
              <a:buChar char="○"/>
            </a:pPr>
            <a:r>
              <a:rPr lang="e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Provides temperature (°C) and relative humidity (%)</a:t>
            </a:r>
            <a:endParaRPr sz="1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Times New Roman"/>
              <a:buChar char="○"/>
            </a:pPr>
            <a:r>
              <a:rPr lang="e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line connected to pin D2</a:t>
            </a:r>
            <a:endParaRPr sz="1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Times New Roman"/>
              <a:buChar char="○"/>
            </a:pPr>
            <a:r>
              <a:rPr lang="e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Uses DHT.h to interpret the digital protocol</a:t>
            </a:r>
            <a:endParaRPr sz="1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Times New Roman"/>
              <a:buChar char="●"/>
            </a:pPr>
            <a:r>
              <a:rPr b="1" lang="e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LDR</a:t>
            </a:r>
            <a:endParaRPr b="1" sz="1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Times New Roman"/>
              <a:buChar char="○"/>
            </a:pPr>
            <a:r>
              <a:rPr lang="e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With potentiometer forms a voltage divider to measure ambient light</a:t>
            </a:r>
            <a:endParaRPr sz="1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Times New Roman"/>
              <a:buChar char="○"/>
            </a:pPr>
            <a:r>
              <a:rPr lang="e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LDR resistance ↑ when light ↓ (and vice versa)</a:t>
            </a:r>
            <a:endParaRPr sz="1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5080" rtl="0" algn="l">
              <a:lnSpc>
                <a:spcPct val="1108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28" name="Google Shape;228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10525" y="990925"/>
            <a:ext cx="1416825" cy="1062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46200" y="2212900"/>
            <a:ext cx="1283150" cy="1283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04675" y="3409050"/>
            <a:ext cx="1340200" cy="134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24"/>
          <p:cNvPicPr preferRelativeResize="0"/>
          <p:nvPr/>
        </p:nvPicPr>
        <p:blipFill rotWithShape="1">
          <a:blip r:embed="rId6">
            <a:alphaModFix/>
          </a:blip>
          <a:srcRect b="16105" l="17335" r="16755" t="16112"/>
          <a:stretch/>
        </p:blipFill>
        <p:spPr>
          <a:xfrm>
            <a:off x="8582093" y="216279"/>
            <a:ext cx="348925" cy="358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5"/>
          <p:cNvSpPr txBox="1"/>
          <p:nvPr>
            <p:ph type="title"/>
          </p:nvPr>
        </p:nvSpPr>
        <p:spPr>
          <a:xfrm>
            <a:off x="727650" y="71907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2700" marR="5080" rtl="0" algn="just">
              <a:lnSpc>
                <a:spcPct val="10812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1" lang="es" sz="2700">
                <a:latin typeface="Times New Roman"/>
                <a:ea typeface="Times New Roman"/>
                <a:cs typeface="Times New Roman"/>
                <a:sym typeface="Times New Roman"/>
              </a:rPr>
              <a:t>Hardware Architecture (II)</a:t>
            </a:r>
            <a:endParaRPr b="1" i="1" sz="2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7" name="Google Shape;237;p25"/>
          <p:cNvSpPr txBox="1"/>
          <p:nvPr>
            <p:ph idx="1" type="body"/>
          </p:nvPr>
        </p:nvSpPr>
        <p:spPr>
          <a:xfrm>
            <a:off x="727650" y="1470714"/>
            <a:ext cx="7688700" cy="28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Times New Roman"/>
              <a:buChar char="●"/>
            </a:pPr>
            <a:r>
              <a:rPr b="1" lang="e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Voltage Divider</a:t>
            </a:r>
            <a:endParaRPr b="1" sz="1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5V            Potentiometer             LDR             GND</a:t>
            </a:r>
            <a:endParaRPr sz="1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         A0</a:t>
            </a:r>
            <a:endParaRPr sz="1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Times New Roman"/>
              <a:buChar char="●"/>
            </a:pPr>
            <a:r>
              <a:rPr b="1" lang="e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Potentiometer</a:t>
            </a:r>
            <a:endParaRPr b="1" sz="1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Times New Roman"/>
              <a:buChar char="○"/>
            </a:pPr>
            <a:r>
              <a:rPr lang="e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Allows manual calibration of the circuit’s sensitivity and adjustment of the threshold at which a room is considered illuminated</a:t>
            </a:r>
            <a:endParaRPr sz="1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Times New Roman"/>
              <a:buChar char="●"/>
            </a:pPr>
            <a:r>
              <a:rPr b="1" lang="e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Breadboard</a:t>
            </a:r>
            <a:endParaRPr b="1" sz="1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Times New Roman"/>
              <a:buChar char="○"/>
            </a:pPr>
            <a:r>
              <a:rPr lang="e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Enables easy prototyping and modifications</a:t>
            </a:r>
            <a:endParaRPr sz="1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5080" rtl="0" algn="l">
              <a:lnSpc>
                <a:spcPct val="1108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38" name="Google Shape;238;p25"/>
          <p:cNvCxnSpPr/>
          <p:nvPr/>
        </p:nvCxnSpPr>
        <p:spPr>
          <a:xfrm>
            <a:off x="1600675" y="2092200"/>
            <a:ext cx="4350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9" name="Google Shape;239;p25"/>
          <p:cNvCxnSpPr/>
          <p:nvPr/>
        </p:nvCxnSpPr>
        <p:spPr>
          <a:xfrm>
            <a:off x="3275475" y="2092200"/>
            <a:ext cx="4350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0" name="Google Shape;240;p25"/>
          <p:cNvCxnSpPr/>
          <p:nvPr/>
        </p:nvCxnSpPr>
        <p:spPr>
          <a:xfrm>
            <a:off x="4276050" y="2092200"/>
            <a:ext cx="4350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1" name="Google Shape;241;p25"/>
          <p:cNvCxnSpPr/>
          <p:nvPr/>
        </p:nvCxnSpPr>
        <p:spPr>
          <a:xfrm>
            <a:off x="3514550" y="2059575"/>
            <a:ext cx="0" cy="413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none"/>
          </a:ln>
        </p:spPr>
      </p:cxnSp>
      <p:pic>
        <p:nvPicPr>
          <p:cNvPr id="242" name="Google Shape;242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16249" y="1848050"/>
            <a:ext cx="986251" cy="1155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59325" y="3596882"/>
            <a:ext cx="1555326" cy="1091194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25"/>
          <p:cNvPicPr preferRelativeResize="0"/>
          <p:nvPr/>
        </p:nvPicPr>
        <p:blipFill rotWithShape="1">
          <a:blip r:embed="rId5">
            <a:alphaModFix/>
          </a:blip>
          <a:srcRect b="16105" l="17335" r="16755" t="16112"/>
          <a:stretch/>
        </p:blipFill>
        <p:spPr>
          <a:xfrm>
            <a:off x="8582093" y="216279"/>
            <a:ext cx="348925" cy="358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6"/>
          <p:cNvSpPr txBox="1"/>
          <p:nvPr>
            <p:ph type="title"/>
          </p:nvPr>
        </p:nvSpPr>
        <p:spPr>
          <a:xfrm>
            <a:off x="727650" y="71907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2700" marR="5080" rtl="0" algn="just">
              <a:lnSpc>
                <a:spcPct val="10812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1" lang="es" sz="2700">
                <a:latin typeface="Times New Roman"/>
                <a:ea typeface="Times New Roman"/>
                <a:cs typeface="Times New Roman"/>
                <a:sym typeface="Times New Roman"/>
              </a:rPr>
              <a:t>The Bridge: Connecting Hardware to the Cloud</a:t>
            </a:r>
            <a:endParaRPr b="1" i="1" sz="2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0" name="Google Shape;250;p26"/>
          <p:cNvSpPr txBox="1"/>
          <p:nvPr>
            <p:ph idx="1" type="body"/>
          </p:nvPr>
        </p:nvSpPr>
        <p:spPr>
          <a:xfrm>
            <a:off x="727650" y="1470714"/>
            <a:ext cx="7688700" cy="28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Times New Roman"/>
              <a:buChar char="●"/>
            </a:pPr>
            <a:r>
              <a:rPr lang="e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Arduino Uno cannot connect to the internet by itself, so the system needs a bridge running on a computer.</a:t>
            </a:r>
            <a:endParaRPr sz="1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Times New Roman"/>
              <a:buChar char="●"/>
            </a:pPr>
            <a:r>
              <a:rPr lang="e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bridge receives the sensor readings from the Arduino, interprets them, and forwards the data to the cloud backend</a:t>
            </a:r>
            <a:r>
              <a:rPr b="1" lang="e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Times New Roman"/>
              <a:buChar char="●"/>
            </a:pPr>
            <a:r>
              <a:rPr lang="e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is the link that transforms the physical measurements into usable digital information for the RoomSense application.</a:t>
            </a:r>
            <a:endParaRPr sz="1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5080" rtl="0" algn="l">
              <a:lnSpc>
                <a:spcPct val="1108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51" name="Google Shape;251;p26"/>
          <p:cNvPicPr preferRelativeResize="0"/>
          <p:nvPr/>
        </p:nvPicPr>
        <p:blipFill rotWithShape="1">
          <a:blip r:embed="rId3">
            <a:alphaModFix/>
          </a:blip>
          <a:srcRect b="16105" l="17335" r="16755" t="16112"/>
          <a:stretch/>
        </p:blipFill>
        <p:spPr>
          <a:xfrm>
            <a:off x="8582093" y="216279"/>
            <a:ext cx="348925" cy="358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75625" y="3422600"/>
            <a:ext cx="1333775" cy="1333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30125" y="3535225"/>
            <a:ext cx="1478025" cy="110852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4" name="Google Shape;254;p26"/>
          <p:cNvCxnSpPr>
            <a:stCxn id="253" idx="3"/>
            <a:endCxn id="252" idx="1"/>
          </p:cNvCxnSpPr>
          <p:nvPr/>
        </p:nvCxnSpPr>
        <p:spPr>
          <a:xfrm>
            <a:off x="3808150" y="4089487"/>
            <a:ext cx="1667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7"/>
          <p:cNvSpPr txBox="1"/>
          <p:nvPr>
            <p:ph type="title"/>
          </p:nvPr>
        </p:nvSpPr>
        <p:spPr>
          <a:xfrm>
            <a:off x="727650" y="71907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2700" marR="5080" rtl="0" algn="just">
              <a:lnSpc>
                <a:spcPct val="10812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1" lang="es" sz="2700">
                <a:latin typeface="Times New Roman"/>
                <a:ea typeface="Times New Roman"/>
                <a:cs typeface="Times New Roman"/>
                <a:sym typeface="Times New Roman"/>
              </a:rPr>
              <a:t>Data Sent from the Arduino (UART + JSON)</a:t>
            </a:r>
            <a:endParaRPr b="1" i="1" sz="2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0" name="Google Shape;260;p27"/>
          <p:cNvSpPr txBox="1"/>
          <p:nvPr>
            <p:ph idx="1" type="body"/>
          </p:nvPr>
        </p:nvSpPr>
        <p:spPr>
          <a:xfrm>
            <a:off x="727650" y="1470714"/>
            <a:ext cx="7688700" cy="28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Times New Roman"/>
              <a:buChar char="●"/>
            </a:pPr>
            <a:r>
              <a:rPr lang="e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Arduino sends temperature, humidity, and light values through its serial port using the UART protocol.</a:t>
            </a:r>
            <a:endParaRPr sz="1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Times New Roman"/>
              <a:buChar char="●"/>
            </a:pPr>
            <a:r>
              <a:rPr lang="e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Each reading cycle generates a JSON message, which the bridge reads line by line.</a:t>
            </a:r>
            <a:endParaRPr sz="1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5080" rtl="0" algn="l">
              <a:lnSpc>
                <a:spcPct val="1108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61" name="Google Shape;261;p27"/>
          <p:cNvPicPr preferRelativeResize="0"/>
          <p:nvPr/>
        </p:nvPicPr>
        <p:blipFill rotWithShape="1">
          <a:blip r:embed="rId3">
            <a:alphaModFix/>
          </a:blip>
          <a:srcRect b="16105" l="17335" r="16755" t="16112"/>
          <a:stretch/>
        </p:blipFill>
        <p:spPr>
          <a:xfrm>
            <a:off x="8582093" y="216279"/>
            <a:ext cx="348925" cy="358851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7"/>
          <p:cNvSpPr txBox="1"/>
          <p:nvPr/>
        </p:nvSpPr>
        <p:spPr>
          <a:xfrm>
            <a:off x="1207650" y="2571750"/>
            <a:ext cx="6728700" cy="1914000"/>
          </a:xfrm>
          <a:prstGeom prst="rect">
            <a:avLst/>
          </a:prstGeom>
          <a:solidFill>
            <a:schemeClr val="dk1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const</a:t>
            </a:r>
            <a:r>
              <a:rPr lang="es" sz="13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1300">
                <a:solidFill>
                  <a:srgbClr val="0000F0"/>
                </a:solidFill>
                <a:latin typeface="Roboto Mono"/>
                <a:ea typeface="Roboto Mono"/>
                <a:cs typeface="Roboto Mono"/>
                <a:sym typeface="Roboto Mono"/>
              </a:rPr>
              <a:t>port</a:t>
            </a:r>
            <a:r>
              <a:rPr lang="es" sz="13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s" sz="13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s" sz="13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s" sz="13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new</a:t>
            </a:r>
            <a:r>
              <a:rPr lang="es" sz="13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13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SerialPort</a:t>
            </a:r>
            <a:r>
              <a:rPr lang="es" sz="1300">
                <a:latin typeface="Roboto Mono"/>
                <a:ea typeface="Roboto Mono"/>
                <a:cs typeface="Roboto Mono"/>
                <a:sym typeface="Roboto Mono"/>
              </a:rPr>
              <a:t>({ </a:t>
            </a:r>
            <a:r>
              <a:rPr lang="es" sz="130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path</a:t>
            </a:r>
            <a:r>
              <a:rPr lang="es" sz="1300"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es" sz="13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COM</a:t>
            </a:r>
            <a:r>
              <a:rPr lang="es" sz="1300"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s" sz="130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baudRate</a:t>
            </a:r>
            <a:r>
              <a:rPr lang="es" sz="1300"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es" sz="13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BAUD</a:t>
            </a:r>
            <a:r>
              <a:rPr lang="es" sz="1300">
                <a:latin typeface="Roboto Mono"/>
                <a:ea typeface="Roboto Mono"/>
                <a:cs typeface="Roboto Mono"/>
                <a:sym typeface="Roboto Mono"/>
              </a:rPr>
              <a:t> });</a:t>
            </a:r>
            <a:endParaRPr sz="13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const</a:t>
            </a:r>
            <a:r>
              <a:rPr lang="es" sz="13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1300">
                <a:solidFill>
                  <a:srgbClr val="0000F0"/>
                </a:solidFill>
                <a:latin typeface="Roboto Mono"/>
                <a:ea typeface="Roboto Mono"/>
                <a:cs typeface="Roboto Mono"/>
                <a:sym typeface="Roboto Mono"/>
              </a:rPr>
              <a:t>parser</a:t>
            </a:r>
            <a:r>
              <a:rPr lang="es" sz="13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s" sz="13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s" sz="13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13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port</a:t>
            </a:r>
            <a:r>
              <a:rPr lang="es" sz="1300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es" sz="130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pipe</a:t>
            </a:r>
            <a:r>
              <a:rPr lang="es" sz="1300"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b="1" lang="es" sz="13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new</a:t>
            </a:r>
            <a:r>
              <a:rPr lang="es" sz="13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13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ReadlineParser</a:t>
            </a:r>
            <a:r>
              <a:rPr lang="es" sz="1300">
                <a:latin typeface="Roboto Mono"/>
                <a:ea typeface="Roboto Mono"/>
                <a:cs typeface="Roboto Mono"/>
                <a:sym typeface="Roboto Mono"/>
              </a:rPr>
              <a:t>({ </a:t>
            </a:r>
            <a:r>
              <a:rPr lang="es" sz="130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delimiter</a:t>
            </a:r>
            <a:r>
              <a:rPr lang="es" sz="1300"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es" sz="13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'\n'</a:t>
            </a:r>
            <a:r>
              <a:rPr lang="es" sz="1300">
                <a:latin typeface="Roboto Mono"/>
                <a:ea typeface="Roboto Mono"/>
                <a:cs typeface="Roboto Mono"/>
                <a:sym typeface="Roboto Mono"/>
              </a:rPr>
              <a:t> }));</a:t>
            </a:r>
            <a:endParaRPr sz="13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parser</a:t>
            </a:r>
            <a:r>
              <a:rPr lang="es" sz="1300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es" sz="130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on</a:t>
            </a:r>
            <a:r>
              <a:rPr lang="es" sz="1300"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s" sz="13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'data'</a:t>
            </a:r>
            <a:r>
              <a:rPr lang="es" sz="1300">
                <a:latin typeface="Roboto Mono"/>
                <a:ea typeface="Roboto Mono"/>
                <a:cs typeface="Roboto Mono"/>
                <a:sym typeface="Roboto Mono"/>
              </a:rPr>
              <a:t>, (</a:t>
            </a:r>
            <a:r>
              <a:rPr lang="es" sz="1300">
                <a:solidFill>
                  <a:srgbClr val="0000F0"/>
                </a:solidFill>
                <a:latin typeface="Roboto Mono"/>
                <a:ea typeface="Roboto Mono"/>
                <a:cs typeface="Roboto Mono"/>
                <a:sym typeface="Roboto Mono"/>
              </a:rPr>
              <a:t>line</a:t>
            </a:r>
            <a:r>
              <a:rPr lang="es" sz="1300">
                <a:latin typeface="Roboto Mono"/>
                <a:ea typeface="Roboto Mono"/>
                <a:cs typeface="Roboto Mono"/>
                <a:sym typeface="Roboto Mono"/>
              </a:rPr>
              <a:t>) </a:t>
            </a:r>
            <a:r>
              <a:rPr b="1" lang="es" sz="13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=&gt;</a:t>
            </a:r>
            <a:r>
              <a:rPr lang="es" sz="1300">
                <a:latin typeface="Roboto Mono"/>
                <a:ea typeface="Roboto Mono"/>
                <a:cs typeface="Roboto Mono"/>
                <a:sym typeface="Roboto Mono"/>
              </a:rPr>
              <a:t> {</a:t>
            </a:r>
            <a:endParaRPr sz="13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b="1" lang="es" sz="13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const</a:t>
            </a:r>
            <a:r>
              <a:rPr lang="es" sz="13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1300">
                <a:solidFill>
                  <a:srgbClr val="0000F0"/>
                </a:solidFill>
                <a:latin typeface="Roboto Mono"/>
                <a:ea typeface="Roboto Mono"/>
                <a:cs typeface="Roboto Mono"/>
                <a:sym typeface="Roboto Mono"/>
              </a:rPr>
              <a:t>data</a:t>
            </a:r>
            <a:r>
              <a:rPr lang="es" sz="13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s" sz="13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s" sz="13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13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JSON</a:t>
            </a:r>
            <a:r>
              <a:rPr lang="es" sz="1300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es" sz="130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parse</a:t>
            </a:r>
            <a:r>
              <a:rPr lang="es" sz="1300"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s" sz="1300">
                <a:solidFill>
                  <a:srgbClr val="0050A0"/>
                </a:solidFill>
                <a:latin typeface="Roboto Mono"/>
                <a:ea typeface="Roboto Mono"/>
                <a:cs typeface="Roboto Mono"/>
                <a:sym typeface="Roboto Mono"/>
              </a:rPr>
              <a:t>line</a:t>
            </a:r>
            <a:r>
              <a:rPr lang="es" sz="1300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es" sz="130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trim</a:t>
            </a:r>
            <a:r>
              <a:rPr lang="es" sz="1300">
                <a:latin typeface="Roboto Mono"/>
                <a:ea typeface="Roboto Mono"/>
                <a:cs typeface="Roboto Mono"/>
                <a:sym typeface="Roboto Mono"/>
              </a:rPr>
              <a:t>());</a:t>
            </a:r>
            <a:endParaRPr sz="13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b="1" lang="es" sz="13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const</a:t>
            </a:r>
            <a:r>
              <a:rPr lang="es" sz="13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1300">
                <a:solidFill>
                  <a:srgbClr val="0000F0"/>
                </a:solidFill>
                <a:latin typeface="Roboto Mono"/>
                <a:ea typeface="Roboto Mono"/>
                <a:cs typeface="Roboto Mono"/>
                <a:sym typeface="Roboto Mono"/>
              </a:rPr>
              <a:t>temp</a:t>
            </a:r>
            <a:r>
              <a:rPr lang="es" sz="1300"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b="1" lang="es" sz="13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s" sz="13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13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Number</a:t>
            </a:r>
            <a:r>
              <a:rPr lang="es" sz="1300"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s" sz="1300">
                <a:solidFill>
                  <a:srgbClr val="0050A0"/>
                </a:solidFill>
                <a:latin typeface="Roboto Mono"/>
                <a:ea typeface="Roboto Mono"/>
                <a:cs typeface="Roboto Mono"/>
                <a:sym typeface="Roboto Mono"/>
              </a:rPr>
              <a:t>data</a:t>
            </a:r>
            <a:r>
              <a:rPr lang="es" sz="1300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es" sz="130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temperatura</a:t>
            </a:r>
            <a:r>
              <a:rPr lang="es" sz="1300"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 sz="13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b="1" lang="es" sz="13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const</a:t>
            </a:r>
            <a:r>
              <a:rPr lang="es" sz="13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1300">
                <a:solidFill>
                  <a:srgbClr val="0000F0"/>
                </a:solidFill>
                <a:latin typeface="Roboto Mono"/>
                <a:ea typeface="Roboto Mono"/>
                <a:cs typeface="Roboto Mono"/>
                <a:sym typeface="Roboto Mono"/>
              </a:rPr>
              <a:t>hum</a:t>
            </a:r>
            <a:r>
              <a:rPr lang="es" sz="1300">
                <a:latin typeface="Roboto Mono"/>
                <a:ea typeface="Roboto Mono"/>
                <a:cs typeface="Roboto Mono"/>
                <a:sym typeface="Roboto Mono"/>
              </a:rPr>
              <a:t>   </a:t>
            </a:r>
            <a:r>
              <a:rPr b="1" lang="es" sz="13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s" sz="13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13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Number</a:t>
            </a:r>
            <a:r>
              <a:rPr lang="es" sz="1300"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s" sz="1300">
                <a:solidFill>
                  <a:srgbClr val="0050A0"/>
                </a:solidFill>
                <a:latin typeface="Roboto Mono"/>
                <a:ea typeface="Roboto Mono"/>
                <a:cs typeface="Roboto Mono"/>
                <a:sym typeface="Roboto Mono"/>
              </a:rPr>
              <a:t>data</a:t>
            </a:r>
            <a:r>
              <a:rPr lang="es" sz="1300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es" sz="130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humedad</a:t>
            </a:r>
            <a:r>
              <a:rPr lang="es" sz="1300"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 sz="13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b="1" lang="es" sz="13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const</a:t>
            </a:r>
            <a:r>
              <a:rPr lang="es" sz="13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1300">
                <a:solidFill>
                  <a:srgbClr val="0000F0"/>
                </a:solidFill>
                <a:latin typeface="Roboto Mono"/>
                <a:ea typeface="Roboto Mono"/>
                <a:cs typeface="Roboto Mono"/>
                <a:sym typeface="Roboto Mono"/>
              </a:rPr>
              <a:t>light</a:t>
            </a:r>
            <a:r>
              <a:rPr lang="es" sz="13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s" sz="13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s" sz="13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13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Number</a:t>
            </a:r>
            <a:r>
              <a:rPr lang="es" sz="1300"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s" sz="1300">
                <a:solidFill>
                  <a:srgbClr val="0050A0"/>
                </a:solidFill>
                <a:latin typeface="Roboto Mono"/>
                <a:ea typeface="Roboto Mono"/>
                <a:cs typeface="Roboto Mono"/>
                <a:sym typeface="Roboto Mono"/>
              </a:rPr>
              <a:t>data</a:t>
            </a:r>
            <a:r>
              <a:rPr lang="es" sz="1300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es" sz="130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luz</a:t>
            </a:r>
            <a:r>
              <a:rPr lang="es" sz="1300"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 sz="13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Roboto Mono"/>
                <a:ea typeface="Roboto Mono"/>
                <a:cs typeface="Roboto Mono"/>
                <a:sym typeface="Roboto Mono"/>
              </a:rPr>
              <a:t>});</a:t>
            </a:r>
            <a:endParaRPr sz="13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8"/>
          <p:cNvSpPr txBox="1"/>
          <p:nvPr>
            <p:ph type="title"/>
          </p:nvPr>
        </p:nvSpPr>
        <p:spPr>
          <a:xfrm>
            <a:off x="727650" y="71907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2700" marR="5080" rtl="0" algn="just">
              <a:lnSpc>
                <a:spcPct val="10812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1" lang="es" sz="2700">
                <a:latin typeface="Times New Roman"/>
                <a:ea typeface="Times New Roman"/>
                <a:cs typeface="Times New Roman"/>
                <a:sym typeface="Times New Roman"/>
              </a:rPr>
              <a:t>Sending Data to the Cloud (HTTP POST)</a:t>
            </a:r>
            <a:endParaRPr b="1" i="1" sz="2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8" name="Google Shape;268;p28"/>
          <p:cNvSpPr txBox="1"/>
          <p:nvPr>
            <p:ph idx="1" type="body"/>
          </p:nvPr>
        </p:nvSpPr>
        <p:spPr>
          <a:xfrm>
            <a:off x="727650" y="1470714"/>
            <a:ext cx="7688700" cy="28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Times New Roman"/>
              <a:buChar char="●"/>
            </a:pPr>
            <a:r>
              <a:rPr lang="e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Every time the bridge receives a valid JSON reading, it builds an HTTP POST request and sends it to our backend hosted on DigitalOcean.</a:t>
            </a:r>
            <a:endParaRPr sz="1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5080" rtl="0" algn="l">
              <a:lnSpc>
                <a:spcPct val="1108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69" name="Google Shape;269;p28"/>
          <p:cNvPicPr preferRelativeResize="0"/>
          <p:nvPr/>
        </p:nvPicPr>
        <p:blipFill rotWithShape="1">
          <a:blip r:embed="rId3">
            <a:alphaModFix/>
          </a:blip>
          <a:srcRect b="16105" l="17335" r="16755" t="16112"/>
          <a:stretch/>
        </p:blipFill>
        <p:spPr>
          <a:xfrm>
            <a:off x="8582093" y="216279"/>
            <a:ext cx="348925" cy="358851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28"/>
          <p:cNvSpPr txBox="1"/>
          <p:nvPr/>
        </p:nvSpPr>
        <p:spPr>
          <a:xfrm>
            <a:off x="1207650" y="2449325"/>
            <a:ext cx="6728700" cy="1730700"/>
          </a:xfrm>
          <a:prstGeom prst="rect">
            <a:avLst/>
          </a:prstGeom>
          <a:solidFill>
            <a:schemeClr val="dk1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const</a:t>
            </a:r>
            <a:r>
              <a:rPr lang="es" sz="13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1300">
                <a:solidFill>
                  <a:srgbClr val="0000F0"/>
                </a:solidFill>
                <a:latin typeface="Roboto Mono"/>
                <a:ea typeface="Roboto Mono"/>
                <a:cs typeface="Roboto Mono"/>
                <a:sym typeface="Roboto Mono"/>
              </a:rPr>
              <a:t>payload</a:t>
            </a:r>
            <a:r>
              <a:rPr lang="es" sz="13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s" sz="13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s" sz="1300">
                <a:latin typeface="Roboto Mono"/>
                <a:ea typeface="Roboto Mono"/>
                <a:cs typeface="Roboto Mono"/>
                <a:sym typeface="Roboto Mono"/>
              </a:rPr>
              <a:t> { </a:t>
            </a:r>
            <a:r>
              <a:rPr lang="es" sz="130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temp</a:t>
            </a:r>
            <a:r>
              <a:rPr lang="es" sz="1300"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s" sz="130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hum</a:t>
            </a:r>
            <a:r>
              <a:rPr lang="es" sz="1300"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s" sz="130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light</a:t>
            </a:r>
            <a:r>
              <a:rPr lang="es" sz="1300"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s" sz="130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name</a:t>
            </a:r>
            <a:r>
              <a:rPr lang="es" sz="1300"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es" sz="13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ROOM</a:t>
            </a:r>
            <a:r>
              <a:rPr lang="es" sz="1300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es" sz="130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toUpperCase</a:t>
            </a:r>
            <a:r>
              <a:rPr lang="es" sz="1300">
                <a:latin typeface="Roboto Mono"/>
                <a:ea typeface="Roboto Mono"/>
                <a:cs typeface="Roboto Mono"/>
                <a:sym typeface="Roboto Mono"/>
              </a:rPr>
              <a:t>() };</a:t>
            </a:r>
            <a:endParaRPr sz="13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await</a:t>
            </a:r>
            <a:r>
              <a:rPr lang="es" sz="13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13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fetch</a:t>
            </a:r>
            <a:r>
              <a:rPr lang="es" sz="1300"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s" sz="1300">
                <a:solidFill>
                  <a:srgbClr val="F05000"/>
                </a:solidFill>
                <a:latin typeface="Roboto Mono"/>
                <a:ea typeface="Roboto Mono"/>
                <a:cs typeface="Roboto Mono"/>
                <a:sym typeface="Roboto Mono"/>
              </a:rPr>
              <a:t>`${</a:t>
            </a:r>
            <a:r>
              <a:rPr lang="es" sz="13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BASE</a:t>
            </a:r>
            <a:r>
              <a:rPr lang="es" sz="1300">
                <a:solidFill>
                  <a:srgbClr val="F05000"/>
                </a:solidFill>
                <a:latin typeface="Roboto Mono"/>
                <a:ea typeface="Roboto Mono"/>
                <a:cs typeface="Roboto Mono"/>
                <a:sym typeface="Roboto Mono"/>
              </a:rPr>
              <a:t>}/api/samples/${</a:t>
            </a:r>
            <a:r>
              <a:rPr lang="es" sz="13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ROOM</a:t>
            </a:r>
            <a:r>
              <a:rPr lang="es" sz="1300">
                <a:solidFill>
                  <a:srgbClr val="F05000"/>
                </a:solidFill>
                <a:latin typeface="Roboto Mono"/>
                <a:ea typeface="Roboto Mono"/>
                <a:cs typeface="Roboto Mono"/>
                <a:sym typeface="Roboto Mono"/>
              </a:rPr>
              <a:t>}`</a:t>
            </a:r>
            <a:r>
              <a:rPr lang="es" sz="1300">
                <a:latin typeface="Roboto Mono"/>
                <a:ea typeface="Roboto Mono"/>
                <a:cs typeface="Roboto Mono"/>
                <a:sym typeface="Roboto Mono"/>
              </a:rPr>
              <a:t>, {</a:t>
            </a:r>
            <a:endParaRPr sz="13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lang="es" sz="130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method</a:t>
            </a:r>
            <a:r>
              <a:rPr lang="es" sz="1300"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es" sz="13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'POST'</a:t>
            </a:r>
            <a:r>
              <a:rPr lang="es" sz="1300">
                <a:latin typeface="Roboto Mono"/>
                <a:ea typeface="Roboto Mono"/>
                <a:cs typeface="Roboto Mono"/>
                <a:sym typeface="Roboto Mono"/>
              </a:rPr>
              <a:t>,</a:t>
            </a:r>
            <a:endParaRPr sz="13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lang="es" sz="130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headers</a:t>
            </a:r>
            <a:r>
              <a:rPr lang="es" sz="1300">
                <a:latin typeface="Roboto Mono"/>
                <a:ea typeface="Roboto Mono"/>
                <a:cs typeface="Roboto Mono"/>
                <a:sym typeface="Roboto Mono"/>
              </a:rPr>
              <a:t>: { 'Content-Type': </a:t>
            </a:r>
            <a:r>
              <a:rPr lang="es" sz="13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'application/json'</a:t>
            </a:r>
            <a:r>
              <a:rPr lang="es" sz="1300">
                <a:latin typeface="Roboto Mono"/>
                <a:ea typeface="Roboto Mono"/>
                <a:cs typeface="Roboto Mono"/>
                <a:sym typeface="Roboto Mono"/>
              </a:rPr>
              <a:t> },</a:t>
            </a:r>
            <a:endParaRPr sz="13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lang="es" sz="130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body</a:t>
            </a:r>
            <a:r>
              <a:rPr lang="es" sz="1300"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es" sz="13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JSON</a:t>
            </a:r>
            <a:r>
              <a:rPr lang="es" sz="1300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es" sz="130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stringify</a:t>
            </a:r>
            <a:r>
              <a:rPr lang="es" sz="1300"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s" sz="13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payload</a:t>
            </a:r>
            <a:r>
              <a:rPr lang="es" sz="1300">
                <a:latin typeface="Roboto Mono"/>
                <a:ea typeface="Roboto Mono"/>
                <a:cs typeface="Roboto Mono"/>
                <a:sym typeface="Roboto Mono"/>
              </a:rPr>
              <a:t>),</a:t>
            </a:r>
            <a:endParaRPr sz="13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Roboto Mono"/>
                <a:ea typeface="Roboto Mono"/>
                <a:cs typeface="Roboto Mono"/>
                <a:sym typeface="Roboto Mono"/>
              </a:rPr>
              <a:t>});</a:t>
            </a:r>
            <a:endParaRPr sz="13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rgbClr val="70008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rgbClr val="70008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9"/>
          <p:cNvSpPr txBox="1"/>
          <p:nvPr>
            <p:ph type="title"/>
          </p:nvPr>
        </p:nvSpPr>
        <p:spPr>
          <a:xfrm>
            <a:off x="727650" y="71907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2700" marR="5080" rtl="0" algn="just">
              <a:lnSpc>
                <a:spcPct val="10812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1" lang="es" sz="2700">
                <a:latin typeface="Times New Roman"/>
                <a:ea typeface="Times New Roman"/>
                <a:cs typeface="Times New Roman"/>
                <a:sym typeface="Times New Roman"/>
              </a:rPr>
              <a:t>Integration with the Backend, Database and App</a:t>
            </a:r>
            <a:endParaRPr b="1" i="1" sz="2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6" name="Google Shape;276;p29"/>
          <p:cNvSpPr txBox="1"/>
          <p:nvPr>
            <p:ph idx="1" type="body"/>
          </p:nvPr>
        </p:nvSpPr>
        <p:spPr>
          <a:xfrm>
            <a:off x="727650" y="1470714"/>
            <a:ext cx="7688700" cy="28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Times New Roman"/>
              <a:buChar char="●"/>
            </a:pPr>
            <a:r>
              <a:rPr lang="e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Once the backend receives the POST request, it updates the room’s data and stores the new measurements in a PostgreSQL database.</a:t>
            </a:r>
            <a:endParaRPr sz="1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Times New Roman"/>
              <a:buChar char="●"/>
            </a:pPr>
            <a:r>
              <a:rPr lang="e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RoomSense mobile app use the backend API to fetch the latest conditions of each room and provide personalised recommendations to users.</a:t>
            </a:r>
            <a:endParaRPr sz="1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5080" rtl="0" algn="l">
              <a:lnSpc>
                <a:spcPct val="1108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77" name="Google Shape;277;p29"/>
          <p:cNvPicPr preferRelativeResize="0"/>
          <p:nvPr/>
        </p:nvPicPr>
        <p:blipFill rotWithShape="1">
          <a:blip r:embed="rId3">
            <a:alphaModFix/>
          </a:blip>
          <a:srcRect b="16105" l="17335" r="16755" t="16112"/>
          <a:stretch/>
        </p:blipFill>
        <p:spPr>
          <a:xfrm>
            <a:off x="8582093" y="216279"/>
            <a:ext cx="348925" cy="358851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9"/>
          <p:cNvSpPr txBox="1"/>
          <p:nvPr/>
        </p:nvSpPr>
        <p:spPr>
          <a:xfrm>
            <a:off x="1207650" y="2949550"/>
            <a:ext cx="6728700" cy="414900"/>
          </a:xfrm>
          <a:prstGeom prst="rect">
            <a:avLst/>
          </a:prstGeom>
          <a:solidFill>
            <a:schemeClr val="dk1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Roboto Mono"/>
                <a:ea typeface="Roboto Mono"/>
                <a:cs typeface="Roboto Mono"/>
                <a:sym typeface="Roboto Mono"/>
              </a:rPr>
              <a:t>Arduino → UART → Bridge → HTTP POST → Backend → Database → App</a:t>
            </a:r>
            <a:endParaRPr sz="13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rgbClr val="70008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rgbClr val="70008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30"/>
          <p:cNvSpPr txBox="1"/>
          <p:nvPr>
            <p:ph type="title"/>
          </p:nvPr>
        </p:nvSpPr>
        <p:spPr>
          <a:xfrm>
            <a:off x="582775" y="384025"/>
            <a:ext cx="34062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2700" marR="5080" rtl="0" algn="just">
              <a:lnSpc>
                <a:spcPct val="10812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1" lang="es" sz="2700">
                <a:latin typeface="Times New Roman"/>
                <a:ea typeface="Times New Roman"/>
                <a:cs typeface="Times New Roman"/>
                <a:sym typeface="Times New Roman"/>
              </a:rPr>
              <a:t>Database Model</a:t>
            </a:r>
            <a:endParaRPr b="1" i="1" sz="2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84" name="Google Shape;284;p30"/>
          <p:cNvPicPr preferRelativeResize="0"/>
          <p:nvPr/>
        </p:nvPicPr>
        <p:blipFill rotWithShape="1">
          <a:blip r:embed="rId3">
            <a:alphaModFix/>
          </a:blip>
          <a:srcRect b="16105" l="17335" r="16755" t="16112"/>
          <a:stretch/>
        </p:blipFill>
        <p:spPr>
          <a:xfrm>
            <a:off x="8582093" y="216279"/>
            <a:ext cx="348925" cy="358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30" title="IOT.drawio (1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22325" y="975375"/>
            <a:ext cx="7420624" cy="38186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31"/>
          <p:cNvSpPr txBox="1"/>
          <p:nvPr>
            <p:ph type="title"/>
          </p:nvPr>
        </p:nvSpPr>
        <p:spPr>
          <a:xfrm>
            <a:off x="582775" y="384025"/>
            <a:ext cx="34062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2700" marR="5080" rtl="0" algn="just">
              <a:lnSpc>
                <a:spcPct val="10812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1" lang="es" sz="2700">
                <a:latin typeface="Times New Roman"/>
                <a:ea typeface="Times New Roman"/>
                <a:cs typeface="Times New Roman"/>
                <a:sym typeface="Times New Roman"/>
              </a:rPr>
              <a:t>Module Backend </a:t>
            </a:r>
            <a:r>
              <a:rPr b="1" i="1" lang="es" sz="2700">
                <a:latin typeface="Times New Roman"/>
                <a:ea typeface="Times New Roman"/>
                <a:cs typeface="Times New Roman"/>
                <a:sym typeface="Times New Roman"/>
              </a:rPr>
              <a:t>View</a:t>
            </a:r>
            <a:endParaRPr b="1" i="1" sz="2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91" name="Google Shape;291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3642" y="1031850"/>
            <a:ext cx="7656724" cy="3794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" name="Google Shape;292;p31"/>
          <p:cNvPicPr preferRelativeResize="0"/>
          <p:nvPr/>
        </p:nvPicPr>
        <p:blipFill rotWithShape="1">
          <a:blip r:embed="rId4">
            <a:alphaModFix/>
          </a:blip>
          <a:srcRect b="16105" l="17335" r="16755" t="16112"/>
          <a:stretch/>
        </p:blipFill>
        <p:spPr>
          <a:xfrm>
            <a:off x="8582093" y="216279"/>
            <a:ext cx="348925" cy="358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2"/>
          <p:cNvSpPr txBox="1"/>
          <p:nvPr>
            <p:ph type="title"/>
          </p:nvPr>
        </p:nvSpPr>
        <p:spPr>
          <a:xfrm>
            <a:off x="582775" y="384025"/>
            <a:ext cx="2930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2700" marR="5080" rtl="0" algn="just">
              <a:lnSpc>
                <a:spcPct val="10812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1" lang="es" sz="2700">
                <a:latin typeface="Times New Roman"/>
                <a:ea typeface="Times New Roman"/>
                <a:cs typeface="Times New Roman"/>
                <a:sym typeface="Times New Roman"/>
              </a:rPr>
              <a:t>C&amp;C General View</a:t>
            </a:r>
            <a:endParaRPr b="1" i="1" sz="2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98" name="Google Shape;298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1638" y="1793013"/>
            <a:ext cx="8480726" cy="1557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32"/>
          <p:cNvPicPr preferRelativeResize="0"/>
          <p:nvPr/>
        </p:nvPicPr>
        <p:blipFill rotWithShape="1">
          <a:blip r:embed="rId4">
            <a:alphaModFix/>
          </a:blip>
          <a:srcRect b="16105" l="17335" r="16755" t="16112"/>
          <a:stretch/>
        </p:blipFill>
        <p:spPr>
          <a:xfrm>
            <a:off x="8582093" y="216279"/>
            <a:ext cx="348925" cy="358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4" name="Google Shape;304;p33"/>
          <p:cNvPicPr preferRelativeResize="0"/>
          <p:nvPr/>
        </p:nvPicPr>
        <p:blipFill rotWithShape="1">
          <a:blip r:embed="rId3">
            <a:alphaModFix/>
          </a:blip>
          <a:srcRect b="0" l="3577" r="0" t="5213"/>
          <a:stretch/>
        </p:blipFill>
        <p:spPr>
          <a:xfrm>
            <a:off x="1280838" y="412655"/>
            <a:ext cx="6582326" cy="4499324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33"/>
          <p:cNvSpPr txBox="1"/>
          <p:nvPr>
            <p:ph type="title"/>
          </p:nvPr>
        </p:nvSpPr>
        <p:spPr>
          <a:xfrm>
            <a:off x="582775" y="384025"/>
            <a:ext cx="30666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2700" marR="5080" rtl="0" algn="just">
              <a:lnSpc>
                <a:spcPct val="10812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1" lang="es" sz="2700">
                <a:latin typeface="Times New Roman"/>
                <a:ea typeface="Times New Roman"/>
                <a:cs typeface="Times New Roman"/>
                <a:sym typeface="Times New Roman"/>
              </a:rPr>
              <a:t>C&amp;C Detailed </a:t>
            </a:r>
            <a:r>
              <a:rPr b="1" i="1" lang="es" sz="2700">
                <a:latin typeface="Times New Roman"/>
                <a:ea typeface="Times New Roman"/>
                <a:cs typeface="Times New Roman"/>
                <a:sym typeface="Times New Roman"/>
              </a:rPr>
              <a:t>View</a:t>
            </a:r>
            <a:endParaRPr b="1" i="1" sz="2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06" name="Google Shape;306;p33"/>
          <p:cNvPicPr preferRelativeResize="0"/>
          <p:nvPr/>
        </p:nvPicPr>
        <p:blipFill rotWithShape="1">
          <a:blip r:embed="rId4">
            <a:alphaModFix/>
          </a:blip>
          <a:srcRect b="16105" l="17335" r="16755" t="16112"/>
          <a:stretch/>
        </p:blipFill>
        <p:spPr>
          <a:xfrm>
            <a:off x="8582093" y="216279"/>
            <a:ext cx="348925" cy="358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34"/>
          <p:cNvSpPr txBox="1"/>
          <p:nvPr>
            <p:ph type="title"/>
          </p:nvPr>
        </p:nvSpPr>
        <p:spPr>
          <a:xfrm>
            <a:off x="582768" y="384025"/>
            <a:ext cx="38652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2700" marR="5080" rtl="0" algn="just">
              <a:lnSpc>
                <a:spcPct val="10812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1" lang="es" sz="2700">
                <a:latin typeface="Times New Roman"/>
                <a:ea typeface="Times New Roman"/>
                <a:cs typeface="Times New Roman"/>
                <a:sym typeface="Times New Roman"/>
              </a:rPr>
              <a:t>Deployment View</a:t>
            </a:r>
            <a:endParaRPr b="1" i="1" sz="2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12" name="Google Shape;312;p34"/>
          <p:cNvPicPr preferRelativeResize="0"/>
          <p:nvPr/>
        </p:nvPicPr>
        <p:blipFill rotWithShape="1">
          <a:blip r:embed="rId3">
            <a:alphaModFix/>
          </a:blip>
          <a:srcRect b="16105" l="17335" r="16755" t="16112"/>
          <a:stretch/>
        </p:blipFill>
        <p:spPr>
          <a:xfrm>
            <a:off x="8582093" y="216279"/>
            <a:ext cx="348925" cy="358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313" name="Google Shape;313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90175" y="955434"/>
            <a:ext cx="6563633" cy="3919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35"/>
          <p:cNvSpPr txBox="1"/>
          <p:nvPr>
            <p:ph type="title"/>
          </p:nvPr>
        </p:nvSpPr>
        <p:spPr>
          <a:xfrm>
            <a:off x="582768" y="384025"/>
            <a:ext cx="38652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2700" marR="5080" rtl="0" algn="just">
              <a:lnSpc>
                <a:spcPct val="10812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1" lang="es" sz="2700">
                <a:latin typeface="Times New Roman"/>
                <a:ea typeface="Times New Roman"/>
                <a:cs typeface="Times New Roman"/>
                <a:sym typeface="Times New Roman"/>
              </a:rPr>
              <a:t>AI Module</a:t>
            </a:r>
            <a:endParaRPr b="1" i="1" sz="2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9" name="Google Shape;319;p35"/>
          <p:cNvSpPr txBox="1"/>
          <p:nvPr>
            <p:ph idx="1" type="body"/>
          </p:nvPr>
        </p:nvSpPr>
        <p:spPr>
          <a:xfrm>
            <a:off x="582775" y="1104744"/>
            <a:ext cx="7688700" cy="35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Times New Roman"/>
              <a:buChar char="●"/>
            </a:pPr>
            <a:r>
              <a:rPr b="1" lang="e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Hybrid ML System</a:t>
            </a:r>
            <a:r>
              <a:rPr lang="e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based on:</a:t>
            </a:r>
            <a:endParaRPr sz="1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Times New Roman"/>
              <a:buChar char="○"/>
            </a:pPr>
            <a:r>
              <a:rPr b="1" lang="e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Collaborative </a:t>
            </a:r>
            <a:r>
              <a:rPr lang="e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Filtering → learns from similar users</a:t>
            </a:r>
            <a:endParaRPr sz="1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Times New Roman"/>
              <a:buChar char="○"/>
            </a:pPr>
            <a:r>
              <a:rPr b="1" lang="e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Content-Based</a:t>
            </a:r>
            <a:r>
              <a:rPr lang="e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Filtering → analyzes room characteristics</a:t>
            </a:r>
            <a:endParaRPr sz="1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Times New Roman"/>
              <a:buChar char="○"/>
            </a:pPr>
            <a:r>
              <a:rPr b="1" lang="e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Temporal</a:t>
            </a:r>
            <a:r>
              <a:rPr lang="e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Analysis → detects usage patterns by time</a:t>
            </a:r>
            <a:endParaRPr sz="1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Times New Roman"/>
              <a:buChar char="○"/>
            </a:pPr>
            <a:r>
              <a:rPr lang="e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Business Rules → availability, capacity, current occupancy</a:t>
            </a:r>
            <a:endParaRPr sz="1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Times New Roman"/>
              <a:buChar char="●"/>
            </a:pPr>
            <a:r>
              <a:rPr lang="e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Learns from users </a:t>
            </a:r>
            <a:r>
              <a:rPr b="1" lang="e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feedback</a:t>
            </a:r>
            <a:endParaRPr b="1" sz="1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Times New Roman"/>
              <a:buChar char="●"/>
            </a:pPr>
            <a:r>
              <a:rPr lang="e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Continuous improvement</a:t>
            </a:r>
            <a:endParaRPr sz="1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5080" rtl="0" algn="l">
              <a:lnSpc>
                <a:spcPct val="1208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320" name="Google Shape;320;p35"/>
          <p:cNvPicPr preferRelativeResize="0"/>
          <p:nvPr/>
        </p:nvPicPr>
        <p:blipFill rotWithShape="1">
          <a:blip r:embed="rId3">
            <a:alphaModFix/>
          </a:blip>
          <a:srcRect b="18613" l="0" r="0" t="0"/>
          <a:stretch/>
        </p:blipFill>
        <p:spPr>
          <a:xfrm>
            <a:off x="4090334" y="2640930"/>
            <a:ext cx="4109174" cy="2230623"/>
          </a:xfrm>
          <a:prstGeom prst="rect">
            <a:avLst/>
          </a:prstGeom>
          <a:noFill/>
          <a:ln>
            <a:noFill/>
          </a:ln>
        </p:spPr>
      </p:pic>
      <p:pic>
        <p:nvPicPr>
          <p:cNvPr id="321" name="Google Shape;321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66800" y="3174675"/>
            <a:ext cx="1282526" cy="1678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22" name="Google Shape;322;p35"/>
          <p:cNvPicPr preferRelativeResize="0"/>
          <p:nvPr/>
        </p:nvPicPr>
        <p:blipFill rotWithShape="1">
          <a:blip r:embed="rId5">
            <a:alphaModFix/>
          </a:blip>
          <a:srcRect b="16105" l="17335" r="16755" t="16112"/>
          <a:stretch/>
        </p:blipFill>
        <p:spPr>
          <a:xfrm>
            <a:off x="8582093" y="216279"/>
            <a:ext cx="348925" cy="358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36"/>
          <p:cNvSpPr txBox="1"/>
          <p:nvPr>
            <p:ph type="title"/>
          </p:nvPr>
        </p:nvSpPr>
        <p:spPr>
          <a:xfrm>
            <a:off x="582775" y="384025"/>
            <a:ext cx="44670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2700" marR="5080" rtl="0" algn="just">
              <a:lnSpc>
                <a:spcPct val="10812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1" lang="es" sz="2700">
                <a:latin typeface="Times New Roman"/>
                <a:ea typeface="Times New Roman"/>
                <a:cs typeface="Times New Roman"/>
                <a:sym typeface="Times New Roman"/>
              </a:rPr>
              <a:t>How </a:t>
            </a:r>
            <a:r>
              <a:rPr b="1" i="1" lang="es" sz="2700">
                <a:latin typeface="Times New Roman"/>
                <a:ea typeface="Times New Roman"/>
                <a:cs typeface="Times New Roman"/>
                <a:sym typeface="Times New Roman"/>
              </a:rPr>
              <a:t>the ML System </a:t>
            </a:r>
            <a:r>
              <a:rPr b="1" i="1" lang="es" sz="2700">
                <a:latin typeface="Times New Roman"/>
                <a:ea typeface="Times New Roman"/>
                <a:cs typeface="Times New Roman"/>
                <a:sym typeface="Times New Roman"/>
              </a:rPr>
              <a:t>works</a:t>
            </a:r>
            <a:r>
              <a:rPr b="1" i="1" lang="es" sz="2700">
                <a:latin typeface="Times New Roman"/>
                <a:ea typeface="Times New Roman"/>
                <a:cs typeface="Times New Roman"/>
                <a:sym typeface="Times New Roman"/>
              </a:rPr>
              <a:t>?</a:t>
            </a:r>
            <a:endParaRPr b="1" i="1" sz="2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8" name="Google Shape;328;p36"/>
          <p:cNvSpPr txBox="1"/>
          <p:nvPr>
            <p:ph idx="1" type="body"/>
          </p:nvPr>
        </p:nvSpPr>
        <p:spPr>
          <a:xfrm>
            <a:off x="582775" y="1100169"/>
            <a:ext cx="7688700" cy="37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Times New Roman"/>
              <a:buChar char="●"/>
            </a:pPr>
            <a:r>
              <a:rPr lang="e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Two main phases:</a:t>
            </a:r>
            <a:endParaRPr sz="1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Times New Roman"/>
              <a:buChar char="○"/>
            </a:pPr>
            <a:r>
              <a:rPr b="1" lang="e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Inference </a:t>
            </a:r>
            <a:r>
              <a:rPr lang="e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(Prediction Phase</a:t>
            </a:r>
            <a:r>
              <a:rPr lang="e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→ O(n </a:t>
            </a:r>
            <a:r>
              <a:rPr lang="es" sz="1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m)</a:t>
            </a:r>
            <a:endParaRPr sz="1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Times New Roman"/>
              <a:buChar char="○"/>
            </a:pPr>
            <a:r>
              <a:rPr b="1" lang="e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Training </a:t>
            </a:r>
            <a:r>
              <a:rPr lang="e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(Learning Phase) → </a:t>
            </a:r>
            <a:r>
              <a:rPr lang="e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O(1)</a:t>
            </a:r>
            <a:endParaRPr sz="1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Times New Roman"/>
              <a:buChar char="●"/>
            </a:pPr>
            <a:r>
              <a:rPr b="1" lang="e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Supervised Learning </a:t>
            </a:r>
            <a:r>
              <a:rPr lang="e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based on a</a:t>
            </a:r>
            <a:r>
              <a:rPr b="1" lang="e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Shallow Neural Network :</a:t>
            </a:r>
            <a:endParaRPr b="1" sz="1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Times New Roman"/>
              <a:buChar char="○"/>
            </a:pPr>
            <a:r>
              <a:rPr b="1" lang="e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 </a:t>
            </a:r>
            <a:r>
              <a:rPr lang="e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input neurons (factors)</a:t>
            </a:r>
            <a:endParaRPr sz="1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Times New Roman"/>
              <a:buChar char="○"/>
            </a:pPr>
            <a:r>
              <a:rPr b="1" lang="e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Single </a:t>
            </a:r>
            <a:r>
              <a:rPr lang="e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output (compatibility score)</a:t>
            </a:r>
            <a:endParaRPr sz="1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Times New Roman"/>
              <a:buChar char="○"/>
            </a:pPr>
            <a:r>
              <a:rPr lang="e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Trained via </a:t>
            </a:r>
            <a:r>
              <a:rPr b="1" lang="e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Gradient Descent</a:t>
            </a:r>
            <a:endParaRPr b="1" sz="1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5080" rtl="0" algn="l">
              <a:lnSpc>
                <a:spcPct val="1208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329" name="Google Shape;329;p36"/>
          <p:cNvPicPr preferRelativeResize="0"/>
          <p:nvPr/>
        </p:nvPicPr>
        <p:blipFill rotWithShape="1">
          <a:blip r:embed="rId3">
            <a:alphaModFix/>
          </a:blip>
          <a:srcRect b="11008" l="0" r="0" t="0"/>
          <a:stretch/>
        </p:blipFill>
        <p:spPr>
          <a:xfrm>
            <a:off x="4874600" y="2813824"/>
            <a:ext cx="3325551" cy="197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0" name="Google Shape;330;p36"/>
          <p:cNvPicPr preferRelativeResize="0"/>
          <p:nvPr/>
        </p:nvPicPr>
        <p:blipFill rotWithShape="1">
          <a:blip r:embed="rId4">
            <a:alphaModFix/>
          </a:blip>
          <a:srcRect b="16105" l="17335" r="16755" t="16112"/>
          <a:stretch/>
        </p:blipFill>
        <p:spPr>
          <a:xfrm>
            <a:off x="8582093" y="216279"/>
            <a:ext cx="348925" cy="358851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36"/>
          <p:cNvSpPr txBox="1"/>
          <p:nvPr>
            <p:ph idx="1" type="body"/>
          </p:nvPr>
        </p:nvSpPr>
        <p:spPr>
          <a:xfrm>
            <a:off x="1438925" y="3121850"/>
            <a:ext cx="2914800" cy="17679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5080" rtl="0" algn="l">
              <a:lnSpc>
                <a:spcPct val="100800"/>
              </a:lnSpc>
              <a:spcBef>
                <a:spcPts val="900"/>
              </a:spcBef>
              <a:spcAft>
                <a:spcPts val="0"/>
              </a:spcAft>
              <a:buSzPts val="523"/>
              <a:buNone/>
            </a:pPr>
            <a:r>
              <a:rPr b="1" lang="es" sz="665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this</a:t>
            </a:r>
            <a:r>
              <a:rPr lang="es" sz="665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es" sz="665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weights</a:t>
            </a:r>
            <a:r>
              <a:rPr lang="es" sz="665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s" sz="665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s" sz="665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{</a:t>
            </a:r>
            <a:endParaRPr sz="665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5080" rtl="0" algn="l">
              <a:lnSpc>
                <a:spcPct val="100800"/>
              </a:lnSpc>
              <a:spcBef>
                <a:spcPts val="900"/>
              </a:spcBef>
              <a:spcAft>
                <a:spcPts val="0"/>
              </a:spcAft>
              <a:buSzPts val="523"/>
              <a:buNone/>
            </a:pPr>
            <a:r>
              <a:rPr lang="es" sz="665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  roomFeatures</a:t>
            </a:r>
            <a:r>
              <a:rPr lang="es" sz="665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es" sz="665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0.35</a:t>
            </a:r>
            <a:r>
              <a:rPr lang="es" sz="665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,    </a:t>
            </a:r>
            <a:r>
              <a:rPr i="1" lang="es" sz="665">
                <a:solidFill>
                  <a:srgbClr val="A05000"/>
                </a:solidFill>
                <a:latin typeface="Roboto Mono"/>
                <a:ea typeface="Roboto Mono"/>
                <a:cs typeface="Roboto Mono"/>
                <a:sym typeface="Roboto Mono"/>
              </a:rPr>
              <a:t>// User Temperature (35%)</a:t>
            </a:r>
            <a:endParaRPr sz="665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5080" rtl="0" algn="l">
              <a:lnSpc>
                <a:spcPct val="100800"/>
              </a:lnSpc>
              <a:spcBef>
                <a:spcPts val="900"/>
              </a:spcBef>
              <a:spcAft>
                <a:spcPts val="0"/>
              </a:spcAft>
              <a:buSzPts val="523"/>
              <a:buNone/>
            </a:pPr>
            <a:r>
              <a:rPr lang="es" sz="665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  availability</a:t>
            </a:r>
            <a:r>
              <a:rPr lang="es" sz="665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es" sz="665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0.30</a:t>
            </a:r>
            <a:r>
              <a:rPr lang="es" sz="665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,    </a:t>
            </a:r>
            <a:r>
              <a:rPr i="1" lang="es" sz="665">
                <a:solidFill>
                  <a:srgbClr val="A05000"/>
                </a:solidFill>
                <a:latin typeface="Roboto Mono"/>
                <a:ea typeface="Roboto Mono"/>
                <a:cs typeface="Roboto Mono"/>
                <a:sym typeface="Roboto Mono"/>
              </a:rPr>
              <a:t>// Actual Availability (30%)</a:t>
            </a:r>
            <a:endParaRPr sz="665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5080" rtl="0" algn="l">
              <a:lnSpc>
                <a:spcPct val="100800"/>
              </a:lnSpc>
              <a:spcBef>
                <a:spcPts val="900"/>
              </a:spcBef>
              <a:spcAft>
                <a:spcPts val="0"/>
              </a:spcAft>
              <a:buSzPts val="523"/>
              <a:buNone/>
            </a:pPr>
            <a:r>
              <a:rPr lang="es" sz="665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  userHistory</a:t>
            </a:r>
            <a:r>
              <a:rPr lang="es" sz="665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es" sz="665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0.20</a:t>
            </a:r>
            <a:r>
              <a:rPr lang="es" sz="665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,     </a:t>
            </a:r>
            <a:r>
              <a:rPr i="1" lang="es" sz="665">
                <a:solidFill>
                  <a:srgbClr val="A05000"/>
                </a:solidFill>
                <a:latin typeface="Roboto Mono"/>
                <a:ea typeface="Roboto Mono"/>
                <a:cs typeface="Roboto Mono"/>
                <a:sym typeface="Roboto Mono"/>
              </a:rPr>
              <a:t>// User Historical (20%)</a:t>
            </a:r>
            <a:endParaRPr sz="665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5080" rtl="0" algn="l">
              <a:lnSpc>
                <a:spcPct val="100800"/>
              </a:lnSpc>
              <a:spcBef>
                <a:spcPts val="900"/>
              </a:spcBef>
              <a:spcAft>
                <a:spcPts val="0"/>
              </a:spcAft>
              <a:buSzPts val="523"/>
              <a:buNone/>
            </a:pPr>
            <a:r>
              <a:rPr lang="es" sz="665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  similarUsers</a:t>
            </a:r>
            <a:r>
              <a:rPr lang="es" sz="665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es" sz="665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0.08</a:t>
            </a:r>
            <a:r>
              <a:rPr lang="es" sz="665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,    </a:t>
            </a:r>
            <a:r>
              <a:rPr i="1" lang="es" sz="665">
                <a:solidFill>
                  <a:srgbClr val="A05000"/>
                </a:solidFill>
                <a:latin typeface="Roboto Mono"/>
                <a:ea typeface="Roboto Mono"/>
                <a:cs typeface="Roboto Mono"/>
                <a:sym typeface="Roboto Mono"/>
              </a:rPr>
              <a:t>// Similar Users (8%)</a:t>
            </a:r>
            <a:endParaRPr sz="665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5080" rtl="0" algn="l">
              <a:lnSpc>
                <a:spcPct val="100800"/>
              </a:lnSpc>
              <a:spcBef>
                <a:spcPts val="900"/>
              </a:spcBef>
              <a:spcAft>
                <a:spcPts val="0"/>
              </a:spcAft>
              <a:buSzPts val="523"/>
              <a:buNone/>
            </a:pPr>
            <a:r>
              <a:rPr lang="es" sz="665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  temporalPattern</a:t>
            </a:r>
            <a:r>
              <a:rPr lang="es" sz="665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es" sz="665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0.05</a:t>
            </a:r>
            <a:r>
              <a:rPr lang="es" sz="665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i="1" lang="es" sz="665">
                <a:solidFill>
                  <a:srgbClr val="A05000"/>
                </a:solidFill>
                <a:latin typeface="Roboto Mono"/>
                <a:ea typeface="Roboto Mono"/>
                <a:cs typeface="Roboto Mono"/>
                <a:sym typeface="Roboto Mono"/>
              </a:rPr>
              <a:t>// Temporal Patterns (5%)</a:t>
            </a:r>
            <a:endParaRPr sz="665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5080" rtl="0" algn="l">
              <a:lnSpc>
                <a:spcPct val="100800"/>
              </a:lnSpc>
              <a:spcBef>
                <a:spcPts val="900"/>
              </a:spcBef>
              <a:spcAft>
                <a:spcPts val="0"/>
              </a:spcAft>
              <a:buSzPts val="523"/>
              <a:buNone/>
            </a:pPr>
            <a:r>
              <a:rPr lang="es" sz="665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  capacityMatch</a:t>
            </a:r>
            <a:r>
              <a:rPr lang="es" sz="665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es" sz="665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0.02</a:t>
            </a:r>
            <a:r>
              <a:rPr lang="es" sz="665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i="1" lang="es" sz="665">
                <a:solidFill>
                  <a:srgbClr val="A05000"/>
                </a:solidFill>
                <a:latin typeface="Roboto Mono"/>
                <a:ea typeface="Roboto Mono"/>
                <a:cs typeface="Roboto Mono"/>
                <a:sym typeface="Roboto Mono"/>
              </a:rPr>
              <a:t>// Preferred Size (2%)</a:t>
            </a:r>
            <a:endParaRPr sz="665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5080" rtl="0" algn="l">
              <a:lnSpc>
                <a:spcPct val="100800"/>
              </a:lnSpc>
              <a:spcBef>
                <a:spcPts val="900"/>
              </a:spcBef>
              <a:spcAft>
                <a:spcPts val="0"/>
              </a:spcAft>
              <a:buSzPts val="523"/>
              <a:buNone/>
            </a:pPr>
            <a:r>
              <a:rPr lang="es" sz="665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};		       </a:t>
            </a:r>
            <a:r>
              <a:rPr i="1" lang="es" sz="665">
                <a:solidFill>
                  <a:srgbClr val="A05000"/>
                </a:solidFill>
                <a:latin typeface="Roboto Mono"/>
                <a:ea typeface="Roboto Mono"/>
                <a:cs typeface="Roboto Mono"/>
                <a:sym typeface="Roboto Mono"/>
              </a:rPr>
              <a:t>// Total: 100%</a:t>
            </a:r>
            <a:endParaRPr i="1" sz="665">
              <a:solidFill>
                <a:srgbClr val="A05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5080" rtl="0" algn="l">
              <a:lnSpc>
                <a:spcPct val="100800"/>
              </a:lnSpc>
              <a:spcBef>
                <a:spcPts val="900"/>
              </a:spcBef>
              <a:spcAft>
                <a:spcPts val="0"/>
              </a:spcAft>
              <a:buSzPts val="523"/>
              <a:buNone/>
            </a:pPr>
            <a:r>
              <a:t/>
            </a:r>
            <a:endParaRPr sz="665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5080" rtl="0" algn="l">
              <a:lnSpc>
                <a:spcPct val="100800"/>
              </a:lnSpc>
              <a:spcBef>
                <a:spcPts val="900"/>
              </a:spcBef>
              <a:spcAft>
                <a:spcPts val="0"/>
              </a:spcAft>
              <a:buSzPts val="523"/>
              <a:buNone/>
            </a:pPr>
            <a:r>
              <a:t/>
            </a:r>
            <a:endParaRPr sz="665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37"/>
          <p:cNvSpPr txBox="1"/>
          <p:nvPr>
            <p:ph type="title"/>
          </p:nvPr>
        </p:nvSpPr>
        <p:spPr>
          <a:xfrm>
            <a:off x="582768" y="384025"/>
            <a:ext cx="38652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2700" marR="5080" rtl="0" algn="just">
              <a:lnSpc>
                <a:spcPct val="10812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1" lang="es" sz="2700">
                <a:latin typeface="Times New Roman"/>
                <a:ea typeface="Times New Roman"/>
                <a:cs typeface="Times New Roman"/>
                <a:sym typeface="Times New Roman"/>
              </a:rPr>
              <a:t>Inference </a:t>
            </a:r>
            <a:r>
              <a:rPr b="1" i="1" lang="es" sz="2700">
                <a:latin typeface="Times New Roman"/>
                <a:ea typeface="Times New Roman"/>
                <a:cs typeface="Times New Roman"/>
                <a:sym typeface="Times New Roman"/>
              </a:rPr>
              <a:t>Phase </a:t>
            </a:r>
            <a:r>
              <a:rPr b="1" i="1" lang="es" sz="2700">
                <a:latin typeface="Times New Roman"/>
                <a:ea typeface="Times New Roman"/>
                <a:cs typeface="Times New Roman"/>
                <a:sym typeface="Times New Roman"/>
              </a:rPr>
              <a:t>(I)</a:t>
            </a:r>
            <a:endParaRPr b="1" i="1" sz="2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5080" rtl="0" algn="just">
              <a:lnSpc>
                <a:spcPct val="10812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1" i="1" sz="2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7" name="Google Shape;337;p37"/>
          <p:cNvSpPr txBox="1"/>
          <p:nvPr>
            <p:ph idx="1" type="body"/>
          </p:nvPr>
        </p:nvSpPr>
        <p:spPr>
          <a:xfrm>
            <a:off x="582775" y="1038923"/>
            <a:ext cx="7688700" cy="35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Times New Roman"/>
              <a:buChar char="●"/>
            </a:pPr>
            <a:r>
              <a:rPr b="1" lang="e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Goal</a:t>
            </a:r>
            <a:r>
              <a:rPr lang="e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predict the best room for a user</a:t>
            </a:r>
            <a:endParaRPr sz="1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Times New Roman"/>
              <a:buChar char="●"/>
            </a:pPr>
            <a:r>
              <a:rPr lang="e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Divided into 5 </a:t>
            </a:r>
            <a:r>
              <a:rPr lang="e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steps</a:t>
            </a:r>
            <a:r>
              <a:rPr lang="e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 sz="1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Times New Roman"/>
              <a:buAutoNum type="arabicPeriod"/>
            </a:pPr>
            <a:r>
              <a:rPr b="1" lang="e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="1" lang="e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equest</a:t>
            </a:r>
            <a:endParaRPr b="1" sz="1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Times New Roman"/>
              <a:buAutoNum type="arabicPeriod"/>
            </a:pPr>
            <a:r>
              <a:rPr b="1" lang="e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Fetch</a:t>
            </a:r>
            <a:endParaRPr b="1" sz="1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Times New Roman"/>
              <a:buAutoNum type="arabicPeriod"/>
            </a:pPr>
            <a:r>
              <a:rPr b="1" lang="e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Each Score Calculation</a:t>
            </a:r>
            <a:endParaRPr b="1" sz="1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Times New Roman"/>
              <a:buAutoNum type="arabicPeriod"/>
            </a:pPr>
            <a:r>
              <a:rPr b="1" lang="e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Total Score Calculation</a:t>
            </a:r>
            <a:endParaRPr b="1" sz="1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Times New Roman"/>
              <a:buAutoNum type="arabicPeriod"/>
            </a:pPr>
            <a:r>
              <a:rPr b="1" lang="e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Recommendation</a:t>
            </a:r>
            <a:endParaRPr b="1" sz="1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5080" rtl="0" algn="l">
              <a:lnSpc>
                <a:spcPct val="1208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338" name="Google Shape;338;p37"/>
          <p:cNvPicPr preferRelativeResize="0"/>
          <p:nvPr/>
        </p:nvPicPr>
        <p:blipFill rotWithShape="1">
          <a:blip r:embed="rId3">
            <a:alphaModFix/>
          </a:blip>
          <a:srcRect b="16105" l="17335" r="16755" t="16112"/>
          <a:stretch/>
        </p:blipFill>
        <p:spPr>
          <a:xfrm>
            <a:off x="8582093" y="216279"/>
            <a:ext cx="348925" cy="358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339" name="Google Shape;339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96372" y="379977"/>
            <a:ext cx="3045499" cy="1180575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40" name="Google Shape;340;p37"/>
          <p:cNvSpPr/>
          <p:nvPr/>
        </p:nvSpPr>
        <p:spPr>
          <a:xfrm>
            <a:off x="7228163" y="1201750"/>
            <a:ext cx="413700" cy="35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latin typeface="Calibri"/>
                <a:ea typeface="Calibri"/>
                <a:cs typeface="Calibri"/>
                <a:sym typeface="Calibri"/>
              </a:rPr>
              <a:t>4</a:t>
            </a:r>
            <a:endParaRPr b="1" sz="15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37"/>
          <p:cNvSpPr txBox="1"/>
          <p:nvPr>
            <p:ph idx="1" type="body"/>
          </p:nvPr>
        </p:nvSpPr>
        <p:spPr>
          <a:xfrm>
            <a:off x="526356" y="2998660"/>
            <a:ext cx="4842600" cy="18924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5080" rtl="0" algn="l">
              <a:lnSpc>
                <a:spcPct val="100800"/>
              </a:lnSpc>
              <a:spcBef>
                <a:spcPts val="900"/>
              </a:spcBef>
              <a:spcAft>
                <a:spcPts val="0"/>
              </a:spcAft>
              <a:buSzPts val="275"/>
              <a:buNone/>
            </a:pPr>
            <a:r>
              <a:rPr b="1" lang="es" sz="75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async</a:t>
            </a:r>
            <a:r>
              <a:rPr lang="es" sz="75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75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getTopRecommendation</a:t>
            </a:r>
            <a:r>
              <a:rPr lang="es" sz="75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s" sz="75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userId</a:t>
            </a:r>
            <a:r>
              <a:rPr lang="es" sz="75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s" sz="75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preferences</a:t>
            </a:r>
            <a:r>
              <a:rPr lang="es" sz="75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s" sz="75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s" sz="75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{}) {</a:t>
            </a:r>
            <a:endParaRPr sz="75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5080" rtl="0" algn="l">
              <a:lnSpc>
                <a:spcPct val="100800"/>
              </a:lnSpc>
              <a:spcBef>
                <a:spcPts val="900"/>
              </a:spcBef>
              <a:spcAft>
                <a:spcPts val="0"/>
              </a:spcAft>
              <a:buSzPts val="275"/>
              <a:buNone/>
            </a:pPr>
            <a:r>
              <a:rPr lang="es" sz="75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b="1" lang="es" sz="75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const</a:t>
            </a:r>
            <a:r>
              <a:rPr lang="es" sz="75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750">
                <a:solidFill>
                  <a:srgbClr val="0000F0"/>
                </a:solidFill>
                <a:latin typeface="Roboto Mono"/>
                <a:ea typeface="Roboto Mono"/>
                <a:cs typeface="Roboto Mono"/>
                <a:sym typeface="Roboto Mono"/>
              </a:rPr>
              <a:t>rooms</a:t>
            </a:r>
            <a:r>
              <a:rPr lang="es" sz="75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s" sz="75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s" sz="75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s" sz="75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await</a:t>
            </a:r>
            <a:r>
              <a:rPr lang="es" sz="75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s" sz="75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this</a:t>
            </a:r>
            <a:r>
              <a:rPr lang="es" sz="75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es" sz="75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getRoomsData</a:t>
            </a:r>
            <a:r>
              <a:rPr lang="es" sz="75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(); </a:t>
            </a:r>
            <a:r>
              <a:rPr i="1" lang="es" sz="750">
                <a:solidFill>
                  <a:srgbClr val="A05000"/>
                </a:solidFill>
                <a:latin typeface="Roboto Mono"/>
                <a:ea typeface="Roboto Mono"/>
                <a:cs typeface="Roboto Mono"/>
                <a:sym typeface="Roboto Mono"/>
              </a:rPr>
              <a:t>// 1.1 Retrieve all the available rooms</a:t>
            </a:r>
            <a:endParaRPr sz="75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5080" rtl="0" algn="l">
              <a:lnSpc>
                <a:spcPct val="100800"/>
              </a:lnSpc>
              <a:spcBef>
                <a:spcPts val="900"/>
              </a:spcBef>
              <a:spcAft>
                <a:spcPts val="0"/>
              </a:spcAft>
              <a:buSzPts val="275"/>
              <a:buNone/>
            </a:pPr>
            <a:r>
              <a:rPr lang="es" sz="75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b="1" lang="es" sz="75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const</a:t>
            </a:r>
            <a:r>
              <a:rPr lang="es" sz="75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750">
                <a:solidFill>
                  <a:srgbClr val="0000F0"/>
                </a:solidFill>
                <a:latin typeface="Roboto Mono"/>
                <a:ea typeface="Roboto Mono"/>
                <a:cs typeface="Roboto Mono"/>
                <a:sym typeface="Roboto Mono"/>
              </a:rPr>
              <a:t>userData</a:t>
            </a:r>
            <a:r>
              <a:rPr lang="es" sz="75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s" sz="75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s" sz="75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s" sz="75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await</a:t>
            </a:r>
            <a:r>
              <a:rPr lang="es" sz="75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s" sz="75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this</a:t>
            </a:r>
            <a:r>
              <a:rPr lang="es" sz="75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es" sz="75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getUserData</a:t>
            </a:r>
            <a:r>
              <a:rPr lang="es" sz="75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s" sz="75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userId</a:t>
            </a:r>
            <a:r>
              <a:rPr lang="es" sz="75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); </a:t>
            </a:r>
            <a:r>
              <a:rPr i="1" lang="es" sz="750">
                <a:solidFill>
                  <a:srgbClr val="A05000"/>
                </a:solidFill>
                <a:latin typeface="Roboto Mono"/>
                <a:ea typeface="Roboto Mono"/>
                <a:cs typeface="Roboto Mono"/>
                <a:sym typeface="Roboto Mono"/>
              </a:rPr>
              <a:t>// 1.2 Retrieve user data</a:t>
            </a:r>
            <a:endParaRPr i="1" sz="750">
              <a:solidFill>
                <a:srgbClr val="A05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5080" rtl="0" algn="l">
              <a:lnSpc>
                <a:spcPct val="100800"/>
              </a:lnSpc>
              <a:spcBef>
                <a:spcPts val="900"/>
              </a:spcBef>
              <a:spcAft>
                <a:spcPts val="0"/>
              </a:spcAft>
              <a:buSzPts val="275"/>
              <a:buNone/>
            </a:pPr>
            <a:r>
              <a:rPr i="1" lang="es" sz="750">
                <a:solidFill>
                  <a:srgbClr val="A05000"/>
                </a:solidFill>
                <a:latin typeface="Roboto Mono"/>
                <a:ea typeface="Roboto Mono"/>
                <a:cs typeface="Roboto Mono"/>
                <a:sym typeface="Roboto Mono"/>
              </a:rPr>
              <a:t>  // 1.3 Calculate all rooms scores</a:t>
            </a:r>
            <a:endParaRPr i="1" sz="750">
              <a:solidFill>
                <a:srgbClr val="A05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5080" rtl="0" algn="l">
              <a:lnSpc>
                <a:spcPct val="100800"/>
              </a:lnSpc>
              <a:spcBef>
                <a:spcPts val="900"/>
              </a:spcBef>
              <a:spcAft>
                <a:spcPts val="0"/>
              </a:spcAft>
              <a:buSzPts val="275"/>
              <a:buNone/>
            </a:pPr>
            <a:r>
              <a:rPr lang="es" sz="75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b="1" lang="es" sz="75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const</a:t>
            </a:r>
            <a:r>
              <a:rPr lang="es" sz="75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750">
                <a:solidFill>
                  <a:srgbClr val="0000F0"/>
                </a:solidFill>
                <a:latin typeface="Roboto Mono"/>
                <a:ea typeface="Roboto Mono"/>
                <a:cs typeface="Roboto Mono"/>
                <a:sym typeface="Roboto Mono"/>
              </a:rPr>
              <a:t>scoredRooms</a:t>
            </a:r>
            <a:r>
              <a:rPr lang="es" sz="75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s" sz="75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s" sz="75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s" sz="75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await</a:t>
            </a:r>
            <a:r>
              <a:rPr lang="es" sz="75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s" sz="75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this</a:t>
            </a:r>
            <a:r>
              <a:rPr lang="es" sz="75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es" sz="75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calculateRoomScores</a:t>
            </a:r>
            <a:r>
              <a:rPr lang="es" sz="75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s" sz="750">
                <a:solidFill>
                  <a:srgbClr val="0050A0"/>
                </a:solidFill>
                <a:latin typeface="Roboto Mono"/>
                <a:ea typeface="Roboto Mono"/>
                <a:cs typeface="Roboto Mono"/>
                <a:sym typeface="Roboto Mono"/>
              </a:rPr>
              <a:t>rooms</a:t>
            </a:r>
            <a:r>
              <a:rPr lang="es" sz="75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r>
              <a:rPr lang="es" sz="750">
                <a:solidFill>
                  <a:srgbClr val="0050A0"/>
                </a:solidFill>
                <a:latin typeface="Roboto Mono"/>
                <a:ea typeface="Roboto Mono"/>
                <a:cs typeface="Roboto Mono"/>
                <a:sym typeface="Roboto Mono"/>
              </a:rPr>
              <a:t>userData</a:t>
            </a:r>
            <a:r>
              <a:rPr lang="es" sz="75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r>
              <a:rPr lang="es" sz="75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preferences</a:t>
            </a:r>
            <a:r>
              <a:rPr lang="es" sz="75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); </a:t>
            </a:r>
            <a:endParaRPr sz="75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5080" rtl="0" algn="l">
              <a:lnSpc>
                <a:spcPct val="100800"/>
              </a:lnSpc>
              <a:spcBef>
                <a:spcPts val="900"/>
              </a:spcBef>
              <a:spcAft>
                <a:spcPts val="0"/>
              </a:spcAft>
              <a:buSzPts val="275"/>
              <a:buNone/>
            </a:pPr>
            <a:r>
              <a:rPr lang="es" sz="75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lang="es" sz="750">
                <a:solidFill>
                  <a:srgbClr val="0050A0"/>
                </a:solidFill>
                <a:latin typeface="Roboto Mono"/>
                <a:ea typeface="Roboto Mono"/>
                <a:cs typeface="Roboto Mono"/>
                <a:sym typeface="Roboto Mono"/>
              </a:rPr>
              <a:t>scoredRooms</a:t>
            </a:r>
            <a:r>
              <a:rPr lang="es" sz="75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es" sz="75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sort</a:t>
            </a:r>
            <a:r>
              <a:rPr lang="es" sz="75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((</a:t>
            </a:r>
            <a:r>
              <a:rPr lang="es" sz="750">
                <a:solidFill>
                  <a:srgbClr val="0000F0"/>
                </a:solidFill>
                <a:latin typeface="Roboto Mono"/>
                <a:ea typeface="Roboto Mono"/>
                <a:cs typeface="Roboto Mono"/>
                <a:sym typeface="Roboto Mono"/>
              </a:rPr>
              <a:t>a</a:t>
            </a:r>
            <a:r>
              <a:rPr lang="es" sz="75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s" sz="750">
                <a:solidFill>
                  <a:srgbClr val="0000F0"/>
                </a:solidFill>
                <a:latin typeface="Roboto Mono"/>
                <a:ea typeface="Roboto Mono"/>
                <a:cs typeface="Roboto Mono"/>
                <a:sym typeface="Roboto Mono"/>
              </a:rPr>
              <a:t>b</a:t>
            </a:r>
            <a:r>
              <a:rPr lang="es" sz="75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) </a:t>
            </a:r>
            <a:r>
              <a:rPr b="1" lang="es" sz="75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=&gt;</a:t>
            </a:r>
            <a:r>
              <a:rPr lang="es" sz="75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750">
                <a:solidFill>
                  <a:srgbClr val="0050A0"/>
                </a:solidFill>
                <a:latin typeface="Roboto Mono"/>
                <a:ea typeface="Roboto Mono"/>
                <a:cs typeface="Roboto Mono"/>
                <a:sym typeface="Roboto Mono"/>
              </a:rPr>
              <a:t>b</a:t>
            </a:r>
            <a:r>
              <a:rPr lang="es" sz="75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es" sz="75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score</a:t>
            </a:r>
            <a:r>
              <a:rPr lang="es" sz="75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s" sz="75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-</a:t>
            </a:r>
            <a:r>
              <a:rPr lang="es" sz="75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750">
                <a:solidFill>
                  <a:srgbClr val="0050A0"/>
                </a:solidFill>
                <a:latin typeface="Roboto Mono"/>
                <a:ea typeface="Roboto Mono"/>
                <a:cs typeface="Roboto Mono"/>
                <a:sym typeface="Roboto Mono"/>
              </a:rPr>
              <a:t>a</a:t>
            </a:r>
            <a:r>
              <a:rPr lang="es" sz="75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es" sz="75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score</a:t>
            </a:r>
            <a:r>
              <a:rPr lang="es" sz="75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); </a:t>
            </a:r>
            <a:r>
              <a:rPr i="1" lang="es" sz="750">
                <a:solidFill>
                  <a:srgbClr val="A05000"/>
                </a:solidFill>
                <a:latin typeface="Roboto Mono"/>
                <a:ea typeface="Roboto Mono"/>
                <a:cs typeface="Roboto Mono"/>
                <a:sym typeface="Roboto Mono"/>
              </a:rPr>
              <a:t>// 1.4 Sort by descending score</a:t>
            </a:r>
            <a:endParaRPr sz="75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5080" rtl="0" algn="l">
              <a:lnSpc>
                <a:spcPct val="100800"/>
              </a:lnSpc>
              <a:spcBef>
                <a:spcPts val="900"/>
              </a:spcBef>
              <a:spcAft>
                <a:spcPts val="0"/>
              </a:spcAft>
              <a:buSzPts val="275"/>
              <a:buNone/>
            </a:pPr>
            <a:r>
              <a:rPr lang="es" sz="75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b="1" lang="es" sz="75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return</a:t>
            </a:r>
            <a:r>
              <a:rPr lang="es" sz="75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750">
                <a:solidFill>
                  <a:srgbClr val="0050A0"/>
                </a:solidFill>
                <a:latin typeface="Roboto Mono"/>
                <a:ea typeface="Roboto Mono"/>
                <a:cs typeface="Roboto Mono"/>
                <a:sym typeface="Roboto Mono"/>
              </a:rPr>
              <a:t>scoredRooms</a:t>
            </a:r>
            <a:r>
              <a:rPr lang="es" sz="75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[</a:t>
            </a:r>
            <a:r>
              <a:rPr lang="es" sz="750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0</a:t>
            </a:r>
            <a:r>
              <a:rPr lang="es" sz="75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]; </a:t>
            </a:r>
            <a:r>
              <a:rPr i="1" lang="es" sz="750">
                <a:solidFill>
                  <a:srgbClr val="A05000"/>
                </a:solidFill>
                <a:latin typeface="Roboto Mono"/>
                <a:ea typeface="Roboto Mono"/>
                <a:cs typeface="Roboto Mono"/>
                <a:sym typeface="Roboto Mono"/>
              </a:rPr>
              <a:t>// 1.5 Return the top room la mejor sala</a:t>
            </a:r>
            <a:endParaRPr sz="75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5080" rtl="0" algn="l">
              <a:lnSpc>
                <a:spcPct val="100800"/>
              </a:lnSpc>
              <a:spcBef>
                <a:spcPts val="900"/>
              </a:spcBef>
              <a:spcAft>
                <a:spcPts val="0"/>
              </a:spcAft>
              <a:buSzPts val="275"/>
              <a:buNone/>
            </a:pPr>
            <a:r>
              <a:rPr lang="es" sz="75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75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42" name="Google Shape;342;p37"/>
          <p:cNvSpPr/>
          <p:nvPr/>
        </p:nvSpPr>
        <p:spPr>
          <a:xfrm>
            <a:off x="4955259" y="4532247"/>
            <a:ext cx="413700" cy="35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latin typeface="Calibri"/>
                <a:ea typeface="Calibri"/>
                <a:cs typeface="Calibri"/>
                <a:sym typeface="Calibri"/>
              </a:rPr>
              <a:t>2</a:t>
            </a:r>
            <a:endParaRPr b="1" sz="15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37"/>
          <p:cNvSpPr txBox="1"/>
          <p:nvPr>
            <p:ph idx="1" type="body"/>
          </p:nvPr>
        </p:nvSpPr>
        <p:spPr>
          <a:xfrm>
            <a:off x="5508336" y="1718091"/>
            <a:ext cx="3305700" cy="31788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5080" rtl="0" algn="l">
              <a:lnSpc>
                <a:spcPct val="100800"/>
              </a:lnSpc>
              <a:spcBef>
                <a:spcPts val="900"/>
              </a:spcBef>
              <a:spcAft>
                <a:spcPts val="0"/>
              </a:spcAft>
              <a:buSzPts val="275"/>
              <a:buNone/>
            </a:pPr>
            <a:r>
              <a:rPr b="1" lang="es" sz="6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const</a:t>
            </a:r>
            <a:r>
              <a:rPr lang="es" sz="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600">
                <a:solidFill>
                  <a:srgbClr val="0000F0"/>
                </a:solidFill>
                <a:latin typeface="Roboto Mono"/>
                <a:ea typeface="Roboto Mono"/>
                <a:cs typeface="Roboto Mono"/>
                <a:sym typeface="Roboto Mono"/>
              </a:rPr>
              <a:t>reasons</a:t>
            </a:r>
            <a:r>
              <a:rPr lang="es" sz="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s" sz="6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s" sz="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[];</a:t>
            </a:r>
            <a:endParaRPr sz="6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5080" rtl="0" algn="l">
              <a:lnSpc>
                <a:spcPct val="100800"/>
              </a:lnSpc>
              <a:spcBef>
                <a:spcPts val="900"/>
              </a:spcBef>
              <a:spcAft>
                <a:spcPts val="0"/>
              </a:spcAft>
              <a:buSzPts val="275"/>
              <a:buNone/>
            </a:pPr>
            <a:r>
              <a:rPr b="1" lang="es" sz="6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if</a:t>
            </a:r>
            <a:r>
              <a:rPr lang="es" sz="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(</a:t>
            </a:r>
            <a:r>
              <a:rPr lang="es" sz="6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availabilityScore</a:t>
            </a:r>
            <a:r>
              <a:rPr lang="es" sz="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s" sz="6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r>
              <a:rPr lang="es" sz="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600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0.7</a:t>
            </a:r>
            <a:r>
              <a:rPr lang="es" sz="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) {</a:t>
            </a:r>
            <a:endParaRPr sz="6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5080" rtl="0" algn="l">
              <a:lnSpc>
                <a:spcPct val="100800"/>
              </a:lnSpc>
              <a:spcBef>
                <a:spcPts val="900"/>
              </a:spcBef>
              <a:spcAft>
                <a:spcPts val="0"/>
              </a:spcAft>
              <a:buSzPts val="275"/>
              <a:buNone/>
            </a:pPr>
            <a:r>
              <a:rPr lang="es" sz="6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reasons</a:t>
            </a:r>
            <a:r>
              <a:rPr lang="es" sz="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es" sz="60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push</a:t>
            </a:r>
            <a:r>
              <a:rPr lang="es" sz="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s" sz="600">
                <a:solidFill>
                  <a:srgbClr val="F05000"/>
                </a:solidFill>
                <a:latin typeface="Roboto Mono"/>
                <a:ea typeface="Roboto Mono"/>
                <a:cs typeface="Roboto Mono"/>
                <a:sym typeface="Roboto Mono"/>
              </a:rPr>
              <a:t>`High availability (${</a:t>
            </a:r>
            <a:r>
              <a:rPr lang="es" sz="6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room</a:t>
            </a:r>
            <a:r>
              <a:rPr lang="es" sz="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es" sz="60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capacity</a:t>
            </a:r>
            <a:r>
              <a:rPr lang="es" sz="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s" sz="6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-</a:t>
            </a:r>
            <a:r>
              <a:rPr lang="es" sz="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6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room</a:t>
            </a:r>
            <a:r>
              <a:rPr lang="es" sz="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es" sz="60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currentOccupancy</a:t>
            </a:r>
            <a:r>
              <a:rPr lang="es" sz="600">
                <a:solidFill>
                  <a:srgbClr val="F05000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r>
              <a:rPr lang="es" sz="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600">
                <a:solidFill>
                  <a:srgbClr val="F05000"/>
                </a:solidFill>
                <a:latin typeface="Roboto Mono"/>
                <a:ea typeface="Roboto Mono"/>
                <a:cs typeface="Roboto Mono"/>
                <a:sym typeface="Roboto Mono"/>
              </a:rPr>
              <a:t>available spaces)`</a:t>
            </a:r>
            <a:r>
              <a:rPr lang="es" sz="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 sz="6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5080" rtl="0" algn="l">
              <a:lnSpc>
                <a:spcPct val="100800"/>
              </a:lnSpc>
              <a:spcBef>
                <a:spcPts val="900"/>
              </a:spcBef>
              <a:spcAft>
                <a:spcPts val="0"/>
              </a:spcAft>
              <a:buSzPts val="275"/>
              <a:buNone/>
            </a:pPr>
            <a:r>
              <a:rPr lang="es" sz="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6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5080" rtl="0" algn="l">
              <a:lnSpc>
                <a:spcPct val="100800"/>
              </a:lnSpc>
              <a:spcBef>
                <a:spcPts val="900"/>
              </a:spcBef>
              <a:spcAft>
                <a:spcPts val="0"/>
              </a:spcAft>
              <a:buSzPts val="275"/>
              <a:buNone/>
            </a:pPr>
            <a:r>
              <a:rPr b="1" lang="es" sz="6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if</a:t>
            </a:r>
            <a:r>
              <a:rPr lang="es" sz="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(</a:t>
            </a:r>
            <a:r>
              <a:rPr lang="es" sz="6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visitCount</a:t>
            </a:r>
            <a:r>
              <a:rPr lang="es" sz="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s" sz="6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&gt;=</a:t>
            </a:r>
            <a:r>
              <a:rPr lang="es" sz="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600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50</a:t>
            </a:r>
            <a:r>
              <a:rPr lang="es" sz="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) {</a:t>
            </a:r>
            <a:endParaRPr sz="6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5080" rtl="0" algn="l">
              <a:lnSpc>
                <a:spcPct val="100800"/>
              </a:lnSpc>
              <a:spcBef>
                <a:spcPts val="900"/>
              </a:spcBef>
              <a:spcAft>
                <a:spcPts val="0"/>
              </a:spcAft>
              <a:buSzPts val="275"/>
              <a:buNone/>
            </a:pPr>
            <a:r>
              <a:rPr lang="es" sz="6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reasons</a:t>
            </a:r>
            <a:r>
              <a:rPr lang="es" sz="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es" sz="60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push</a:t>
            </a:r>
            <a:r>
              <a:rPr lang="es" sz="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s" sz="600">
                <a:solidFill>
                  <a:srgbClr val="F05000"/>
                </a:solidFill>
                <a:latin typeface="Roboto Mono"/>
                <a:ea typeface="Roboto Mono"/>
                <a:cs typeface="Roboto Mono"/>
                <a:sym typeface="Roboto Mono"/>
              </a:rPr>
              <a:t>`Very frequent visitor (${</a:t>
            </a:r>
            <a:r>
              <a:rPr lang="es" sz="6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visitCount</a:t>
            </a:r>
            <a:r>
              <a:rPr lang="es" sz="600">
                <a:solidFill>
                  <a:srgbClr val="F05000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r>
              <a:rPr lang="es" sz="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600">
                <a:solidFill>
                  <a:srgbClr val="F05000"/>
                </a:solidFill>
                <a:latin typeface="Roboto Mono"/>
                <a:ea typeface="Roboto Mono"/>
                <a:cs typeface="Roboto Mono"/>
                <a:sym typeface="Roboto Mono"/>
              </a:rPr>
              <a:t>visits) - Your favorite room!`</a:t>
            </a:r>
            <a:r>
              <a:rPr lang="es" sz="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 sz="6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5080" rtl="0" algn="l">
              <a:lnSpc>
                <a:spcPct val="100800"/>
              </a:lnSpc>
              <a:spcBef>
                <a:spcPts val="900"/>
              </a:spcBef>
              <a:spcAft>
                <a:spcPts val="0"/>
              </a:spcAft>
              <a:buSzPts val="275"/>
              <a:buNone/>
            </a:pPr>
            <a:r>
              <a:rPr lang="es" sz="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} </a:t>
            </a:r>
            <a:r>
              <a:rPr b="1" lang="es" sz="6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else</a:t>
            </a:r>
            <a:r>
              <a:rPr lang="es" sz="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s" sz="6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if</a:t>
            </a:r>
            <a:r>
              <a:rPr lang="es" sz="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(</a:t>
            </a:r>
            <a:r>
              <a:rPr lang="es" sz="6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visitCount</a:t>
            </a:r>
            <a:r>
              <a:rPr lang="es" sz="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s" sz="6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&gt;=</a:t>
            </a:r>
            <a:r>
              <a:rPr lang="es" sz="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600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25</a:t>
            </a:r>
            <a:r>
              <a:rPr lang="es" sz="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) {</a:t>
            </a:r>
            <a:endParaRPr sz="6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5080" rtl="0" algn="l">
              <a:lnSpc>
                <a:spcPct val="100800"/>
              </a:lnSpc>
              <a:spcBef>
                <a:spcPts val="900"/>
              </a:spcBef>
              <a:spcAft>
                <a:spcPts val="0"/>
              </a:spcAft>
              <a:buSzPts val="275"/>
              <a:buNone/>
            </a:pPr>
            <a:r>
              <a:rPr lang="es" sz="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lang="es" sz="6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reasons</a:t>
            </a:r>
            <a:r>
              <a:rPr lang="es" sz="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es" sz="60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push</a:t>
            </a:r>
            <a:r>
              <a:rPr lang="es" sz="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s" sz="600">
                <a:solidFill>
                  <a:srgbClr val="F05000"/>
                </a:solidFill>
                <a:latin typeface="Roboto Mono"/>
                <a:ea typeface="Roboto Mono"/>
                <a:cs typeface="Roboto Mono"/>
                <a:sym typeface="Roboto Mono"/>
              </a:rPr>
              <a:t>`Frequent visitor (${</a:t>
            </a:r>
            <a:r>
              <a:rPr lang="es" sz="6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visitCount</a:t>
            </a:r>
            <a:r>
              <a:rPr lang="es" sz="600">
                <a:solidFill>
                  <a:srgbClr val="F05000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r>
              <a:rPr lang="es" sz="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600">
                <a:solidFill>
                  <a:srgbClr val="F05000"/>
                </a:solidFill>
                <a:latin typeface="Roboto Mono"/>
                <a:ea typeface="Roboto Mono"/>
                <a:cs typeface="Roboto Mono"/>
                <a:sym typeface="Roboto Mono"/>
              </a:rPr>
              <a:t>visits) - You know this room well`</a:t>
            </a:r>
            <a:r>
              <a:rPr lang="es" sz="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 sz="6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5080" rtl="0" algn="l">
              <a:lnSpc>
                <a:spcPct val="100800"/>
              </a:lnSpc>
              <a:spcBef>
                <a:spcPts val="900"/>
              </a:spcBef>
              <a:spcAft>
                <a:spcPts val="0"/>
              </a:spcAft>
              <a:buSzPts val="275"/>
              <a:buNone/>
            </a:pPr>
            <a:r>
              <a:rPr lang="es" sz="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6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5080" rtl="0" algn="l">
              <a:lnSpc>
                <a:spcPct val="100800"/>
              </a:lnSpc>
              <a:spcBef>
                <a:spcPts val="900"/>
              </a:spcBef>
              <a:spcAft>
                <a:spcPts val="0"/>
              </a:spcAft>
              <a:buSzPts val="275"/>
              <a:buNone/>
            </a:pPr>
            <a:r>
              <a:rPr b="1" lang="es" sz="6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if</a:t>
            </a:r>
            <a:r>
              <a:rPr lang="es" sz="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(</a:t>
            </a:r>
            <a:r>
              <a:rPr lang="es" sz="6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similarUsersScore</a:t>
            </a:r>
            <a:r>
              <a:rPr lang="es" sz="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s" sz="6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&gt;=</a:t>
            </a:r>
            <a:r>
              <a:rPr lang="es" sz="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600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0.75</a:t>
            </a:r>
            <a:r>
              <a:rPr lang="es" sz="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) {</a:t>
            </a:r>
            <a:endParaRPr sz="6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5080" rtl="0" algn="l">
              <a:lnSpc>
                <a:spcPct val="100800"/>
              </a:lnSpc>
              <a:spcBef>
                <a:spcPts val="900"/>
              </a:spcBef>
              <a:spcAft>
                <a:spcPts val="0"/>
              </a:spcAft>
              <a:buSzPts val="275"/>
              <a:buNone/>
            </a:pPr>
            <a:r>
              <a:rPr lang="es" sz="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lang="es" sz="6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reasons</a:t>
            </a:r>
            <a:r>
              <a:rPr lang="es" sz="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es" sz="60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push</a:t>
            </a:r>
            <a:r>
              <a:rPr lang="es" sz="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s" sz="6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'Similar users prefer this room'</a:t>
            </a:r>
            <a:r>
              <a:rPr lang="es" sz="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 sz="6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5080" rtl="0" algn="l">
              <a:lnSpc>
                <a:spcPct val="100800"/>
              </a:lnSpc>
              <a:spcBef>
                <a:spcPts val="900"/>
              </a:spcBef>
              <a:spcAft>
                <a:spcPts val="0"/>
              </a:spcAft>
              <a:buSzPts val="275"/>
              <a:buNone/>
            </a:pPr>
            <a:r>
              <a:rPr lang="es" sz="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6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5080" rtl="0" algn="l">
              <a:lnSpc>
                <a:spcPct val="100800"/>
              </a:lnSpc>
              <a:spcBef>
                <a:spcPts val="900"/>
              </a:spcBef>
              <a:spcAft>
                <a:spcPts val="0"/>
              </a:spcAft>
              <a:buSzPts val="275"/>
              <a:buNone/>
            </a:pPr>
            <a:r>
              <a:rPr b="1" lang="es" sz="6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if</a:t>
            </a:r>
            <a:r>
              <a:rPr lang="es" sz="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(</a:t>
            </a:r>
            <a:r>
              <a:rPr lang="es" sz="6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featuresScore</a:t>
            </a:r>
            <a:r>
              <a:rPr lang="es" sz="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s" sz="6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r>
              <a:rPr lang="es" sz="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600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0.9</a:t>
            </a:r>
            <a:r>
              <a:rPr lang="es" sz="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s" sz="6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&amp;&amp;</a:t>
            </a:r>
            <a:r>
              <a:rPr lang="es" sz="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6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room</a:t>
            </a:r>
            <a:r>
              <a:rPr lang="es" sz="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es" sz="60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temp</a:t>
            </a:r>
            <a:r>
              <a:rPr lang="es" sz="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) {  . . .  }</a:t>
            </a:r>
            <a:endParaRPr sz="6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5080" rtl="0" algn="l">
              <a:lnSpc>
                <a:spcPct val="100800"/>
              </a:lnSpc>
              <a:spcBef>
                <a:spcPts val="900"/>
              </a:spcBef>
              <a:spcAft>
                <a:spcPts val="0"/>
              </a:spcAft>
              <a:buSzPts val="275"/>
              <a:buNone/>
            </a:pPr>
            <a:r>
              <a:rPr b="1" lang="es" sz="6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if</a:t>
            </a:r>
            <a:r>
              <a:rPr lang="es" sz="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(</a:t>
            </a:r>
            <a:r>
              <a:rPr lang="es" sz="6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hasTimePattern</a:t>
            </a:r>
            <a:r>
              <a:rPr lang="es" sz="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s" sz="6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&amp;&amp;</a:t>
            </a:r>
            <a:r>
              <a:rPr lang="es" sz="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6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timeSlot</a:t>
            </a:r>
            <a:r>
              <a:rPr lang="es" sz="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s" sz="6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&amp;&amp;</a:t>
            </a:r>
            <a:r>
              <a:rPr lang="es" sz="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6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visitsInTimeSlot</a:t>
            </a:r>
            <a:r>
              <a:rPr lang="es" sz="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s" sz="6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&gt;=</a:t>
            </a:r>
            <a:r>
              <a:rPr lang="es" sz="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600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3</a:t>
            </a:r>
            <a:r>
              <a:rPr lang="es" sz="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) {  . . .  }</a:t>
            </a:r>
            <a:endParaRPr sz="6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44" name="Google Shape;344;p37"/>
          <p:cNvSpPr/>
          <p:nvPr/>
        </p:nvSpPr>
        <p:spPr>
          <a:xfrm>
            <a:off x="8400336" y="1718089"/>
            <a:ext cx="413700" cy="35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latin typeface="Calibri"/>
                <a:ea typeface="Calibri"/>
                <a:cs typeface="Calibri"/>
                <a:sym typeface="Calibri"/>
              </a:rPr>
              <a:t>5</a:t>
            </a:r>
            <a:endParaRPr b="1" sz="15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38"/>
          <p:cNvSpPr txBox="1"/>
          <p:nvPr>
            <p:ph type="title"/>
          </p:nvPr>
        </p:nvSpPr>
        <p:spPr>
          <a:xfrm>
            <a:off x="582768" y="384025"/>
            <a:ext cx="38652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2700" marR="5080" rtl="0" algn="just">
              <a:lnSpc>
                <a:spcPct val="10812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1" lang="es" sz="2700">
                <a:latin typeface="Times New Roman"/>
                <a:ea typeface="Times New Roman"/>
                <a:cs typeface="Times New Roman"/>
                <a:sym typeface="Times New Roman"/>
              </a:rPr>
              <a:t>Inference Phase (II)</a:t>
            </a:r>
            <a:endParaRPr b="1" i="1" sz="2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5080" rtl="0" algn="just">
              <a:lnSpc>
                <a:spcPct val="10812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1" i="1" sz="2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50" name="Google Shape;350;p38"/>
          <p:cNvPicPr preferRelativeResize="0"/>
          <p:nvPr/>
        </p:nvPicPr>
        <p:blipFill rotWithShape="1">
          <a:blip r:embed="rId3">
            <a:alphaModFix/>
          </a:blip>
          <a:srcRect b="16105" l="17335" r="16755" t="16112"/>
          <a:stretch/>
        </p:blipFill>
        <p:spPr>
          <a:xfrm>
            <a:off x="8582093" y="216279"/>
            <a:ext cx="348925" cy="358851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p38"/>
          <p:cNvSpPr txBox="1"/>
          <p:nvPr/>
        </p:nvSpPr>
        <p:spPr>
          <a:xfrm>
            <a:off x="443725" y="1068525"/>
            <a:ext cx="4473300" cy="38205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calculateRoomFeaturesScore</a:t>
            </a:r>
            <a:r>
              <a:rPr lang="es" sz="900"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s" sz="9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room</a:t>
            </a:r>
            <a:r>
              <a:rPr lang="es" sz="900"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s" sz="9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userData</a:t>
            </a:r>
            <a:r>
              <a:rPr lang="es" sz="900"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s" sz="9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preferences</a:t>
            </a:r>
            <a:r>
              <a:rPr lang="es" sz="900">
                <a:latin typeface="Roboto Mono"/>
                <a:ea typeface="Roboto Mono"/>
                <a:cs typeface="Roboto Mono"/>
                <a:sym typeface="Roboto Mono"/>
              </a:rPr>
              <a:t>) {</a:t>
            </a:r>
            <a:endParaRPr sz="9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b="1" lang="es" sz="9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if</a:t>
            </a:r>
            <a:r>
              <a:rPr lang="es" sz="900">
                <a:latin typeface="Roboto Mono"/>
                <a:ea typeface="Roboto Mono"/>
                <a:cs typeface="Roboto Mono"/>
                <a:sym typeface="Roboto Mono"/>
              </a:rPr>
              <a:t> (</a:t>
            </a:r>
            <a:r>
              <a:rPr b="1" lang="es" sz="9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!</a:t>
            </a:r>
            <a:r>
              <a:rPr lang="es" sz="9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userData</a:t>
            </a:r>
            <a:r>
              <a:rPr lang="es" sz="9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s" sz="9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||</a:t>
            </a:r>
            <a:r>
              <a:rPr lang="es" sz="9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s" sz="9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!</a:t>
            </a:r>
            <a:r>
              <a:rPr lang="es" sz="9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userData</a:t>
            </a:r>
            <a:r>
              <a:rPr lang="es" sz="900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es" sz="90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preferenciaTemperatura</a:t>
            </a:r>
            <a:r>
              <a:rPr lang="es" sz="900">
                <a:latin typeface="Roboto Mono"/>
                <a:ea typeface="Roboto Mono"/>
                <a:cs typeface="Roboto Mono"/>
                <a:sym typeface="Roboto Mono"/>
              </a:rPr>
              <a:t>) </a:t>
            </a:r>
            <a:r>
              <a:rPr b="1" lang="es" sz="9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return</a:t>
            </a:r>
            <a:r>
              <a:rPr lang="es" sz="9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900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0.5</a:t>
            </a:r>
            <a:r>
              <a:rPr lang="es" sz="900"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9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latin typeface="Roboto Mono"/>
                <a:ea typeface="Roboto Mono"/>
                <a:cs typeface="Roboto Mono"/>
                <a:sym typeface="Roboto Mono"/>
              </a:rPr>
              <a:t>  </a:t>
            </a:r>
            <a:endParaRPr sz="9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b="1" lang="es" sz="9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let</a:t>
            </a:r>
            <a:r>
              <a:rPr lang="es" sz="9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900">
                <a:solidFill>
                  <a:srgbClr val="0000F0"/>
                </a:solidFill>
                <a:latin typeface="Roboto Mono"/>
                <a:ea typeface="Roboto Mono"/>
                <a:cs typeface="Roboto Mono"/>
                <a:sym typeface="Roboto Mono"/>
              </a:rPr>
              <a:t>score</a:t>
            </a:r>
            <a:r>
              <a:rPr lang="es" sz="9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s" sz="9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s" sz="9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900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0</a:t>
            </a:r>
            <a:r>
              <a:rPr lang="es" sz="900"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9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latin typeface="Roboto Mono"/>
                <a:ea typeface="Roboto Mono"/>
                <a:cs typeface="Roboto Mono"/>
                <a:sym typeface="Roboto Mono"/>
              </a:rPr>
              <a:t>  </a:t>
            </a:r>
            <a:endParaRPr sz="9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i="1" lang="es" sz="900">
                <a:solidFill>
                  <a:srgbClr val="A05000"/>
                </a:solidFill>
                <a:latin typeface="Roboto Mono"/>
                <a:ea typeface="Roboto Mono"/>
                <a:cs typeface="Roboto Mono"/>
                <a:sym typeface="Roboto Mono"/>
              </a:rPr>
              <a:t>// Principal score: temperature</a:t>
            </a:r>
            <a:endParaRPr sz="9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b="1" lang="es" sz="9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if</a:t>
            </a:r>
            <a:r>
              <a:rPr lang="es" sz="900">
                <a:latin typeface="Roboto Mono"/>
                <a:ea typeface="Roboto Mono"/>
                <a:cs typeface="Roboto Mono"/>
                <a:sym typeface="Roboto Mono"/>
              </a:rPr>
              <a:t> (</a:t>
            </a:r>
            <a:r>
              <a:rPr lang="es" sz="9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room</a:t>
            </a:r>
            <a:r>
              <a:rPr lang="es" sz="900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es" sz="90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temp</a:t>
            </a:r>
            <a:r>
              <a:rPr lang="es" sz="900">
                <a:latin typeface="Roboto Mono"/>
                <a:ea typeface="Roboto Mono"/>
                <a:cs typeface="Roboto Mono"/>
                <a:sym typeface="Roboto Mono"/>
              </a:rPr>
              <a:t>) {</a:t>
            </a:r>
            <a:endParaRPr sz="9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b="1" lang="es" sz="9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const</a:t>
            </a:r>
            <a:r>
              <a:rPr lang="es" sz="9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900">
                <a:solidFill>
                  <a:srgbClr val="0000F0"/>
                </a:solidFill>
                <a:latin typeface="Roboto Mono"/>
                <a:ea typeface="Roboto Mono"/>
                <a:cs typeface="Roboto Mono"/>
                <a:sym typeface="Roboto Mono"/>
              </a:rPr>
              <a:t>tempScore</a:t>
            </a:r>
            <a:r>
              <a:rPr lang="es" sz="9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s" sz="9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s" sz="9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s" sz="9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this</a:t>
            </a:r>
            <a:r>
              <a:rPr lang="es" sz="900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es" sz="90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matchTemperaturePreference</a:t>
            </a:r>
            <a:r>
              <a:rPr lang="es" sz="900">
                <a:latin typeface="Roboto Mono"/>
                <a:ea typeface="Roboto Mono"/>
                <a:cs typeface="Roboto Mono"/>
                <a:sym typeface="Roboto Mono"/>
              </a:rPr>
              <a:t>(</a:t>
            </a:r>
            <a:endParaRPr sz="9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latin typeface="Roboto Mono"/>
                <a:ea typeface="Roboto Mono"/>
                <a:cs typeface="Roboto Mono"/>
                <a:sym typeface="Roboto Mono"/>
              </a:rPr>
              <a:t>      </a:t>
            </a:r>
            <a:r>
              <a:rPr lang="es" sz="9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room</a:t>
            </a:r>
            <a:r>
              <a:rPr lang="es" sz="900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es" sz="90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temp</a:t>
            </a:r>
            <a:r>
              <a:rPr lang="es" sz="900">
                <a:latin typeface="Roboto Mono"/>
                <a:ea typeface="Roboto Mono"/>
                <a:cs typeface="Roboto Mono"/>
                <a:sym typeface="Roboto Mono"/>
              </a:rPr>
              <a:t>, </a:t>
            </a:r>
            <a:endParaRPr sz="9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latin typeface="Roboto Mono"/>
                <a:ea typeface="Roboto Mono"/>
                <a:cs typeface="Roboto Mono"/>
                <a:sym typeface="Roboto Mono"/>
              </a:rPr>
              <a:t>      </a:t>
            </a:r>
            <a:r>
              <a:rPr lang="es" sz="9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userData</a:t>
            </a:r>
            <a:r>
              <a:rPr lang="es" sz="900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es" sz="90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preferenciaTemperatura</a:t>
            </a:r>
            <a:endParaRPr sz="9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latin typeface="Roboto Mono"/>
                <a:ea typeface="Roboto Mono"/>
                <a:cs typeface="Roboto Mono"/>
                <a:sym typeface="Roboto Mono"/>
              </a:rPr>
              <a:t>    );</a:t>
            </a:r>
            <a:endParaRPr sz="9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es" sz="900">
                <a:solidFill>
                  <a:srgbClr val="0050A0"/>
                </a:solidFill>
                <a:latin typeface="Roboto Mono"/>
                <a:ea typeface="Roboto Mono"/>
                <a:cs typeface="Roboto Mono"/>
                <a:sym typeface="Roboto Mono"/>
              </a:rPr>
              <a:t>score</a:t>
            </a:r>
            <a:r>
              <a:rPr lang="es" sz="9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s" sz="9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+=</a:t>
            </a:r>
            <a:r>
              <a:rPr lang="es" sz="9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900">
                <a:solidFill>
                  <a:srgbClr val="0050A0"/>
                </a:solidFill>
                <a:latin typeface="Roboto Mono"/>
                <a:ea typeface="Roboto Mono"/>
                <a:cs typeface="Roboto Mono"/>
                <a:sym typeface="Roboto Mono"/>
              </a:rPr>
              <a:t>tempScore</a:t>
            </a:r>
            <a:r>
              <a:rPr lang="es" sz="9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s" sz="9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*</a:t>
            </a:r>
            <a:r>
              <a:rPr lang="es" sz="9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900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0.7</a:t>
            </a:r>
            <a:r>
              <a:rPr lang="es" sz="900">
                <a:latin typeface="Roboto Mono"/>
                <a:ea typeface="Roboto Mono"/>
                <a:cs typeface="Roboto Mono"/>
                <a:sym typeface="Roboto Mono"/>
              </a:rPr>
              <a:t>;  </a:t>
            </a:r>
            <a:r>
              <a:rPr i="1" lang="es" sz="900">
                <a:solidFill>
                  <a:srgbClr val="A05000"/>
                </a:solidFill>
                <a:latin typeface="Roboto Mono"/>
                <a:ea typeface="Roboto Mono"/>
                <a:cs typeface="Roboto Mono"/>
                <a:sym typeface="Roboto Mono"/>
              </a:rPr>
              <a:t>// 70% weight is temperature</a:t>
            </a:r>
            <a:endParaRPr sz="9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latin typeface="Roboto Mono"/>
                <a:ea typeface="Roboto Mono"/>
                <a:cs typeface="Roboto Mono"/>
                <a:sym typeface="Roboto Mono"/>
              </a:rPr>
              <a:t>  }</a:t>
            </a:r>
            <a:endParaRPr sz="9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latin typeface="Roboto Mono"/>
                <a:ea typeface="Roboto Mono"/>
                <a:cs typeface="Roboto Mono"/>
                <a:sym typeface="Roboto Mono"/>
              </a:rPr>
              <a:t>  </a:t>
            </a:r>
            <a:endParaRPr sz="9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i="1" lang="es" sz="900">
                <a:solidFill>
                  <a:srgbClr val="A05000"/>
                </a:solidFill>
                <a:latin typeface="Roboto Mono"/>
                <a:ea typeface="Roboto Mono"/>
                <a:cs typeface="Roboto Mono"/>
                <a:sym typeface="Roboto Mono"/>
              </a:rPr>
              <a:t>// </a:t>
            </a:r>
            <a:r>
              <a:rPr i="1" lang="es" sz="900">
                <a:solidFill>
                  <a:srgbClr val="A05000"/>
                </a:solidFill>
                <a:latin typeface="Roboto Mono"/>
                <a:ea typeface="Roboto Mono"/>
                <a:cs typeface="Roboto Mono"/>
                <a:sym typeface="Roboto Mono"/>
              </a:rPr>
              <a:t>Additional</a:t>
            </a:r>
            <a:r>
              <a:rPr i="1" lang="es" sz="900">
                <a:solidFill>
                  <a:srgbClr val="A05000"/>
                </a:solidFill>
                <a:latin typeface="Roboto Mono"/>
                <a:ea typeface="Roboto Mono"/>
                <a:cs typeface="Roboto Mono"/>
                <a:sym typeface="Roboto Mono"/>
              </a:rPr>
              <a:t> score: light (15%)</a:t>
            </a:r>
            <a:endParaRPr sz="9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b="1" lang="es" sz="9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if</a:t>
            </a:r>
            <a:r>
              <a:rPr lang="es" sz="900">
                <a:latin typeface="Roboto Mono"/>
                <a:ea typeface="Roboto Mono"/>
                <a:cs typeface="Roboto Mono"/>
                <a:sym typeface="Roboto Mono"/>
              </a:rPr>
              <a:t> (</a:t>
            </a:r>
            <a:r>
              <a:rPr lang="es" sz="9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room</a:t>
            </a:r>
            <a:r>
              <a:rPr lang="es" sz="900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es" sz="90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light</a:t>
            </a:r>
            <a:r>
              <a:rPr lang="es" sz="900">
                <a:latin typeface="Roboto Mono"/>
                <a:ea typeface="Roboto Mono"/>
                <a:cs typeface="Roboto Mono"/>
                <a:sym typeface="Roboto Mono"/>
              </a:rPr>
              <a:t>) {</a:t>
            </a:r>
            <a:endParaRPr sz="9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es" sz="900">
                <a:solidFill>
                  <a:srgbClr val="0050A0"/>
                </a:solidFill>
                <a:latin typeface="Roboto Mono"/>
                <a:ea typeface="Roboto Mono"/>
                <a:cs typeface="Roboto Mono"/>
                <a:sym typeface="Roboto Mono"/>
              </a:rPr>
              <a:t>score</a:t>
            </a:r>
            <a:r>
              <a:rPr lang="es" sz="9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s" sz="9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+=</a:t>
            </a:r>
            <a:r>
              <a:rPr lang="es" sz="9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s" sz="9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this</a:t>
            </a:r>
            <a:r>
              <a:rPr lang="es" sz="900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es" sz="90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normalizeLightLevel</a:t>
            </a:r>
            <a:r>
              <a:rPr lang="es" sz="900"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s" sz="9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room</a:t>
            </a:r>
            <a:r>
              <a:rPr lang="es" sz="900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es" sz="90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light</a:t>
            </a:r>
            <a:r>
              <a:rPr lang="es" sz="900">
                <a:latin typeface="Roboto Mono"/>
                <a:ea typeface="Roboto Mono"/>
                <a:cs typeface="Roboto Mono"/>
                <a:sym typeface="Roboto Mono"/>
              </a:rPr>
              <a:t>) </a:t>
            </a:r>
            <a:r>
              <a:rPr b="1" lang="es" sz="9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*</a:t>
            </a:r>
            <a:r>
              <a:rPr lang="es" sz="9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900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0.15</a:t>
            </a:r>
            <a:r>
              <a:rPr lang="es" sz="900"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9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latin typeface="Roboto Mono"/>
                <a:ea typeface="Roboto Mono"/>
                <a:cs typeface="Roboto Mono"/>
                <a:sym typeface="Roboto Mono"/>
              </a:rPr>
              <a:t>  }</a:t>
            </a:r>
            <a:endParaRPr sz="9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latin typeface="Roboto Mono"/>
                <a:ea typeface="Roboto Mono"/>
                <a:cs typeface="Roboto Mono"/>
                <a:sym typeface="Roboto Mono"/>
              </a:rPr>
              <a:t>  </a:t>
            </a:r>
            <a:endParaRPr sz="9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i="1" lang="es" sz="900">
                <a:solidFill>
                  <a:srgbClr val="A05000"/>
                </a:solidFill>
                <a:latin typeface="Roboto Mono"/>
                <a:ea typeface="Roboto Mono"/>
                <a:cs typeface="Roboto Mono"/>
                <a:sym typeface="Roboto Mono"/>
              </a:rPr>
              <a:t>// Additional score: humidity (15%)</a:t>
            </a:r>
            <a:endParaRPr sz="9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b="1" lang="es" sz="9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if</a:t>
            </a:r>
            <a:r>
              <a:rPr lang="es" sz="900">
                <a:latin typeface="Roboto Mono"/>
                <a:ea typeface="Roboto Mono"/>
                <a:cs typeface="Roboto Mono"/>
                <a:sym typeface="Roboto Mono"/>
              </a:rPr>
              <a:t> (</a:t>
            </a:r>
            <a:r>
              <a:rPr lang="es" sz="9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room</a:t>
            </a:r>
            <a:r>
              <a:rPr lang="es" sz="900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es" sz="90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hum</a:t>
            </a:r>
            <a:r>
              <a:rPr lang="es" sz="900">
                <a:latin typeface="Roboto Mono"/>
                <a:ea typeface="Roboto Mono"/>
                <a:cs typeface="Roboto Mono"/>
                <a:sym typeface="Roboto Mono"/>
              </a:rPr>
              <a:t>) {</a:t>
            </a:r>
            <a:endParaRPr sz="9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es" sz="900">
                <a:solidFill>
                  <a:srgbClr val="0050A0"/>
                </a:solidFill>
                <a:latin typeface="Roboto Mono"/>
                <a:ea typeface="Roboto Mono"/>
                <a:cs typeface="Roboto Mono"/>
                <a:sym typeface="Roboto Mono"/>
              </a:rPr>
              <a:t>score</a:t>
            </a:r>
            <a:r>
              <a:rPr lang="es" sz="9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s" sz="9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+=</a:t>
            </a:r>
            <a:r>
              <a:rPr lang="es" sz="9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s" sz="9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this</a:t>
            </a:r>
            <a:r>
              <a:rPr lang="es" sz="900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es" sz="90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normalizeHumidityLevel</a:t>
            </a:r>
            <a:r>
              <a:rPr lang="es" sz="900"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s" sz="9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room</a:t>
            </a:r>
            <a:r>
              <a:rPr lang="es" sz="900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es" sz="90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hum</a:t>
            </a:r>
            <a:r>
              <a:rPr lang="es" sz="900">
                <a:latin typeface="Roboto Mono"/>
                <a:ea typeface="Roboto Mono"/>
                <a:cs typeface="Roboto Mono"/>
                <a:sym typeface="Roboto Mono"/>
              </a:rPr>
              <a:t>) </a:t>
            </a:r>
            <a:r>
              <a:rPr b="1" lang="es" sz="9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*</a:t>
            </a:r>
            <a:r>
              <a:rPr lang="es" sz="9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900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0.15</a:t>
            </a:r>
            <a:r>
              <a:rPr lang="es" sz="900"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9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latin typeface="Roboto Mono"/>
                <a:ea typeface="Roboto Mono"/>
                <a:cs typeface="Roboto Mono"/>
                <a:sym typeface="Roboto Mono"/>
              </a:rPr>
              <a:t>  }</a:t>
            </a:r>
            <a:endParaRPr sz="9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latin typeface="Roboto Mono"/>
                <a:ea typeface="Roboto Mono"/>
                <a:cs typeface="Roboto Mono"/>
                <a:sym typeface="Roboto Mono"/>
              </a:rPr>
              <a:t>  </a:t>
            </a:r>
            <a:endParaRPr sz="9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b="1" lang="es" sz="9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return</a:t>
            </a:r>
            <a:r>
              <a:rPr lang="es" sz="9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9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Math</a:t>
            </a:r>
            <a:r>
              <a:rPr lang="es" sz="900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es" sz="90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min</a:t>
            </a:r>
            <a:r>
              <a:rPr lang="es" sz="900"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s" sz="900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1.0</a:t>
            </a:r>
            <a:r>
              <a:rPr lang="es" sz="900"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s" sz="900">
                <a:solidFill>
                  <a:srgbClr val="0050A0"/>
                </a:solidFill>
                <a:latin typeface="Roboto Mono"/>
                <a:ea typeface="Roboto Mono"/>
                <a:cs typeface="Roboto Mono"/>
                <a:sym typeface="Roboto Mono"/>
              </a:rPr>
              <a:t>score</a:t>
            </a:r>
            <a:r>
              <a:rPr lang="es" sz="900"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 sz="9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90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52" name="Google Shape;352;p38"/>
          <p:cNvSpPr txBox="1"/>
          <p:nvPr/>
        </p:nvSpPr>
        <p:spPr>
          <a:xfrm>
            <a:off x="4995400" y="1068525"/>
            <a:ext cx="3897900" cy="22653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5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score_</a:t>
            </a:r>
            <a:r>
              <a:rPr lang="es" sz="65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features</a:t>
            </a:r>
            <a:r>
              <a:rPr lang="es" sz="6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s" sz="65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s" sz="6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650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0.7</a:t>
            </a:r>
            <a:r>
              <a:rPr lang="es" sz="6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65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×</a:t>
            </a:r>
            <a:r>
              <a:rPr lang="es" sz="6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65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temp_score</a:t>
            </a:r>
            <a:r>
              <a:rPr lang="es" sz="6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s" sz="65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+</a:t>
            </a:r>
            <a:r>
              <a:rPr lang="es" sz="6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650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0.15</a:t>
            </a:r>
            <a:r>
              <a:rPr lang="es" sz="6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65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×</a:t>
            </a:r>
            <a:r>
              <a:rPr lang="es" sz="6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65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light_score</a:t>
            </a:r>
            <a:r>
              <a:rPr lang="es" sz="6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s" sz="65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+</a:t>
            </a:r>
            <a:r>
              <a:rPr lang="es" sz="6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650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0.15</a:t>
            </a:r>
            <a:r>
              <a:rPr lang="es" sz="6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65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×</a:t>
            </a:r>
            <a:r>
              <a:rPr lang="es" sz="6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65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humidity_score</a:t>
            </a:r>
            <a:endParaRPr sz="65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5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5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temp_score</a:t>
            </a:r>
            <a:r>
              <a:rPr lang="es" sz="6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s" sz="65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s" sz="6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65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f</a:t>
            </a:r>
            <a:r>
              <a:rPr lang="es" sz="650"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b="1" lang="es" sz="65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|</a:t>
            </a:r>
            <a:r>
              <a:rPr lang="es" sz="65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T_room</a:t>
            </a:r>
            <a:r>
              <a:rPr lang="es" sz="6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s" sz="65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-</a:t>
            </a:r>
            <a:r>
              <a:rPr lang="es" sz="6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65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T_ideal</a:t>
            </a:r>
            <a:r>
              <a:rPr lang="es" sz="650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es" sz="65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ideal</a:t>
            </a:r>
            <a:r>
              <a:rPr b="1" lang="es" sz="65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|</a:t>
            </a:r>
            <a:r>
              <a:rPr lang="es" sz="650"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65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5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5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Where</a:t>
            </a:r>
            <a:r>
              <a:rPr lang="es" sz="650">
                <a:latin typeface="Roboto Mono"/>
                <a:ea typeface="Roboto Mono"/>
                <a:cs typeface="Roboto Mono"/>
                <a:sym typeface="Roboto Mono"/>
              </a:rPr>
              <a:t>:</a:t>
            </a:r>
            <a:endParaRPr sz="65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5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50"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lang="es" sz="65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T_ideal</a:t>
            </a:r>
            <a:r>
              <a:rPr lang="es" sz="6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s" sz="65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s" sz="650">
                <a:latin typeface="Roboto Mono"/>
                <a:ea typeface="Roboto Mono"/>
                <a:cs typeface="Roboto Mono"/>
                <a:sym typeface="Roboto Mono"/>
              </a:rPr>
              <a:t> { </a:t>
            </a:r>
            <a:r>
              <a:rPr lang="es" sz="65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COLD</a:t>
            </a:r>
            <a:r>
              <a:rPr lang="es" sz="650">
                <a:latin typeface="Roboto Mono"/>
                <a:ea typeface="Roboto Mono"/>
                <a:cs typeface="Roboto Mono"/>
                <a:sym typeface="Roboto Mono"/>
              </a:rPr>
              <a:t>: { </a:t>
            </a:r>
            <a:r>
              <a:rPr lang="es" sz="65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ideal</a:t>
            </a:r>
            <a:r>
              <a:rPr lang="es" sz="650"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es" sz="650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18</a:t>
            </a:r>
            <a:r>
              <a:rPr lang="es" sz="650"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s" sz="65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comfort</a:t>
            </a:r>
            <a:r>
              <a:rPr lang="es" sz="650"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es" sz="650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3</a:t>
            </a:r>
            <a:r>
              <a:rPr lang="es" sz="650"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s" sz="65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acceptable</a:t>
            </a:r>
            <a:r>
              <a:rPr lang="es" sz="650"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es" sz="650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5</a:t>
            </a:r>
            <a:r>
              <a:rPr lang="es" sz="650">
                <a:latin typeface="Roboto Mono"/>
                <a:ea typeface="Roboto Mono"/>
                <a:cs typeface="Roboto Mono"/>
                <a:sym typeface="Roboto Mono"/>
              </a:rPr>
              <a:t>} </a:t>
            </a:r>
            <a:endParaRPr sz="65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50">
                <a:latin typeface="Roboto Mono"/>
                <a:ea typeface="Roboto Mono"/>
                <a:cs typeface="Roboto Mono"/>
                <a:sym typeface="Roboto Mono"/>
              </a:rPr>
              <a:t>            { </a:t>
            </a:r>
            <a:r>
              <a:rPr lang="es" sz="65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WARM</a:t>
            </a:r>
            <a:r>
              <a:rPr lang="es" sz="650">
                <a:latin typeface="Roboto Mono"/>
                <a:ea typeface="Roboto Mono"/>
                <a:cs typeface="Roboto Mono"/>
                <a:sym typeface="Roboto Mono"/>
              </a:rPr>
              <a:t>: { </a:t>
            </a:r>
            <a:r>
              <a:rPr lang="es" sz="65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ideal</a:t>
            </a:r>
            <a:r>
              <a:rPr lang="es" sz="650"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es" sz="650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22</a:t>
            </a:r>
            <a:r>
              <a:rPr lang="es" sz="650"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s" sz="65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comfort</a:t>
            </a:r>
            <a:r>
              <a:rPr lang="es" sz="650"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es" sz="650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2</a:t>
            </a:r>
            <a:r>
              <a:rPr lang="es" sz="650"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s" sz="65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acceptable</a:t>
            </a:r>
            <a:r>
              <a:rPr lang="es" sz="650"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es" sz="650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4</a:t>
            </a:r>
            <a:r>
              <a:rPr lang="es" sz="650">
                <a:latin typeface="Roboto Mono"/>
                <a:ea typeface="Roboto Mono"/>
                <a:cs typeface="Roboto Mono"/>
                <a:sym typeface="Roboto Mono"/>
              </a:rPr>
              <a:t>}  </a:t>
            </a:r>
            <a:endParaRPr sz="65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50">
                <a:latin typeface="Roboto Mono"/>
                <a:ea typeface="Roboto Mono"/>
                <a:cs typeface="Roboto Mono"/>
                <a:sym typeface="Roboto Mono"/>
              </a:rPr>
              <a:t>            { </a:t>
            </a:r>
            <a:r>
              <a:rPr lang="es" sz="65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HOT</a:t>
            </a:r>
            <a:r>
              <a:rPr lang="es" sz="650">
                <a:latin typeface="Roboto Mono"/>
                <a:ea typeface="Roboto Mono"/>
                <a:cs typeface="Roboto Mono"/>
                <a:sym typeface="Roboto Mono"/>
              </a:rPr>
              <a:t>: { </a:t>
            </a:r>
            <a:r>
              <a:rPr lang="es" sz="65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ideal</a:t>
            </a:r>
            <a:r>
              <a:rPr lang="es" sz="650"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es" sz="650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26</a:t>
            </a:r>
            <a:r>
              <a:rPr lang="es" sz="650"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s" sz="65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comfort</a:t>
            </a:r>
            <a:r>
              <a:rPr lang="es" sz="650"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es" sz="650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3</a:t>
            </a:r>
            <a:r>
              <a:rPr lang="es" sz="650"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s" sz="65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acceptable</a:t>
            </a:r>
            <a:r>
              <a:rPr lang="es" sz="650"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es" sz="650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5</a:t>
            </a:r>
            <a:r>
              <a:rPr lang="es" sz="650"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65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50">
                <a:latin typeface="Roboto Mono"/>
                <a:ea typeface="Roboto Mono"/>
                <a:cs typeface="Roboto Mono"/>
                <a:sym typeface="Roboto Mono"/>
              </a:rPr>
              <a:t>            </a:t>
            </a:r>
            <a:endParaRPr sz="65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50"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lang="es" sz="65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f</a:t>
            </a:r>
            <a:r>
              <a:rPr lang="es" sz="650"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s" sz="65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diff</a:t>
            </a:r>
            <a:r>
              <a:rPr lang="es" sz="650">
                <a:latin typeface="Roboto Mono"/>
                <a:ea typeface="Roboto Mono"/>
                <a:cs typeface="Roboto Mono"/>
                <a:sym typeface="Roboto Mono"/>
              </a:rPr>
              <a:t>) </a:t>
            </a:r>
            <a:r>
              <a:rPr b="1" lang="es" sz="65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s" sz="650">
                <a:latin typeface="Roboto Mono"/>
                <a:ea typeface="Roboto Mono"/>
                <a:cs typeface="Roboto Mono"/>
                <a:sym typeface="Roboto Mono"/>
              </a:rPr>
              <a:t> { 1.00  </a:t>
            </a:r>
            <a:r>
              <a:rPr lang="es" sz="65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si</a:t>
            </a:r>
            <a:r>
              <a:rPr lang="es" sz="6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65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diff</a:t>
            </a:r>
            <a:r>
              <a:rPr lang="es" sz="6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s" sz="65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s" sz="6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650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0</a:t>
            </a:r>
            <a:r>
              <a:rPr lang="es" sz="65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°C</a:t>
            </a:r>
            <a:r>
              <a:rPr lang="es" sz="650">
                <a:latin typeface="Roboto Mono"/>
                <a:ea typeface="Roboto Mono"/>
                <a:cs typeface="Roboto Mono"/>
                <a:sym typeface="Roboto Mono"/>
              </a:rPr>
              <a:t>         	        (</a:t>
            </a:r>
            <a:r>
              <a:rPr lang="es" sz="65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Perfect</a:t>
            </a:r>
            <a:r>
              <a:rPr lang="es" sz="650"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65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50">
                <a:latin typeface="Roboto Mono"/>
                <a:ea typeface="Roboto Mono"/>
                <a:cs typeface="Roboto Mono"/>
                <a:sym typeface="Roboto Mono"/>
              </a:rPr>
              <a:t>            { </a:t>
            </a:r>
            <a:r>
              <a:rPr lang="es" sz="650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0.98</a:t>
            </a:r>
            <a:r>
              <a:rPr lang="es" sz="650"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lang="es" sz="65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si</a:t>
            </a:r>
            <a:r>
              <a:rPr lang="es" sz="6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65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diff</a:t>
            </a:r>
            <a:r>
              <a:rPr lang="es" sz="6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65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≤</a:t>
            </a:r>
            <a:r>
              <a:rPr lang="es" sz="6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650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0.5</a:t>
            </a:r>
            <a:r>
              <a:rPr lang="es" sz="65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°C</a:t>
            </a:r>
            <a:r>
              <a:rPr lang="es" sz="650">
                <a:latin typeface="Roboto Mono"/>
                <a:ea typeface="Roboto Mono"/>
                <a:cs typeface="Roboto Mono"/>
                <a:sym typeface="Roboto Mono"/>
              </a:rPr>
              <a:t>       	        (</a:t>
            </a:r>
            <a:r>
              <a:rPr lang="es" sz="65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Almost</a:t>
            </a:r>
            <a:r>
              <a:rPr lang="es" sz="6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65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perfect</a:t>
            </a:r>
            <a:r>
              <a:rPr lang="es" sz="650"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65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50">
                <a:latin typeface="Roboto Mono"/>
                <a:ea typeface="Roboto Mono"/>
                <a:cs typeface="Roboto Mono"/>
                <a:sym typeface="Roboto Mono"/>
              </a:rPr>
              <a:t>            { </a:t>
            </a:r>
            <a:r>
              <a:rPr lang="es" sz="650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0.95</a:t>
            </a:r>
            <a:r>
              <a:rPr lang="es" sz="650"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lang="es" sz="65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si</a:t>
            </a:r>
            <a:r>
              <a:rPr lang="es" sz="6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65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diff</a:t>
            </a:r>
            <a:r>
              <a:rPr lang="es" sz="6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65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≤</a:t>
            </a:r>
            <a:r>
              <a:rPr lang="es" sz="6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650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1</a:t>
            </a:r>
            <a:r>
              <a:rPr lang="es" sz="65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°C</a:t>
            </a:r>
            <a:r>
              <a:rPr lang="es" sz="650">
                <a:latin typeface="Roboto Mono"/>
                <a:ea typeface="Roboto Mono"/>
                <a:cs typeface="Roboto Mono"/>
                <a:sym typeface="Roboto Mono"/>
              </a:rPr>
              <a:t>         	        (</a:t>
            </a:r>
            <a:r>
              <a:rPr lang="es" sz="65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Excellent</a:t>
            </a:r>
            <a:r>
              <a:rPr lang="es" sz="650"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65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50">
                <a:latin typeface="Roboto Mono"/>
                <a:ea typeface="Roboto Mono"/>
                <a:cs typeface="Roboto Mono"/>
                <a:sym typeface="Roboto Mono"/>
              </a:rPr>
              <a:t>            { </a:t>
            </a:r>
            <a:r>
              <a:rPr lang="es" sz="650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0.85</a:t>
            </a:r>
            <a:r>
              <a:rPr lang="es" sz="650"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lang="es" sz="65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si</a:t>
            </a:r>
            <a:r>
              <a:rPr lang="es" sz="6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65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diff</a:t>
            </a:r>
            <a:r>
              <a:rPr lang="es" sz="6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65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≤</a:t>
            </a:r>
            <a:r>
              <a:rPr lang="es" sz="6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65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T_ideal</a:t>
            </a:r>
            <a:r>
              <a:rPr lang="es" sz="650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es" sz="65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comfort</a:t>
            </a:r>
            <a:r>
              <a:rPr lang="es" sz="650">
                <a:latin typeface="Roboto Mono"/>
                <a:ea typeface="Roboto Mono"/>
                <a:cs typeface="Roboto Mono"/>
                <a:sym typeface="Roboto Mono"/>
              </a:rPr>
              <a:t>         (</a:t>
            </a:r>
            <a:r>
              <a:rPr lang="es" sz="65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Very</a:t>
            </a:r>
            <a:r>
              <a:rPr lang="es" sz="6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65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comfortable</a:t>
            </a:r>
            <a:r>
              <a:rPr lang="es" sz="650"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65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50">
                <a:latin typeface="Roboto Mono"/>
                <a:ea typeface="Roboto Mono"/>
                <a:cs typeface="Roboto Mono"/>
                <a:sym typeface="Roboto Mono"/>
              </a:rPr>
              <a:t>            { </a:t>
            </a:r>
            <a:r>
              <a:rPr lang="es" sz="650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0.70</a:t>
            </a:r>
            <a:r>
              <a:rPr lang="es" sz="650"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lang="es" sz="65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si</a:t>
            </a:r>
            <a:r>
              <a:rPr lang="es" sz="6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65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diff</a:t>
            </a:r>
            <a:r>
              <a:rPr lang="es" sz="6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65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≤</a:t>
            </a:r>
            <a:r>
              <a:rPr lang="es" sz="6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65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T_ideal</a:t>
            </a:r>
            <a:r>
              <a:rPr lang="es" sz="650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es" sz="65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comfort</a:t>
            </a:r>
            <a:r>
              <a:rPr lang="es" sz="6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s" sz="65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+</a:t>
            </a:r>
            <a:r>
              <a:rPr lang="es" sz="6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650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1</a:t>
            </a:r>
            <a:r>
              <a:rPr lang="es" sz="650">
                <a:latin typeface="Roboto Mono"/>
                <a:ea typeface="Roboto Mono"/>
                <a:cs typeface="Roboto Mono"/>
                <a:sym typeface="Roboto Mono"/>
              </a:rPr>
              <a:t>     (</a:t>
            </a:r>
            <a:r>
              <a:rPr lang="es" sz="65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Comfortable</a:t>
            </a:r>
            <a:r>
              <a:rPr lang="es" sz="650"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65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50">
                <a:latin typeface="Roboto Mono"/>
                <a:ea typeface="Roboto Mono"/>
                <a:cs typeface="Roboto Mono"/>
                <a:sym typeface="Roboto Mono"/>
              </a:rPr>
              <a:t>            { </a:t>
            </a:r>
            <a:r>
              <a:rPr lang="es" sz="650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0.50</a:t>
            </a:r>
            <a:r>
              <a:rPr lang="es" sz="650"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lang="es" sz="65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si</a:t>
            </a:r>
            <a:r>
              <a:rPr lang="es" sz="6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65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diff</a:t>
            </a:r>
            <a:r>
              <a:rPr lang="es" sz="6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65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≤</a:t>
            </a:r>
            <a:r>
              <a:rPr lang="es" sz="6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65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T_ideal</a:t>
            </a:r>
            <a:r>
              <a:rPr lang="es" sz="650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es" sz="65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acceptable</a:t>
            </a:r>
            <a:r>
              <a:rPr lang="es" sz="650">
                <a:latin typeface="Roboto Mono"/>
                <a:ea typeface="Roboto Mono"/>
                <a:cs typeface="Roboto Mono"/>
                <a:sym typeface="Roboto Mono"/>
              </a:rPr>
              <a:t>      (</a:t>
            </a:r>
            <a:r>
              <a:rPr lang="es" sz="65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Acceptable</a:t>
            </a:r>
            <a:r>
              <a:rPr lang="es" sz="650"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65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50">
                <a:latin typeface="Roboto Mono"/>
                <a:ea typeface="Roboto Mono"/>
                <a:cs typeface="Roboto Mono"/>
                <a:sym typeface="Roboto Mono"/>
              </a:rPr>
              <a:t>            { </a:t>
            </a:r>
            <a:r>
              <a:rPr lang="es" sz="650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0.30</a:t>
            </a:r>
            <a:r>
              <a:rPr lang="es" sz="650"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lang="es" sz="65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si</a:t>
            </a:r>
            <a:r>
              <a:rPr lang="es" sz="6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65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diff</a:t>
            </a:r>
            <a:r>
              <a:rPr lang="es" sz="6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65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≤</a:t>
            </a:r>
            <a:r>
              <a:rPr lang="es" sz="6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65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T_ideal</a:t>
            </a:r>
            <a:r>
              <a:rPr lang="es" sz="650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es" sz="65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acceptable</a:t>
            </a:r>
            <a:r>
              <a:rPr lang="es" sz="6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s" sz="65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+</a:t>
            </a:r>
            <a:r>
              <a:rPr lang="es" sz="6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650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2</a:t>
            </a:r>
            <a:r>
              <a:rPr lang="es" sz="650">
                <a:latin typeface="Roboto Mono"/>
                <a:ea typeface="Roboto Mono"/>
                <a:cs typeface="Roboto Mono"/>
                <a:sym typeface="Roboto Mono"/>
              </a:rPr>
              <a:t>  (</a:t>
            </a:r>
            <a:r>
              <a:rPr lang="es" sz="65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Tolerable</a:t>
            </a:r>
            <a:r>
              <a:rPr lang="es" sz="650"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65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50">
                <a:latin typeface="Roboto Mono"/>
                <a:ea typeface="Roboto Mono"/>
                <a:cs typeface="Roboto Mono"/>
                <a:sym typeface="Roboto Mono"/>
              </a:rPr>
              <a:t>            { </a:t>
            </a:r>
            <a:r>
              <a:rPr lang="es" sz="650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0.15</a:t>
            </a:r>
            <a:r>
              <a:rPr lang="es" sz="650"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lang="es" sz="65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si</a:t>
            </a:r>
            <a:r>
              <a:rPr lang="es" sz="6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65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diff</a:t>
            </a:r>
            <a:r>
              <a:rPr lang="es" sz="6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65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≤</a:t>
            </a:r>
            <a:r>
              <a:rPr lang="es" sz="6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65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T_ideal</a:t>
            </a:r>
            <a:r>
              <a:rPr lang="es" sz="650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es" sz="65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acceptable</a:t>
            </a:r>
            <a:r>
              <a:rPr lang="es" sz="6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s" sz="65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+</a:t>
            </a:r>
            <a:r>
              <a:rPr lang="es" sz="6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650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4</a:t>
            </a:r>
            <a:r>
              <a:rPr lang="es" sz="650">
                <a:latin typeface="Roboto Mono"/>
                <a:ea typeface="Roboto Mono"/>
                <a:cs typeface="Roboto Mono"/>
                <a:sym typeface="Roboto Mono"/>
              </a:rPr>
              <a:t>  (</a:t>
            </a:r>
            <a:r>
              <a:rPr lang="es" sz="65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Bit</a:t>
            </a:r>
            <a:r>
              <a:rPr lang="es" sz="6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65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comfortable</a:t>
            </a:r>
            <a:r>
              <a:rPr lang="es" sz="650"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65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50">
                <a:latin typeface="Roboto Mono"/>
                <a:ea typeface="Roboto Mono"/>
                <a:cs typeface="Roboto Mono"/>
                <a:sym typeface="Roboto Mono"/>
              </a:rPr>
              <a:t>            { </a:t>
            </a:r>
            <a:r>
              <a:rPr lang="es" sz="650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0.05</a:t>
            </a:r>
            <a:r>
              <a:rPr lang="es" sz="650"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lang="es" sz="65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en</a:t>
            </a:r>
            <a:r>
              <a:rPr lang="es" sz="6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65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otro</a:t>
            </a:r>
            <a:r>
              <a:rPr lang="es" sz="6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65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caso</a:t>
            </a:r>
            <a:r>
              <a:rPr lang="es" sz="650">
                <a:latin typeface="Roboto Mono"/>
                <a:ea typeface="Roboto Mono"/>
                <a:cs typeface="Roboto Mono"/>
                <a:sym typeface="Roboto Mono"/>
              </a:rPr>
              <a:t>          	        (</a:t>
            </a:r>
            <a:r>
              <a:rPr lang="es" sz="65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Very</a:t>
            </a:r>
            <a:r>
              <a:rPr lang="es" sz="6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65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uncomfortable</a:t>
            </a:r>
            <a:r>
              <a:rPr lang="es" sz="650"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65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53" name="Google Shape;353;p38"/>
          <p:cNvSpPr txBox="1"/>
          <p:nvPr/>
        </p:nvSpPr>
        <p:spPr>
          <a:xfrm>
            <a:off x="4995400" y="3415425"/>
            <a:ext cx="2067300" cy="1473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5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normalizeLightLevel</a:t>
            </a:r>
            <a:r>
              <a:rPr lang="es" sz="650"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s" sz="65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light</a:t>
            </a:r>
            <a:r>
              <a:rPr lang="es" sz="650">
                <a:latin typeface="Roboto Mono"/>
                <a:ea typeface="Roboto Mono"/>
                <a:cs typeface="Roboto Mono"/>
                <a:sym typeface="Roboto Mono"/>
              </a:rPr>
              <a:t>) {</a:t>
            </a:r>
            <a:endParaRPr sz="65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50"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b="1" lang="es" sz="65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if</a:t>
            </a:r>
            <a:r>
              <a:rPr lang="es" sz="650">
                <a:latin typeface="Roboto Mono"/>
                <a:ea typeface="Roboto Mono"/>
                <a:cs typeface="Roboto Mono"/>
                <a:sym typeface="Roboto Mono"/>
              </a:rPr>
              <a:t> (</a:t>
            </a:r>
            <a:r>
              <a:rPr b="1" lang="es" sz="65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!</a:t>
            </a:r>
            <a:r>
              <a:rPr lang="es" sz="65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light</a:t>
            </a:r>
            <a:r>
              <a:rPr lang="es" sz="650">
                <a:latin typeface="Roboto Mono"/>
                <a:ea typeface="Roboto Mono"/>
                <a:cs typeface="Roboto Mono"/>
                <a:sym typeface="Roboto Mono"/>
              </a:rPr>
              <a:t>) </a:t>
            </a:r>
            <a:r>
              <a:rPr b="1" lang="es" sz="65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return</a:t>
            </a:r>
            <a:r>
              <a:rPr lang="es" sz="6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650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0.5</a:t>
            </a:r>
            <a:r>
              <a:rPr lang="es" sz="650"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65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50">
                <a:latin typeface="Roboto Mono"/>
                <a:ea typeface="Roboto Mono"/>
                <a:cs typeface="Roboto Mono"/>
                <a:sym typeface="Roboto Mono"/>
              </a:rPr>
              <a:t>   </a:t>
            </a:r>
            <a:endParaRPr sz="65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50"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i="1" lang="es" sz="650">
                <a:solidFill>
                  <a:srgbClr val="A05000"/>
                </a:solidFill>
                <a:latin typeface="Roboto Mono"/>
                <a:ea typeface="Roboto Mono"/>
                <a:cs typeface="Roboto Mono"/>
                <a:sym typeface="Roboto Mono"/>
              </a:rPr>
              <a:t>// Ideal light between 300-500</a:t>
            </a:r>
            <a:endParaRPr sz="65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50"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b="1" lang="es" sz="65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if</a:t>
            </a:r>
            <a:r>
              <a:rPr lang="es" sz="650">
                <a:latin typeface="Roboto Mono"/>
                <a:ea typeface="Roboto Mono"/>
                <a:cs typeface="Roboto Mono"/>
                <a:sym typeface="Roboto Mono"/>
              </a:rPr>
              <a:t> (</a:t>
            </a:r>
            <a:r>
              <a:rPr lang="es" sz="65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light</a:t>
            </a:r>
            <a:r>
              <a:rPr lang="es" sz="6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s" sz="65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&gt;=</a:t>
            </a:r>
            <a:r>
              <a:rPr lang="es" sz="6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650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300</a:t>
            </a:r>
            <a:r>
              <a:rPr lang="es" sz="6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s" sz="65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&amp;&amp;</a:t>
            </a:r>
            <a:r>
              <a:rPr lang="es" sz="6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65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light</a:t>
            </a:r>
            <a:r>
              <a:rPr lang="es" sz="6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s" sz="65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&lt;=</a:t>
            </a:r>
            <a:r>
              <a:rPr lang="es" sz="6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650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500</a:t>
            </a:r>
            <a:r>
              <a:rPr lang="es" sz="650">
                <a:latin typeface="Roboto Mono"/>
                <a:ea typeface="Roboto Mono"/>
                <a:cs typeface="Roboto Mono"/>
                <a:sym typeface="Roboto Mono"/>
              </a:rPr>
              <a:t>) </a:t>
            </a:r>
            <a:r>
              <a:rPr b="1" lang="es" sz="65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return</a:t>
            </a:r>
            <a:r>
              <a:rPr lang="es" sz="6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650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1.0</a:t>
            </a:r>
            <a:r>
              <a:rPr lang="es" sz="650"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65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50"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b="1" lang="es" sz="65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if</a:t>
            </a:r>
            <a:r>
              <a:rPr lang="es" sz="650">
                <a:latin typeface="Roboto Mono"/>
                <a:ea typeface="Roboto Mono"/>
                <a:cs typeface="Roboto Mono"/>
                <a:sym typeface="Roboto Mono"/>
              </a:rPr>
              <a:t> (</a:t>
            </a:r>
            <a:r>
              <a:rPr lang="es" sz="65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light</a:t>
            </a:r>
            <a:r>
              <a:rPr lang="es" sz="6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s" sz="65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&gt;=</a:t>
            </a:r>
            <a:r>
              <a:rPr lang="es" sz="6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650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200</a:t>
            </a:r>
            <a:r>
              <a:rPr lang="es" sz="6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s" sz="65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&amp;&amp;</a:t>
            </a:r>
            <a:r>
              <a:rPr lang="es" sz="6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65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light</a:t>
            </a:r>
            <a:r>
              <a:rPr lang="es" sz="6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s" sz="65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&lt;=</a:t>
            </a:r>
            <a:r>
              <a:rPr lang="es" sz="6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650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600</a:t>
            </a:r>
            <a:r>
              <a:rPr lang="es" sz="650">
                <a:latin typeface="Roboto Mono"/>
                <a:ea typeface="Roboto Mono"/>
                <a:cs typeface="Roboto Mono"/>
                <a:sym typeface="Roboto Mono"/>
              </a:rPr>
              <a:t>) </a:t>
            </a:r>
            <a:r>
              <a:rPr b="1" lang="es" sz="65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return</a:t>
            </a:r>
            <a:r>
              <a:rPr lang="es" sz="6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650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0.8</a:t>
            </a:r>
            <a:r>
              <a:rPr lang="es" sz="650"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65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50"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b="1" lang="es" sz="65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if</a:t>
            </a:r>
            <a:r>
              <a:rPr lang="es" sz="650">
                <a:latin typeface="Roboto Mono"/>
                <a:ea typeface="Roboto Mono"/>
                <a:cs typeface="Roboto Mono"/>
                <a:sym typeface="Roboto Mono"/>
              </a:rPr>
              <a:t> (</a:t>
            </a:r>
            <a:r>
              <a:rPr lang="es" sz="65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light</a:t>
            </a:r>
            <a:r>
              <a:rPr lang="es" sz="6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s" sz="65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&gt;=</a:t>
            </a:r>
            <a:r>
              <a:rPr lang="es" sz="6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650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100</a:t>
            </a:r>
            <a:r>
              <a:rPr lang="es" sz="6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s" sz="65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&amp;&amp;</a:t>
            </a:r>
            <a:r>
              <a:rPr lang="es" sz="6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65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light</a:t>
            </a:r>
            <a:r>
              <a:rPr lang="es" sz="6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s" sz="65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&lt;=</a:t>
            </a:r>
            <a:r>
              <a:rPr lang="es" sz="6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650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700</a:t>
            </a:r>
            <a:r>
              <a:rPr lang="es" sz="650">
                <a:latin typeface="Roboto Mono"/>
                <a:ea typeface="Roboto Mono"/>
                <a:cs typeface="Roboto Mono"/>
                <a:sym typeface="Roboto Mono"/>
              </a:rPr>
              <a:t>) </a:t>
            </a:r>
            <a:r>
              <a:rPr b="1" lang="es" sz="65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return</a:t>
            </a:r>
            <a:r>
              <a:rPr lang="es" sz="6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650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0.6</a:t>
            </a:r>
            <a:r>
              <a:rPr lang="es" sz="650"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65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50"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b="1" lang="es" sz="65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return</a:t>
            </a:r>
            <a:r>
              <a:rPr lang="es" sz="6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650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0.4</a:t>
            </a:r>
            <a:r>
              <a:rPr lang="es" sz="650"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65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5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50"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65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54" name="Google Shape;354;p38"/>
          <p:cNvSpPr txBox="1"/>
          <p:nvPr/>
        </p:nvSpPr>
        <p:spPr>
          <a:xfrm>
            <a:off x="7062700" y="3415422"/>
            <a:ext cx="1830600" cy="1473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65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normalizeHumidityLevel</a:t>
            </a:r>
            <a:r>
              <a:rPr lang="es" sz="650"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s" sz="65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humidity</a:t>
            </a:r>
            <a:r>
              <a:rPr lang="es" sz="650">
                <a:latin typeface="Roboto Mono"/>
                <a:ea typeface="Roboto Mono"/>
                <a:cs typeface="Roboto Mono"/>
                <a:sym typeface="Roboto Mono"/>
              </a:rPr>
              <a:t>) {</a:t>
            </a:r>
            <a:endParaRPr sz="65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50"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b="1" lang="es" sz="65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if</a:t>
            </a:r>
            <a:r>
              <a:rPr lang="es" sz="650">
                <a:latin typeface="Roboto Mono"/>
                <a:ea typeface="Roboto Mono"/>
                <a:cs typeface="Roboto Mono"/>
                <a:sym typeface="Roboto Mono"/>
              </a:rPr>
              <a:t> (</a:t>
            </a:r>
            <a:r>
              <a:rPr b="1" lang="es" sz="65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!</a:t>
            </a:r>
            <a:r>
              <a:rPr lang="es" sz="65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humidity</a:t>
            </a:r>
            <a:r>
              <a:rPr lang="es" sz="650">
                <a:latin typeface="Roboto Mono"/>
                <a:ea typeface="Roboto Mono"/>
                <a:cs typeface="Roboto Mono"/>
                <a:sym typeface="Roboto Mono"/>
              </a:rPr>
              <a:t>) </a:t>
            </a:r>
            <a:r>
              <a:rPr b="1" lang="es" sz="65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return</a:t>
            </a:r>
            <a:r>
              <a:rPr lang="es" sz="6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650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0.5</a:t>
            </a:r>
            <a:r>
              <a:rPr lang="es" sz="650"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65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5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50"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i="1" lang="es" sz="650">
                <a:solidFill>
                  <a:srgbClr val="A05000"/>
                </a:solidFill>
                <a:latin typeface="Roboto Mono"/>
                <a:ea typeface="Roboto Mono"/>
                <a:cs typeface="Roboto Mono"/>
                <a:sym typeface="Roboto Mono"/>
              </a:rPr>
              <a:t>// Ideal hum. between 40-60%</a:t>
            </a:r>
            <a:endParaRPr sz="65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50"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b="1" lang="es" sz="65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if</a:t>
            </a:r>
            <a:r>
              <a:rPr lang="es" sz="650">
                <a:latin typeface="Roboto Mono"/>
                <a:ea typeface="Roboto Mono"/>
                <a:cs typeface="Roboto Mono"/>
                <a:sym typeface="Roboto Mono"/>
              </a:rPr>
              <a:t> (</a:t>
            </a:r>
            <a:r>
              <a:rPr lang="es" sz="65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humidity</a:t>
            </a:r>
            <a:r>
              <a:rPr lang="es" sz="6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s" sz="65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&gt;=</a:t>
            </a:r>
            <a:r>
              <a:rPr lang="es" sz="6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650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40</a:t>
            </a:r>
            <a:r>
              <a:rPr lang="es" sz="6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s" sz="65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&amp;&amp;</a:t>
            </a:r>
            <a:r>
              <a:rPr lang="es" sz="6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65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humidity</a:t>
            </a:r>
            <a:r>
              <a:rPr lang="es" sz="6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s" sz="65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&lt;=</a:t>
            </a:r>
            <a:r>
              <a:rPr lang="es" sz="6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650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60</a:t>
            </a:r>
            <a:r>
              <a:rPr lang="es" sz="650">
                <a:latin typeface="Roboto Mono"/>
                <a:ea typeface="Roboto Mono"/>
                <a:cs typeface="Roboto Mono"/>
                <a:sym typeface="Roboto Mono"/>
              </a:rPr>
              <a:t>) </a:t>
            </a:r>
            <a:r>
              <a:rPr b="1" lang="es" sz="65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return</a:t>
            </a:r>
            <a:r>
              <a:rPr lang="es" sz="6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650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1.0</a:t>
            </a:r>
            <a:r>
              <a:rPr lang="es" sz="650"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65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50"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b="1" lang="es" sz="65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if</a:t>
            </a:r>
            <a:r>
              <a:rPr lang="es" sz="650">
                <a:latin typeface="Roboto Mono"/>
                <a:ea typeface="Roboto Mono"/>
                <a:cs typeface="Roboto Mono"/>
                <a:sym typeface="Roboto Mono"/>
              </a:rPr>
              <a:t> (</a:t>
            </a:r>
            <a:r>
              <a:rPr lang="es" sz="65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humidity</a:t>
            </a:r>
            <a:r>
              <a:rPr lang="es" sz="6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s" sz="65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&gt;=</a:t>
            </a:r>
            <a:r>
              <a:rPr lang="es" sz="6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650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30</a:t>
            </a:r>
            <a:r>
              <a:rPr lang="es" sz="6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s" sz="65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&amp;&amp;</a:t>
            </a:r>
            <a:r>
              <a:rPr lang="es" sz="6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65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humidity</a:t>
            </a:r>
            <a:r>
              <a:rPr lang="es" sz="6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s" sz="65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&lt;=</a:t>
            </a:r>
            <a:r>
              <a:rPr lang="es" sz="6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650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70</a:t>
            </a:r>
            <a:r>
              <a:rPr lang="es" sz="650">
                <a:latin typeface="Roboto Mono"/>
                <a:ea typeface="Roboto Mono"/>
                <a:cs typeface="Roboto Mono"/>
                <a:sym typeface="Roboto Mono"/>
              </a:rPr>
              <a:t>) </a:t>
            </a:r>
            <a:r>
              <a:rPr b="1" lang="es" sz="65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return</a:t>
            </a:r>
            <a:r>
              <a:rPr lang="es" sz="6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650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0.8</a:t>
            </a:r>
            <a:r>
              <a:rPr lang="es" sz="650"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65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50"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b="1" lang="es" sz="65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if</a:t>
            </a:r>
            <a:r>
              <a:rPr lang="es" sz="650">
                <a:latin typeface="Roboto Mono"/>
                <a:ea typeface="Roboto Mono"/>
                <a:cs typeface="Roboto Mono"/>
                <a:sym typeface="Roboto Mono"/>
              </a:rPr>
              <a:t> (</a:t>
            </a:r>
            <a:r>
              <a:rPr lang="es" sz="65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humidity</a:t>
            </a:r>
            <a:r>
              <a:rPr lang="es" sz="6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s" sz="65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&gt;=</a:t>
            </a:r>
            <a:r>
              <a:rPr lang="es" sz="6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650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20</a:t>
            </a:r>
            <a:r>
              <a:rPr lang="es" sz="6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s" sz="65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&amp;&amp;</a:t>
            </a:r>
            <a:r>
              <a:rPr lang="es" sz="6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65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humidity</a:t>
            </a:r>
            <a:r>
              <a:rPr lang="es" sz="6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s" sz="65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&lt;=</a:t>
            </a:r>
            <a:r>
              <a:rPr lang="es" sz="6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650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80</a:t>
            </a:r>
            <a:r>
              <a:rPr lang="es" sz="650">
                <a:latin typeface="Roboto Mono"/>
                <a:ea typeface="Roboto Mono"/>
                <a:cs typeface="Roboto Mono"/>
                <a:sym typeface="Roboto Mono"/>
              </a:rPr>
              <a:t>) </a:t>
            </a:r>
            <a:r>
              <a:rPr b="1" lang="es" sz="65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return</a:t>
            </a:r>
            <a:r>
              <a:rPr lang="es" sz="6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650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0.6</a:t>
            </a:r>
            <a:r>
              <a:rPr lang="es" sz="650"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65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50"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b="1" lang="es" sz="65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return</a:t>
            </a:r>
            <a:r>
              <a:rPr lang="es" sz="6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650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0.4</a:t>
            </a:r>
            <a:r>
              <a:rPr lang="es" sz="650"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65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50">
                <a:latin typeface="Roboto Mono"/>
                <a:ea typeface="Roboto Mono"/>
                <a:cs typeface="Roboto Mono"/>
                <a:sym typeface="Roboto Mono"/>
              </a:rPr>
              <a:t>  }</a:t>
            </a:r>
            <a:endParaRPr sz="65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5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55" name="Google Shape;355;p38"/>
          <p:cNvSpPr/>
          <p:nvPr/>
        </p:nvSpPr>
        <p:spPr>
          <a:xfrm>
            <a:off x="4767513" y="2937650"/>
            <a:ext cx="413700" cy="35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latin typeface="Calibri"/>
                <a:ea typeface="Calibri"/>
                <a:cs typeface="Calibri"/>
                <a:sym typeface="Calibri"/>
              </a:rPr>
              <a:t>3</a:t>
            </a:r>
            <a:endParaRPr b="1" sz="15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0" name="Google Shape;360;p39"/>
          <p:cNvPicPr preferRelativeResize="0"/>
          <p:nvPr/>
        </p:nvPicPr>
        <p:blipFill rotWithShape="1">
          <a:blip r:embed="rId3">
            <a:alphaModFix/>
          </a:blip>
          <a:srcRect b="16105" l="17335" r="16755" t="16112"/>
          <a:stretch/>
        </p:blipFill>
        <p:spPr>
          <a:xfrm>
            <a:off x="8582093" y="216279"/>
            <a:ext cx="348925" cy="358851"/>
          </a:xfrm>
          <a:prstGeom prst="rect">
            <a:avLst/>
          </a:prstGeom>
          <a:noFill/>
          <a:ln>
            <a:noFill/>
          </a:ln>
        </p:spPr>
      </p:pic>
      <p:sp>
        <p:nvSpPr>
          <p:cNvPr id="361" name="Google Shape;361;p39"/>
          <p:cNvSpPr txBox="1"/>
          <p:nvPr/>
        </p:nvSpPr>
        <p:spPr>
          <a:xfrm>
            <a:off x="4773213" y="673921"/>
            <a:ext cx="3702900" cy="40728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5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async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75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calculateUserHistoryScore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s" sz="75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room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s" sz="75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userData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) {</a:t>
            </a:r>
            <a:endParaRPr sz="75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b="1" lang="es" sz="75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if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(</a:t>
            </a:r>
            <a:r>
              <a:rPr b="1" lang="es" sz="75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!</a:t>
            </a:r>
            <a:r>
              <a:rPr lang="es" sz="75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userData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) </a:t>
            </a:r>
            <a:r>
              <a:rPr b="1" lang="es" sz="75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return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{ </a:t>
            </a:r>
            <a:r>
              <a:rPr lang="es" sz="75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score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es" sz="750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0.5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s" sz="75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visitCount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es" sz="750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0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};</a:t>
            </a:r>
            <a:endParaRPr sz="75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5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b="1" lang="es" sz="75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try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{</a:t>
            </a:r>
            <a:endParaRPr sz="75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     </a:t>
            </a:r>
            <a:r>
              <a:rPr b="1" lang="es" sz="75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const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{ </a:t>
            </a:r>
            <a:r>
              <a:rPr lang="es" sz="750">
                <a:solidFill>
                  <a:srgbClr val="0000F0"/>
                </a:solidFill>
                <a:latin typeface="Roboto Mono"/>
                <a:ea typeface="Roboto Mono"/>
                <a:cs typeface="Roboto Mono"/>
                <a:sym typeface="Roboto Mono"/>
              </a:rPr>
              <a:t>RoomAccessHistory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} </a:t>
            </a:r>
            <a:r>
              <a:rPr b="1" lang="es" sz="75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75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require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s" sz="75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'../models'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 sz="75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     </a:t>
            </a:r>
            <a:r>
              <a:rPr b="1" lang="es" sz="75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if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(</a:t>
            </a:r>
            <a:r>
              <a:rPr lang="es" sz="750">
                <a:solidFill>
                  <a:srgbClr val="0050A0"/>
                </a:solidFill>
                <a:latin typeface="Roboto Mono"/>
                <a:ea typeface="Roboto Mono"/>
                <a:cs typeface="Roboto Mono"/>
                <a:sym typeface="Roboto Mono"/>
              </a:rPr>
              <a:t>RoomAccessHistory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) {</a:t>
            </a:r>
            <a:endParaRPr sz="75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       </a:t>
            </a:r>
            <a:endParaRPr sz="750"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5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const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750">
                <a:solidFill>
                  <a:srgbClr val="0000F0"/>
                </a:solidFill>
                <a:latin typeface="Roboto Mono"/>
                <a:ea typeface="Roboto Mono"/>
                <a:cs typeface="Roboto Mono"/>
                <a:sym typeface="Roboto Mono"/>
              </a:rPr>
              <a:t>visitCount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s" sz="75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s" sz="75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await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750">
                <a:solidFill>
                  <a:srgbClr val="0050A0"/>
                </a:solidFill>
                <a:latin typeface="Roboto Mono"/>
                <a:ea typeface="Roboto Mono"/>
                <a:cs typeface="Roboto Mono"/>
                <a:sym typeface="Roboto Mono"/>
              </a:rPr>
              <a:t>RoomAccessHistory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es" sz="75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count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({</a:t>
            </a:r>
            <a:endParaRPr sz="75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         </a:t>
            </a:r>
            <a:r>
              <a:rPr lang="es" sz="75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where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: {</a:t>
            </a:r>
            <a:endParaRPr sz="75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           </a:t>
            </a:r>
            <a:r>
              <a:rPr lang="es" sz="75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userId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es" sz="75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userData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es" sz="75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id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,</a:t>
            </a:r>
            <a:endParaRPr sz="75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           </a:t>
            </a:r>
            <a:r>
              <a:rPr lang="es" sz="75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roomId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es" sz="75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room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es" sz="75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id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,</a:t>
            </a:r>
            <a:endParaRPr sz="75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           </a:t>
            </a:r>
            <a:r>
              <a:rPr lang="es" sz="75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action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es" sz="75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'ENTER'</a:t>
            </a:r>
            <a:endParaRPr sz="75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         }</a:t>
            </a:r>
            <a:endParaRPr sz="75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       }); </a:t>
            </a:r>
            <a:r>
              <a:rPr i="1" lang="es" sz="750">
                <a:solidFill>
                  <a:srgbClr val="A05000"/>
                </a:solidFill>
                <a:latin typeface="Roboto Mono"/>
                <a:ea typeface="Roboto Mono"/>
                <a:cs typeface="Roboto Mono"/>
                <a:sym typeface="Roboto Mono"/>
              </a:rPr>
              <a:t>// Count user visits to THIS room</a:t>
            </a:r>
            <a:endParaRPr sz="75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5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       </a:t>
            </a:r>
            <a:r>
              <a:rPr b="1" lang="es" sz="75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let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750">
                <a:solidFill>
                  <a:srgbClr val="0000F0"/>
                </a:solidFill>
                <a:latin typeface="Roboto Mono"/>
                <a:ea typeface="Roboto Mono"/>
                <a:cs typeface="Roboto Mono"/>
                <a:sym typeface="Roboto Mono"/>
              </a:rPr>
              <a:t>score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75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       </a:t>
            </a:r>
            <a:r>
              <a:rPr b="1" lang="es" sz="75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if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(</a:t>
            </a:r>
            <a:r>
              <a:rPr lang="es" sz="750">
                <a:solidFill>
                  <a:srgbClr val="0050A0"/>
                </a:solidFill>
                <a:latin typeface="Roboto Mono"/>
                <a:ea typeface="Roboto Mono"/>
                <a:cs typeface="Roboto Mono"/>
                <a:sym typeface="Roboto Mono"/>
              </a:rPr>
              <a:t>visitCount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s" sz="75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&gt;=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750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50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) {</a:t>
            </a:r>
            <a:endParaRPr sz="75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         </a:t>
            </a:r>
            <a:r>
              <a:rPr lang="es" sz="750">
                <a:solidFill>
                  <a:srgbClr val="0050A0"/>
                </a:solidFill>
                <a:latin typeface="Roboto Mono"/>
                <a:ea typeface="Roboto Mono"/>
                <a:cs typeface="Roboto Mono"/>
                <a:sym typeface="Roboto Mono"/>
              </a:rPr>
              <a:t>score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s" sz="75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750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0.98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;     </a:t>
            </a:r>
            <a:r>
              <a:rPr i="1" lang="es" sz="750">
                <a:solidFill>
                  <a:srgbClr val="A05000"/>
                </a:solidFill>
                <a:latin typeface="Roboto Mono"/>
                <a:ea typeface="Roboto Mono"/>
                <a:cs typeface="Roboto Mono"/>
                <a:sym typeface="Roboto Mono"/>
              </a:rPr>
              <a:t>// Very Frequent User (50+ visits)</a:t>
            </a:r>
            <a:endParaRPr sz="75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       } </a:t>
            </a:r>
            <a:r>
              <a:rPr b="1" lang="es" sz="75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else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s" sz="75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if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(</a:t>
            </a:r>
            <a:r>
              <a:rPr lang="es" sz="750">
                <a:solidFill>
                  <a:srgbClr val="0050A0"/>
                </a:solidFill>
                <a:latin typeface="Roboto Mono"/>
                <a:ea typeface="Roboto Mono"/>
                <a:cs typeface="Roboto Mono"/>
                <a:sym typeface="Roboto Mono"/>
              </a:rPr>
              <a:t>visitCount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s" sz="75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&gt;=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750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25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) {</a:t>
            </a:r>
            <a:endParaRPr sz="75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         </a:t>
            </a:r>
            <a:r>
              <a:rPr lang="es" sz="750">
                <a:solidFill>
                  <a:srgbClr val="0050A0"/>
                </a:solidFill>
                <a:latin typeface="Roboto Mono"/>
                <a:ea typeface="Roboto Mono"/>
                <a:cs typeface="Roboto Mono"/>
                <a:sym typeface="Roboto Mono"/>
              </a:rPr>
              <a:t>score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s" sz="75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750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0.92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;     </a:t>
            </a:r>
            <a:r>
              <a:rPr i="1" lang="es" sz="750">
                <a:solidFill>
                  <a:srgbClr val="A05000"/>
                </a:solidFill>
                <a:latin typeface="Roboto Mono"/>
                <a:ea typeface="Roboto Mono"/>
                <a:cs typeface="Roboto Mono"/>
                <a:sym typeface="Roboto Mono"/>
              </a:rPr>
              <a:t>// Frequent User (25-49 visits)</a:t>
            </a:r>
            <a:endParaRPr sz="75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       } </a:t>
            </a:r>
            <a:r>
              <a:rPr b="1" lang="es" sz="75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else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s" sz="75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if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(</a:t>
            </a:r>
            <a:r>
              <a:rPr lang="es" sz="750">
                <a:solidFill>
                  <a:srgbClr val="0050A0"/>
                </a:solidFill>
                <a:latin typeface="Roboto Mono"/>
                <a:ea typeface="Roboto Mono"/>
                <a:cs typeface="Roboto Mono"/>
                <a:sym typeface="Roboto Mono"/>
              </a:rPr>
              <a:t>visitCount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s" sz="75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&gt;=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750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10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) {</a:t>
            </a:r>
            <a:endParaRPr sz="75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         </a:t>
            </a:r>
            <a:r>
              <a:rPr lang="es" sz="750">
                <a:solidFill>
                  <a:srgbClr val="0050A0"/>
                </a:solidFill>
                <a:latin typeface="Roboto Mono"/>
                <a:ea typeface="Roboto Mono"/>
                <a:cs typeface="Roboto Mono"/>
                <a:sym typeface="Roboto Mono"/>
              </a:rPr>
              <a:t>score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s" sz="75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750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0.85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;     </a:t>
            </a:r>
            <a:r>
              <a:rPr i="1" lang="es" sz="750">
                <a:solidFill>
                  <a:srgbClr val="A05000"/>
                </a:solidFill>
                <a:latin typeface="Roboto Mono"/>
                <a:ea typeface="Roboto Mono"/>
                <a:cs typeface="Roboto Mono"/>
                <a:sym typeface="Roboto Mono"/>
              </a:rPr>
              <a:t>// Regular User (10-24 visits)</a:t>
            </a:r>
            <a:endParaRPr sz="75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       } </a:t>
            </a:r>
            <a:r>
              <a:rPr b="1" lang="es" sz="75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else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s" sz="75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if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(</a:t>
            </a:r>
            <a:r>
              <a:rPr lang="es" sz="750">
                <a:solidFill>
                  <a:srgbClr val="0050A0"/>
                </a:solidFill>
                <a:latin typeface="Roboto Mono"/>
                <a:ea typeface="Roboto Mono"/>
                <a:cs typeface="Roboto Mono"/>
                <a:sym typeface="Roboto Mono"/>
              </a:rPr>
              <a:t>visitCount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s" sz="75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&gt;=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750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3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) {</a:t>
            </a:r>
            <a:endParaRPr sz="75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         </a:t>
            </a:r>
            <a:r>
              <a:rPr lang="es" sz="750">
                <a:solidFill>
                  <a:srgbClr val="0050A0"/>
                </a:solidFill>
                <a:latin typeface="Roboto Mono"/>
                <a:ea typeface="Roboto Mono"/>
                <a:cs typeface="Roboto Mono"/>
                <a:sym typeface="Roboto Mono"/>
              </a:rPr>
              <a:t>score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s" sz="75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750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0.70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;     </a:t>
            </a:r>
            <a:r>
              <a:rPr i="1" lang="es" sz="750">
                <a:solidFill>
                  <a:srgbClr val="A05000"/>
                </a:solidFill>
                <a:latin typeface="Roboto Mono"/>
                <a:ea typeface="Roboto Mono"/>
                <a:cs typeface="Roboto Mono"/>
                <a:sym typeface="Roboto Mono"/>
              </a:rPr>
              <a:t>// Occasional User (3-9 visits)</a:t>
            </a:r>
            <a:endParaRPr sz="75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       } </a:t>
            </a:r>
            <a:r>
              <a:rPr b="1" lang="es" sz="75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else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s" sz="75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if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(</a:t>
            </a:r>
            <a:r>
              <a:rPr lang="es" sz="750">
                <a:solidFill>
                  <a:srgbClr val="0050A0"/>
                </a:solidFill>
                <a:latin typeface="Roboto Mono"/>
                <a:ea typeface="Roboto Mono"/>
                <a:cs typeface="Roboto Mono"/>
                <a:sym typeface="Roboto Mono"/>
              </a:rPr>
              <a:t>visitCount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s" sz="75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&gt;=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750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1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) {</a:t>
            </a:r>
            <a:endParaRPr sz="75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         </a:t>
            </a:r>
            <a:r>
              <a:rPr lang="es" sz="750">
                <a:solidFill>
                  <a:srgbClr val="0050A0"/>
                </a:solidFill>
                <a:latin typeface="Roboto Mono"/>
                <a:ea typeface="Roboto Mono"/>
                <a:cs typeface="Roboto Mono"/>
                <a:sym typeface="Roboto Mono"/>
              </a:rPr>
              <a:t>score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s" sz="75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750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0.55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;     </a:t>
            </a:r>
            <a:r>
              <a:rPr i="1" lang="es" sz="750">
                <a:solidFill>
                  <a:srgbClr val="A05000"/>
                </a:solidFill>
                <a:latin typeface="Roboto Mono"/>
                <a:ea typeface="Roboto Mono"/>
                <a:cs typeface="Roboto Mono"/>
                <a:sym typeface="Roboto Mono"/>
              </a:rPr>
              <a:t>// Few visits (1-2 visits)</a:t>
            </a:r>
            <a:endParaRPr sz="75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       } </a:t>
            </a:r>
            <a:r>
              <a:rPr b="1" lang="es" sz="75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else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{</a:t>
            </a:r>
            <a:endParaRPr sz="75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         </a:t>
            </a:r>
            <a:r>
              <a:rPr lang="es" sz="750">
                <a:solidFill>
                  <a:srgbClr val="0050A0"/>
                </a:solidFill>
                <a:latin typeface="Roboto Mono"/>
                <a:ea typeface="Roboto Mono"/>
                <a:cs typeface="Roboto Mono"/>
                <a:sym typeface="Roboto Mono"/>
              </a:rPr>
              <a:t>score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s" sz="75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750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0.3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;      </a:t>
            </a:r>
            <a:r>
              <a:rPr i="1" lang="es" sz="750">
                <a:solidFill>
                  <a:srgbClr val="A05000"/>
                </a:solidFill>
                <a:latin typeface="Roboto Mono"/>
                <a:ea typeface="Roboto Mono"/>
                <a:cs typeface="Roboto Mono"/>
                <a:sym typeface="Roboto Mono"/>
              </a:rPr>
              <a:t>// New User (0 visits)</a:t>
            </a:r>
            <a:endParaRPr sz="75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       }</a:t>
            </a:r>
            <a:endParaRPr sz="75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       </a:t>
            </a:r>
            <a:r>
              <a:rPr b="1" lang="es" sz="75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return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{ </a:t>
            </a:r>
            <a:r>
              <a:rPr lang="es" sz="75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score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s" sz="75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visitCount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};</a:t>
            </a:r>
            <a:endParaRPr sz="75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     }</a:t>
            </a:r>
            <a:endParaRPr sz="75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     </a:t>
            </a:r>
            <a:r>
              <a:rPr i="1" lang="es" sz="750">
                <a:solidFill>
                  <a:srgbClr val="A05000"/>
                </a:solidFill>
                <a:latin typeface="Roboto Mono"/>
                <a:ea typeface="Roboto Mono"/>
                <a:cs typeface="Roboto Mono"/>
                <a:sym typeface="Roboto Mono"/>
              </a:rPr>
              <a:t>// Table does not exist, use </a:t>
            </a:r>
            <a:r>
              <a:rPr i="1" lang="es" sz="750">
                <a:solidFill>
                  <a:srgbClr val="A05000"/>
                </a:solidFill>
                <a:latin typeface="Roboto Mono"/>
                <a:ea typeface="Roboto Mono"/>
                <a:cs typeface="Roboto Mono"/>
                <a:sym typeface="Roboto Mono"/>
              </a:rPr>
              <a:t>neutral</a:t>
            </a:r>
            <a:r>
              <a:rPr i="1" lang="es" sz="750">
                <a:solidFill>
                  <a:srgbClr val="A05000"/>
                </a:solidFill>
                <a:latin typeface="Roboto Mono"/>
                <a:ea typeface="Roboto Mono"/>
                <a:cs typeface="Roboto Mono"/>
                <a:sym typeface="Roboto Mono"/>
              </a:rPr>
              <a:t> score</a:t>
            </a:r>
            <a:endParaRPr sz="75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     </a:t>
            </a:r>
            <a:r>
              <a:rPr b="1" lang="es" sz="75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return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{ </a:t>
            </a:r>
            <a:r>
              <a:rPr lang="es" sz="75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score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es" sz="750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0.5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s" sz="75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visitCount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es" sz="750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0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};</a:t>
            </a:r>
            <a:endParaRPr sz="75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 }</a:t>
            </a:r>
            <a:endParaRPr sz="75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62" name="Google Shape;362;p39"/>
          <p:cNvSpPr txBox="1"/>
          <p:nvPr/>
        </p:nvSpPr>
        <p:spPr>
          <a:xfrm>
            <a:off x="401200" y="1029714"/>
            <a:ext cx="4239600" cy="37170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6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async</a:t>
            </a: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6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calculateSimilarUsersScore</a:t>
            </a: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s" sz="6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room</a:t>
            </a: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s" sz="6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userData</a:t>
            </a: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) {</a:t>
            </a:r>
            <a:endParaRPr sz="6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    . . .</a:t>
            </a:r>
            <a:endParaRPr sz="6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es" sz="6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try</a:t>
            </a: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 {</a:t>
            </a:r>
            <a:endParaRPr sz="6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      . . .</a:t>
            </a:r>
            <a:endParaRPr sz="6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      </a:t>
            </a:r>
            <a:r>
              <a:rPr lang="es" sz="6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const</a:t>
            </a: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6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similarUsers</a:t>
            </a: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s" sz="6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s" sz="6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await</a:t>
            </a: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6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Users</a:t>
            </a: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es" sz="60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findAll</a:t>
            </a: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({</a:t>
            </a:r>
            <a:endParaRPr sz="6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        </a:t>
            </a:r>
            <a:r>
              <a:rPr lang="es" sz="60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where</a:t>
            </a: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: {</a:t>
            </a:r>
            <a:endParaRPr sz="6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          </a:t>
            </a:r>
            <a:r>
              <a:rPr lang="es" sz="60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preferenciaTemperatura</a:t>
            </a: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es" sz="6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userData</a:t>
            </a: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es" sz="60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preferenciaTemperatura</a:t>
            </a: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,</a:t>
            </a:r>
            <a:endParaRPr sz="6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          </a:t>
            </a:r>
            <a:r>
              <a:rPr lang="es" sz="60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id</a:t>
            </a: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: { [</a:t>
            </a:r>
            <a:r>
              <a:rPr lang="es" sz="6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sequelize</a:t>
            </a: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es" sz="60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Sequelize</a:t>
            </a: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es" sz="60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Op</a:t>
            </a: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es" sz="60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ne</a:t>
            </a: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]: </a:t>
            </a:r>
            <a:r>
              <a:rPr lang="es" sz="6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userData</a:t>
            </a: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es" sz="60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id</a:t>
            </a: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 } </a:t>
            </a:r>
            <a:r>
              <a:rPr i="1" lang="es" sz="600">
                <a:solidFill>
                  <a:srgbClr val="A05000"/>
                </a:solidFill>
                <a:latin typeface="Roboto Mono"/>
                <a:ea typeface="Roboto Mono"/>
                <a:cs typeface="Roboto Mono"/>
                <a:sym typeface="Roboto Mono"/>
              </a:rPr>
              <a:t>// Without actual user</a:t>
            </a:r>
            <a:endParaRPr sz="6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        },</a:t>
            </a:r>
            <a:endParaRPr sz="6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        </a:t>
            </a:r>
            <a:r>
              <a:rPr lang="es" sz="60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attributes</a:t>
            </a: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: [</a:t>
            </a:r>
            <a:r>
              <a:rPr lang="es" sz="6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'id'</a:t>
            </a: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],</a:t>
            </a:r>
            <a:endParaRPr sz="6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        </a:t>
            </a:r>
            <a:r>
              <a:rPr lang="es" sz="60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limit</a:t>
            </a: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es" sz="600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50</a:t>
            </a:r>
            <a:endParaRPr sz="6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      }); </a:t>
            </a:r>
            <a:r>
              <a:rPr i="1" lang="es" sz="600">
                <a:solidFill>
                  <a:srgbClr val="A05000"/>
                </a:solidFill>
                <a:latin typeface="Roboto Mono"/>
                <a:ea typeface="Roboto Mono"/>
                <a:cs typeface="Roboto Mono"/>
                <a:sym typeface="Roboto Mono"/>
              </a:rPr>
              <a:t>// Find users with similar preferences</a:t>
            </a:r>
            <a:endParaRPr sz="6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      </a:t>
            </a:r>
            <a:r>
              <a:rPr b="1" lang="es" sz="6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if</a:t>
            </a: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 (</a:t>
            </a:r>
            <a:r>
              <a:rPr lang="es" sz="6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similarUsers</a:t>
            </a: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es" sz="60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length</a:t>
            </a: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s" sz="6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===</a:t>
            </a: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600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0</a:t>
            </a: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) {</a:t>
            </a:r>
            <a:endParaRPr sz="6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        </a:t>
            </a:r>
            <a:r>
              <a:rPr b="1" lang="es" sz="6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return</a:t>
            </a: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600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0.5</a:t>
            </a: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; </a:t>
            </a:r>
            <a:r>
              <a:rPr i="1" lang="es" sz="600">
                <a:solidFill>
                  <a:srgbClr val="A05000"/>
                </a:solidFill>
                <a:latin typeface="Roboto Mono"/>
                <a:ea typeface="Roboto Mono"/>
                <a:cs typeface="Roboto Mono"/>
                <a:sym typeface="Roboto Mono"/>
              </a:rPr>
              <a:t>// Without similar users = neutral score</a:t>
            </a:r>
            <a:endParaRPr sz="6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      }</a:t>
            </a:r>
            <a:endParaRPr sz="6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	</a:t>
            </a:r>
            <a:endParaRPr sz="6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      </a:t>
            </a:r>
            <a:r>
              <a:rPr b="1" lang="es" sz="6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const</a:t>
            </a: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600">
                <a:solidFill>
                  <a:srgbClr val="0000F0"/>
                </a:solidFill>
                <a:latin typeface="Roboto Mono"/>
                <a:ea typeface="Roboto Mono"/>
                <a:cs typeface="Roboto Mono"/>
                <a:sym typeface="Roboto Mono"/>
              </a:rPr>
              <a:t>similarUserIds</a:t>
            </a: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s" sz="6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6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similarUsers</a:t>
            </a: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es" sz="60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map</a:t>
            </a: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s" sz="600">
                <a:solidFill>
                  <a:srgbClr val="0000F0"/>
                </a:solidFill>
                <a:latin typeface="Roboto Mono"/>
                <a:ea typeface="Roboto Mono"/>
                <a:cs typeface="Roboto Mono"/>
                <a:sym typeface="Roboto Mono"/>
              </a:rPr>
              <a:t>u</a:t>
            </a: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s" sz="6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=&gt;</a:t>
            </a: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600">
                <a:solidFill>
                  <a:srgbClr val="0050A0"/>
                </a:solidFill>
                <a:latin typeface="Roboto Mono"/>
                <a:ea typeface="Roboto Mono"/>
                <a:cs typeface="Roboto Mono"/>
                <a:sym typeface="Roboto Mono"/>
              </a:rPr>
              <a:t>u</a:t>
            </a: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es" sz="60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id</a:t>
            </a: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 sz="6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      </a:t>
            </a:r>
            <a:r>
              <a:rPr b="1" lang="es" sz="6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const</a:t>
            </a: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600">
                <a:solidFill>
                  <a:srgbClr val="0000F0"/>
                </a:solidFill>
                <a:latin typeface="Roboto Mono"/>
                <a:ea typeface="Roboto Mono"/>
                <a:cs typeface="Roboto Mono"/>
                <a:sym typeface="Roboto Mono"/>
              </a:rPr>
              <a:t>visitsFromSimilarUsers</a:t>
            </a: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s" sz="6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s" sz="6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await</a:t>
            </a: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6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RoomAccessHistory</a:t>
            </a: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es" sz="60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count</a:t>
            </a: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({</a:t>
            </a:r>
            <a:endParaRPr sz="6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        </a:t>
            </a:r>
            <a:r>
              <a:rPr lang="es" sz="60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where</a:t>
            </a: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: {</a:t>
            </a:r>
            <a:endParaRPr sz="6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          </a:t>
            </a:r>
            <a:r>
              <a:rPr lang="es" sz="60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userId</a:t>
            </a: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: { [</a:t>
            </a:r>
            <a:r>
              <a:rPr lang="es" sz="6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sequelize</a:t>
            </a: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es" sz="60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Sequelize</a:t>
            </a: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es" sz="60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Op</a:t>
            </a: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es" sz="60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in</a:t>
            </a: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]: </a:t>
            </a:r>
            <a:r>
              <a:rPr lang="es" sz="600">
                <a:solidFill>
                  <a:srgbClr val="0050A0"/>
                </a:solidFill>
                <a:latin typeface="Roboto Mono"/>
                <a:ea typeface="Roboto Mono"/>
                <a:cs typeface="Roboto Mono"/>
                <a:sym typeface="Roboto Mono"/>
              </a:rPr>
              <a:t>similarUserIds</a:t>
            </a: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 },</a:t>
            </a:r>
            <a:endParaRPr sz="6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          </a:t>
            </a:r>
            <a:r>
              <a:rPr lang="es" sz="60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roomId</a:t>
            </a: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es" sz="6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room</a:t>
            </a: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es" sz="60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id</a:t>
            </a: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,</a:t>
            </a:r>
            <a:endParaRPr sz="6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          </a:t>
            </a:r>
            <a:r>
              <a:rPr lang="es" sz="60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action</a:t>
            </a: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es" sz="6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'ENTER'</a:t>
            </a:r>
            <a:endParaRPr sz="6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        }</a:t>
            </a:r>
            <a:endParaRPr sz="6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      }); </a:t>
            </a:r>
            <a:r>
              <a:rPr i="1" lang="es" sz="600">
                <a:solidFill>
                  <a:srgbClr val="A05000"/>
                </a:solidFill>
                <a:latin typeface="Roboto Mono"/>
                <a:ea typeface="Roboto Mono"/>
                <a:cs typeface="Roboto Mono"/>
                <a:sym typeface="Roboto Mono"/>
              </a:rPr>
              <a:t>// Count how many users have visited THIS room</a:t>
            </a:r>
            <a:endParaRPr sz="6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      </a:t>
            </a:r>
            <a:r>
              <a:rPr i="1" lang="es" sz="600">
                <a:solidFill>
                  <a:srgbClr val="A05000"/>
                </a:solidFill>
                <a:latin typeface="Roboto Mono"/>
                <a:ea typeface="Roboto Mono"/>
                <a:cs typeface="Roboto Mono"/>
                <a:sym typeface="Roboto Mono"/>
              </a:rPr>
              <a:t>// Calculate score based on popularity among the similar users</a:t>
            </a:r>
            <a:endParaRPr sz="6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      </a:t>
            </a:r>
            <a:r>
              <a:rPr b="1" lang="es" sz="6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const</a:t>
            </a: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600">
                <a:solidFill>
                  <a:srgbClr val="0000F0"/>
                </a:solidFill>
                <a:latin typeface="Roboto Mono"/>
                <a:ea typeface="Roboto Mono"/>
                <a:cs typeface="Roboto Mono"/>
                <a:sym typeface="Roboto Mono"/>
              </a:rPr>
              <a:t>visitRateBySimiarUsers</a:t>
            </a: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s" sz="6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600">
                <a:solidFill>
                  <a:srgbClr val="0050A0"/>
                </a:solidFill>
                <a:latin typeface="Roboto Mono"/>
                <a:ea typeface="Roboto Mono"/>
                <a:cs typeface="Roboto Mono"/>
                <a:sym typeface="Roboto Mono"/>
              </a:rPr>
              <a:t>visitsFromSimilarUsers</a:t>
            </a: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s" sz="6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/</a:t>
            </a: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6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similarUsers</a:t>
            </a: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es" sz="60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length</a:t>
            </a: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6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      </a:t>
            </a:r>
            <a:r>
              <a:rPr b="1" lang="es" sz="6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if</a:t>
            </a: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 (</a:t>
            </a:r>
            <a:r>
              <a:rPr lang="es" sz="600">
                <a:solidFill>
                  <a:srgbClr val="0050A0"/>
                </a:solidFill>
                <a:latin typeface="Roboto Mono"/>
                <a:ea typeface="Roboto Mono"/>
                <a:cs typeface="Roboto Mono"/>
                <a:sym typeface="Roboto Mono"/>
              </a:rPr>
              <a:t>visitRateBySimiarUsers</a:t>
            </a: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s" sz="6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&gt;=</a:t>
            </a: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600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5</a:t>
            </a: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) </a:t>
            </a:r>
            <a:r>
              <a:rPr b="1" lang="es" sz="6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return</a:t>
            </a: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600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0.95</a:t>
            </a: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;  </a:t>
            </a:r>
            <a:r>
              <a:rPr i="1" lang="es" sz="600">
                <a:solidFill>
                  <a:srgbClr val="A05000"/>
                </a:solidFill>
                <a:latin typeface="Roboto Mono"/>
                <a:ea typeface="Roboto Mono"/>
                <a:cs typeface="Roboto Mono"/>
                <a:sym typeface="Roboto Mono"/>
              </a:rPr>
              <a:t>// Very popular (5+ visits per user)</a:t>
            </a:r>
            <a:endParaRPr sz="6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      </a:t>
            </a:r>
            <a:r>
              <a:rPr b="1" lang="es" sz="6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if</a:t>
            </a: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 (</a:t>
            </a:r>
            <a:r>
              <a:rPr lang="es" sz="600">
                <a:solidFill>
                  <a:srgbClr val="0050A0"/>
                </a:solidFill>
                <a:latin typeface="Roboto Mono"/>
                <a:ea typeface="Roboto Mono"/>
                <a:cs typeface="Roboto Mono"/>
                <a:sym typeface="Roboto Mono"/>
              </a:rPr>
              <a:t>visitRateBySimiarUsers</a:t>
            </a: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s" sz="6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&gt;=</a:t>
            </a: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600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3</a:t>
            </a: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) </a:t>
            </a:r>
            <a:r>
              <a:rPr b="1" lang="es" sz="6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return</a:t>
            </a: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600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0.85</a:t>
            </a: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;  </a:t>
            </a:r>
            <a:r>
              <a:rPr i="1" lang="es" sz="600">
                <a:solidFill>
                  <a:srgbClr val="A05000"/>
                </a:solidFill>
                <a:latin typeface="Roboto Mono"/>
                <a:ea typeface="Roboto Mono"/>
                <a:cs typeface="Roboto Mono"/>
                <a:sym typeface="Roboto Mono"/>
              </a:rPr>
              <a:t>// Popular (3-4 visits per user)</a:t>
            </a:r>
            <a:endParaRPr sz="6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      </a:t>
            </a:r>
            <a:r>
              <a:rPr b="1" lang="es" sz="6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if</a:t>
            </a: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 (</a:t>
            </a:r>
            <a:r>
              <a:rPr lang="es" sz="600">
                <a:solidFill>
                  <a:srgbClr val="0050A0"/>
                </a:solidFill>
                <a:latin typeface="Roboto Mono"/>
                <a:ea typeface="Roboto Mono"/>
                <a:cs typeface="Roboto Mono"/>
                <a:sym typeface="Roboto Mono"/>
              </a:rPr>
              <a:t>visitRateBySimiarUsers</a:t>
            </a: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s" sz="6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&gt;=</a:t>
            </a: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600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2</a:t>
            </a: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) </a:t>
            </a:r>
            <a:r>
              <a:rPr b="1" lang="es" sz="6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return</a:t>
            </a: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600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0.75</a:t>
            </a: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;  </a:t>
            </a:r>
            <a:r>
              <a:rPr i="1" lang="es" sz="600">
                <a:solidFill>
                  <a:srgbClr val="A05000"/>
                </a:solidFill>
                <a:latin typeface="Roboto Mono"/>
                <a:ea typeface="Roboto Mono"/>
                <a:cs typeface="Roboto Mono"/>
                <a:sym typeface="Roboto Mono"/>
              </a:rPr>
              <a:t>// Quite visited (2-3 visits)</a:t>
            </a:r>
            <a:endParaRPr sz="6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      </a:t>
            </a:r>
            <a:r>
              <a:rPr b="1" lang="es" sz="6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if</a:t>
            </a: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 (</a:t>
            </a:r>
            <a:r>
              <a:rPr lang="es" sz="600">
                <a:solidFill>
                  <a:srgbClr val="0050A0"/>
                </a:solidFill>
                <a:latin typeface="Roboto Mono"/>
                <a:ea typeface="Roboto Mono"/>
                <a:cs typeface="Roboto Mono"/>
                <a:sym typeface="Roboto Mono"/>
              </a:rPr>
              <a:t>visitRateBySimiarUsers</a:t>
            </a: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s" sz="6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&gt;=</a:t>
            </a: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600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1</a:t>
            </a: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) </a:t>
            </a:r>
            <a:r>
              <a:rPr b="1" lang="es" sz="6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return</a:t>
            </a: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600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0.65</a:t>
            </a: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;  </a:t>
            </a:r>
            <a:r>
              <a:rPr i="1" lang="es" sz="600">
                <a:solidFill>
                  <a:srgbClr val="A05000"/>
                </a:solidFill>
                <a:latin typeface="Roboto Mono"/>
                <a:ea typeface="Roboto Mono"/>
                <a:cs typeface="Roboto Mono"/>
                <a:sym typeface="Roboto Mono"/>
              </a:rPr>
              <a:t>// Moderately  visited (1-2 visits)</a:t>
            </a:r>
            <a:endParaRPr sz="6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      </a:t>
            </a:r>
            <a:r>
              <a:rPr b="1" lang="es" sz="6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if</a:t>
            </a: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 (</a:t>
            </a:r>
            <a:r>
              <a:rPr lang="es" sz="600">
                <a:solidFill>
                  <a:srgbClr val="0050A0"/>
                </a:solidFill>
                <a:latin typeface="Roboto Mono"/>
                <a:ea typeface="Roboto Mono"/>
                <a:cs typeface="Roboto Mono"/>
                <a:sym typeface="Roboto Mono"/>
              </a:rPr>
              <a:t>visitRateBySimiarUsers</a:t>
            </a: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s" sz="6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&gt;=</a:t>
            </a: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600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0.5</a:t>
            </a: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) </a:t>
            </a:r>
            <a:r>
              <a:rPr b="1" lang="es" sz="6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return</a:t>
            </a: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600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0.55</a:t>
            </a: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; </a:t>
            </a:r>
            <a:r>
              <a:rPr i="1" lang="es" sz="600">
                <a:solidFill>
                  <a:srgbClr val="A05000"/>
                </a:solidFill>
                <a:latin typeface="Roboto Mono"/>
                <a:ea typeface="Roboto Mono"/>
                <a:cs typeface="Roboto Mono"/>
                <a:sym typeface="Roboto Mono"/>
              </a:rPr>
              <a:t>// Somewhat visited (0.5-1 visits)</a:t>
            </a:r>
            <a:endParaRPr sz="6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      </a:t>
            </a:r>
            <a:r>
              <a:rPr b="1" lang="es" sz="6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return</a:t>
            </a: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600">
                <a:solidFill>
                  <a:srgbClr val="0050A0"/>
                </a:solidFill>
                <a:latin typeface="Roboto Mono"/>
                <a:ea typeface="Roboto Mono"/>
                <a:cs typeface="Roboto Mono"/>
                <a:sym typeface="Roboto Mono"/>
              </a:rPr>
              <a:t>visitsFromSimilarUsers</a:t>
            </a: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s" sz="6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600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0</a:t>
            </a: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s" sz="6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?</a:t>
            </a: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600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0.45</a:t>
            </a: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 : </a:t>
            </a:r>
            <a:r>
              <a:rPr lang="es" sz="600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0.3</a:t>
            </a: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; </a:t>
            </a:r>
            <a:r>
              <a:rPr i="1" lang="es" sz="600">
                <a:solidFill>
                  <a:srgbClr val="A05000"/>
                </a:solidFill>
                <a:latin typeface="Roboto Mono"/>
                <a:ea typeface="Roboto Mono"/>
                <a:cs typeface="Roboto Mono"/>
                <a:sym typeface="Roboto Mono"/>
              </a:rPr>
              <a:t>// No user have visited → low score</a:t>
            </a:r>
            <a:endParaRPr sz="6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  }</a:t>
            </a:r>
            <a:endParaRPr sz="60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63" name="Google Shape;363;p39"/>
          <p:cNvSpPr txBox="1"/>
          <p:nvPr>
            <p:ph type="title"/>
          </p:nvPr>
        </p:nvSpPr>
        <p:spPr>
          <a:xfrm>
            <a:off x="582768" y="384025"/>
            <a:ext cx="38652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2700" marR="5080" rtl="0" algn="just">
              <a:lnSpc>
                <a:spcPct val="10812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1" lang="es" sz="2700">
                <a:latin typeface="Times New Roman"/>
                <a:ea typeface="Times New Roman"/>
                <a:cs typeface="Times New Roman"/>
                <a:sym typeface="Times New Roman"/>
              </a:rPr>
              <a:t>Inference Phase (III)</a:t>
            </a:r>
            <a:endParaRPr b="1" i="1" sz="2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5080" rtl="0" algn="just">
              <a:lnSpc>
                <a:spcPct val="10812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1" i="1" sz="2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4" name="Google Shape;364;p39"/>
          <p:cNvSpPr/>
          <p:nvPr/>
        </p:nvSpPr>
        <p:spPr>
          <a:xfrm>
            <a:off x="4481679" y="2752200"/>
            <a:ext cx="413700" cy="35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latin typeface="Calibri"/>
                <a:ea typeface="Calibri"/>
                <a:cs typeface="Calibri"/>
                <a:sym typeface="Calibri"/>
              </a:rPr>
              <a:t>3</a:t>
            </a:r>
            <a:endParaRPr b="1" sz="15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40"/>
          <p:cNvSpPr txBox="1"/>
          <p:nvPr>
            <p:ph type="title"/>
          </p:nvPr>
        </p:nvSpPr>
        <p:spPr>
          <a:xfrm>
            <a:off x="582768" y="384025"/>
            <a:ext cx="38652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2700" marR="5080" rtl="0" algn="just">
              <a:lnSpc>
                <a:spcPct val="10812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1" lang="es" sz="2700">
                <a:latin typeface="Times New Roman"/>
                <a:ea typeface="Times New Roman"/>
                <a:cs typeface="Times New Roman"/>
                <a:sym typeface="Times New Roman"/>
              </a:rPr>
              <a:t>Inference Phase (IV)</a:t>
            </a:r>
            <a:endParaRPr b="1" i="1" sz="2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5080" rtl="0" algn="just">
              <a:lnSpc>
                <a:spcPct val="10812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1" i="1" sz="2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70" name="Google Shape;370;p40"/>
          <p:cNvPicPr preferRelativeResize="0"/>
          <p:nvPr/>
        </p:nvPicPr>
        <p:blipFill rotWithShape="1">
          <a:blip r:embed="rId3">
            <a:alphaModFix/>
          </a:blip>
          <a:srcRect b="16105" l="17335" r="16755" t="16112"/>
          <a:stretch/>
        </p:blipFill>
        <p:spPr>
          <a:xfrm>
            <a:off x="8582093" y="216279"/>
            <a:ext cx="348925" cy="358851"/>
          </a:xfrm>
          <a:prstGeom prst="rect">
            <a:avLst/>
          </a:prstGeom>
          <a:noFill/>
          <a:ln>
            <a:noFill/>
          </a:ln>
        </p:spPr>
      </p:pic>
      <p:sp>
        <p:nvSpPr>
          <p:cNvPr id="371" name="Google Shape;371;p40"/>
          <p:cNvSpPr txBox="1"/>
          <p:nvPr/>
        </p:nvSpPr>
        <p:spPr>
          <a:xfrm>
            <a:off x="395575" y="1032866"/>
            <a:ext cx="4239600" cy="17271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calculateAvailabilityScore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s" sz="75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room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) {</a:t>
            </a:r>
            <a:endParaRPr sz="75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b="1" lang="es" sz="75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if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(</a:t>
            </a:r>
            <a:r>
              <a:rPr lang="es" sz="75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room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es" sz="75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currentOccupancy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s" sz="75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&gt;=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75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room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es" sz="75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capacity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) {</a:t>
            </a:r>
            <a:endParaRPr sz="75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     </a:t>
            </a:r>
            <a:r>
              <a:rPr b="1" lang="es" sz="75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return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750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0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; </a:t>
            </a:r>
            <a:r>
              <a:rPr i="1" lang="es" sz="750">
                <a:solidFill>
                  <a:srgbClr val="A05000"/>
                </a:solidFill>
                <a:latin typeface="Roboto Mono"/>
                <a:ea typeface="Roboto Mono"/>
                <a:cs typeface="Roboto Mono"/>
                <a:sym typeface="Roboto Mono"/>
              </a:rPr>
              <a:t>// Full room capacity</a:t>
            </a:r>
            <a:endParaRPr sz="75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   }</a:t>
            </a:r>
            <a:endParaRPr sz="75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5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b="1" lang="es" sz="75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const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750">
                <a:solidFill>
                  <a:srgbClr val="0000F0"/>
                </a:solidFill>
                <a:latin typeface="Roboto Mono"/>
                <a:ea typeface="Roboto Mono"/>
                <a:cs typeface="Roboto Mono"/>
                <a:sym typeface="Roboto Mono"/>
              </a:rPr>
              <a:t>occupancyRate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s" sz="75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75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room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es" sz="75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currentOccupancy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s" sz="75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/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75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room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es" sz="75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capacity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75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5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i="1" lang="es" sz="750">
                <a:solidFill>
                  <a:srgbClr val="A05000"/>
                </a:solidFill>
                <a:latin typeface="Roboto Mono"/>
                <a:ea typeface="Roboto Mono"/>
                <a:cs typeface="Roboto Mono"/>
                <a:sym typeface="Roboto Mono"/>
              </a:rPr>
              <a:t>// Want rooms with low capacity</a:t>
            </a:r>
            <a:endParaRPr sz="75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b="1" lang="es" sz="75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if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(</a:t>
            </a:r>
            <a:r>
              <a:rPr lang="es" sz="750">
                <a:solidFill>
                  <a:srgbClr val="0050A0"/>
                </a:solidFill>
                <a:latin typeface="Roboto Mono"/>
                <a:ea typeface="Roboto Mono"/>
                <a:cs typeface="Roboto Mono"/>
                <a:sym typeface="Roboto Mono"/>
              </a:rPr>
              <a:t>occupancyRate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s" sz="75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&lt;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750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0.3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) </a:t>
            </a:r>
            <a:r>
              <a:rPr b="1" lang="es" sz="75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return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750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1.0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;    </a:t>
            </a:r>
            <a:r>
              <a:rPr i="1" lang="es" sz="750">
                <a:solidFill>
                  <a:srgbClr val="A05000"/>
                </a:solidFill>
                <a:latin typeface="Roboto Mono"/>
                <a:ea typeface="Roboto Mono"/>
                <a:cs typeface="Roboto Mono"/>
                <a:sym typeface="Roboto Mono"/>
              </a:rPr>
              <a:t>// Very available</a:t>
            </a:r>
            <a:endParaRPr sz="75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b="1" lang="es" sz="75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if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(</a:t>
            </a:r>
            <a:r>
              <a:rPr lang="es" sz="750">
                <a:solidFill>
                  <a:srgbClr val="0050A0"/>
                </a:solidFill>
                <a:latin typeface="Roboto Mono"/>
                <a:ea typeface="Roboto Mono"/>
                <a:cs typeface="Roboto Mono"/>
                <a:sym typeface="Roboto Mono"/>
              </a:rPr>
              <a:t>occupancyRate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s" sz="75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&lt;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750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0.5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) </a:t>
            </a:r>
            <a:r>
              <a:rPr b="1" lang="es" sz="75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return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750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0.85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;   </a:t>
            </a:r>
            <a:r>
              <a:rPr i="1" lang="es" sz="750">
                <a:solidFill>
                  <a:srgbClr val="A05000"/>
                </a:solidFill>
                <a:latin typeface="Roboto Mono"/>
                <a:ea typeface="Roboto Mono"/>
                <a:cs typeface="Roboto Mono"/>
                <a:sym typeface="Roboto Mono"/>
              </a:rPr>
              <a:t>// High availability</a:t>
            </a:r>
            <a:endParaRPr sz="75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b="1" lang="es" sz="75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if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(</a:t>
            </a:r>
            <a:r>
              <a:rPr lang="es" sz="750">
                <a:solidFill>
                  <a:srgbClr val="0050A0"/>
                </a:solidFill>
                <a:latin typeface="Roboto Mono"/>
                <a:ea typeface="Roboto Mono"/>
                <a:cs typeface="Roboto Mono"/>
                <a:sym typeface="Roboto Mono"/>
              </a:rPr>
              <a:t>occupancyRate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s" sz="75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&lt;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750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0.7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) </a:t>
            </a:r>
            <a:r>
              <a:rPr b="1" lang="es" sz="75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return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750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0.6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;    </a:t>
            </a:r>
            <a:r>
              <a:rPr i="1" lang="es" sz="750">
                <a:solidFill>
                  <a:srgbClr val="A05000"/>
                </a:solidFill>
                <a:latin typeface="Roboto Mono"/>
                <a:ea typeface="Roboto Mono"/>
                <a:cs typeface="Roboto Mono"/>
                <a:sym typeface="Roboto Mono"/>
              </a:rPr>
              <a:t>// Media availability</a:t>
            </a:r>
            <a:endParaRPr sz="75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b="1" lang="es" sz="75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if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(</a:t>
            </a:r>
            <a:r>
              <a:rPr lang="es" sz="750">
                <a:solidFill>
                  <a:srgbClr val="0050A0"/>
                </a:solidFill>
                <a:latin typeface="Roboto Mono"/>
                <a:ea typeface="Roboto Mono"/>
                <a:cs typeface="Roboto Mono"/>
                <a:sym typeface="Roboto Mono"/>
              </a:rPr>
              <a:t>occupancyRate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s" sz="75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&lt;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750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0.9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) </a:t>
            </a:r>
            <a:r>
              <a:rPr b="1" lang="es" sz="75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return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750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0.3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;    </a:t>
            </a:r>
            <a:r>
              <a:rPr i="1" lang="es" sz="750">
                <a:solidFill>
                  <a:srgbClr val="A05000"/>
                </a:solidFill>
                <a:latin typeface="Roboto Mono"/>
                <a:ea typeface="Roboto Mono"/>
                <a:cs typeface="Roboto Mono"/>
                <a:sym typeface="Roboto Mono"/>
              </a:rPr>
              <a:t>// Low availability</a:t>
            </a:r>
            <a:endParaRPr sz="75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b="1" lang="es" sz="75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return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750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0.1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;                             </a:t>
            </a:r>
            <a:r>
              <a:rPr i="1" lang="es" sz="750">
                <a:solidFill>
                  <a:srgbClr val="A05000"/>
                </a:solidFill>
                <a:latin typeface="Roboto Mono"/>
                <a:ea typeface="Roboto Mono"/>
                <a:cs typeface="Roboto Mono"/>
                <a:sym typeface="Roboto Mono"/>
              </a:rPr>
              <a:t>// Almost full</a:t>
            </a:r>
            <a:endParaRPr sz="75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75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72" name="Google Shape;372;p40"/>
          <p:cNvSpPr txBox="1"/>
          <p:nvPr/>
        </p:nvSpPr>
        <p:spPr>
          <a:xfrm>
            <a:off x="396175" y="2815342"/>
            <a:ext cx="4239600" cy="2065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calculateCapacityScore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s" sz="75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room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s" sz="75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preferences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) {</a:t>
            </a:r>
            <a:endParaRPr sz="75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b="1" lang="es" sz="75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const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750">
                <a:solidFill>
                  <a:srgbClr val="0000F0"/>
                </a:solidFill>
                <a:latin typeface="Roboto Mono"/>
                <a:ea typeface="Roboto Mono"/>
                <a:cs typeface="Roboto Mono"/>
                <a:sym typeface="Roboto Mono"/>
              </a:rPr>
              <a:t>preferredCapacity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s" sz="75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75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preferences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es" sz="75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preferredCapacity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75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5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b="1" lang="es" sz="75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if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(</a:t>
            </a:r>
            <a:r>
              <a:rPr b="1" lang="es" sz="75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!</a:t>
            </a:r>
            <a:r>
              <a:rPr lang="es" sz="750">
                <a:solidFill>
                  <a:srgbClr val="0050A0"/>
                </a:solidFill>
                <a:latin typeface="Roboto Mono"/>
                <a:ea typeface="Roboto Mono"/>
                <a:cs typeface="Roboto Mono"/>
                <a:sym typeface="Roboto Mono"/>
              </a:rPr>
              <a:t>preferredCapacity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) </a:t>
            </a:r>
            <a:r>
              <a:rPr b="1" lang="es" sz="75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return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750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0.5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75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5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b="1" lang="es" sz="75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const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750">
                <a:solidFill>
                  <a:srgbClr val="0000F0"/>
                </a:solidFill>
                <a:latin typeface="Roboto Mono"/>
                <a:ea typeface="Roboto Mono"/>
                <a:cs typeface="Roboto Mono"/>
                <a:sym typeface="Roboto Mono"/>
              </a:rPr>
              <a:t>capacity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s" sz="75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75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room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es" sz="75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capacity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75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5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b="1" lang="es" sz="75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if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(</a:t>
            </a:r>
            <a:r>
              <a:rPr lang="es" sz="750">
                <a:solidFill>
                  <a:srgbClr val="0050A0"/>
                </a:solidFill>
                <a:latin typeface="Roboto Mono"/>
                <a:ea typeface="Roboto Mono"/>
                <a:cs typeface="Roboto Mono"/>
                <a:sym typeface="Roboto Mono"/>
              </a:rPr>
              <a:t>preferredCapacity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s" sz="75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===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75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'small'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) {</a:t>
            </a:r>
            <a:endParaRPr sz="75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     </a:t>
            </a:r>
            <a:r>
              <a:rPr b="1" lang="es" sz="75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if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(</a:t>
            </a:r>
            <a:r>
              <a:rPr lang="es" sz="750">
                <a:solidFill>
                  <a:srgbClr val="0050A0"/>
                </a:solidFill>
                <a:latin typeface="Roboto Mono"/>
                <a:ea typeface="Roboto Mono"/>
                <a:cs typeface="Roboto Mono"/>
                <a:sym typeface="Roboto Mono"/>
              </a:rPr>
              <a:t>capacity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s" sz="75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&lt;=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750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15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) </a:t>
            </a:r>
            <a:r>
              <a:rPr b="1" lang="es" sz="75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return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750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1.0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75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     </a:t>
            </a:r>
            <a:r>
              <a:rPr b="1" lang="es" sz="75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if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(</a:t>
            </a:r>
            <a:r>
              <a:rPr lang="es" sz="750">
                <a:solidFill>
                  <a:srgbClr val="0050A0"/>
                </a:solidFill>
                <a:latin typeface="Roboto Mono"/>
                <a:ea typeface="Roboto Mono"/>
                <a:cs typeface="Roboto Mono"/>
                <a:sym typeface="Roboto Mono"/>
              </a:rPr>
              <a:t>capacity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s" sz="75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&lt;=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750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20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) </a:t>
            </a:r>
            <a:r>
              <a:rPr b="1" lang="es" sz="75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return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750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0.7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75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     </a:t>
            </a:r>
            <a:r>
              <a:rPr b="1" lang="es" sz="75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if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(</a:t>
            </a:r>
            <a:r>
              <a:rPr lang="es" sz="750">
                <a:solidFill>
                  <a:srgbClr val="0050A0"/>
                </a:solidFill>
                <a:latin typeface="Roboto Mono"/>
                <a:ea typeface="Roboto Mono"/>
                <a:cs typeface="Roboto Mono"/>
                <a:sym typeface="Roboto Mono"/>
              </a:rPr>
              <a:t>capacity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s" sz="75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&lt;=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750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30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) </a:t>
            </a:r>
            <a:r>
              <a:rPr b="1" lang="es" sz="75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return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750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0.4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75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     </a:t>
            </a:r>
            <a:r>
              <a:rPr b="1" lang="es" sz="75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return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750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0.2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75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   }</a:t>
            </a:r>
            <a:endParaRPr sz="75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 </a:t>
            </a:r>
            <a:endParaRPr sz="75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   .  .  .   	 </a:t>
            </a:r>
            <a:r>
              <a:rPr i="1" lang="es" sz="750">
                <a:solidFill>
                  <a:srgbClr val="A05000"/>
                </a:solidFill>
                <a:latin typeface="Roboto Mono"/>
                <a:ea typeface="Roboto Mono"/>
                <a:cs typeface="Roboto Mono"/>
                <a:sym typeface="Roboto Mono"/>
              </a:rPr>
              <a:t>// Same with medium and large size rooms</a:t>
            </a:r>
            <a:endParaRPr sz="75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  </a:t>
            </a:r>
            <a:r>
              <a:rPr lang="es" sz="75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return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750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0.5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;   </a:t>
            </a:r>
            <a:r>
              <a:rPr i="1" lang="es" sz="750">
                <a:solidFill>
                  <a:srgbClr val="A05000"/>
                </a:solidFill>
                <a:latin typeface="Roboto Mono"/>
                <a:ea typeface="Roboto Mono"/>
                <a:cs typeface="Roboto Mono"/>
                <a:sym typeface="Roboto Mono"/>
              </a:rPr>
              <a:t>// Neutral score </a:t>
            </a:r>
            <a:endParaRPr sz="75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75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73" name="Google Shape;373;p40"/>
          <p:cNvSpPr txBox="1"/>
          <p:nvPr/>
        </p:nvSpPr>
        <p:spPr>
          <a:xfrm>
            <a:off x="4697235" y="236025"/>
            <a:ext cx="3865200" cy="4644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6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async</a:t>
            </a: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6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calculateTemporalScore</a:t>
            </a: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s" sz="6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room</a:t>
            </a: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s" sz="6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userData</a:t>
            </a: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s" sz="6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preferences</a:t>
            </a: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) {</a:t>
            </a:r>
            <a:endParaRPr sz="6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b="1" lang="es" sz="6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const</a:t>
            </a: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600">
                <a:solidFill>
                  <a:srgbClr val="0000F0"/>
                </a:solidFill>
                <a:latin typeface="Roboto Mono"/>
                <a:ea typeface="Roboto Mono"/>
                <a:cs typeface="Roboto Mono"/>
                <a:sym typeface="Roboto Mono"/>
              </a:rPr>
              <a:t>now</a:t>
            </a: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s" sz="6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s" sz="6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new</a:t>
            </a: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6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Date</a:t>
            </a: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s" sz="6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Date</a:t>
            </a: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es" sz="60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now</a:t>
            </a: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());</a:t>
            </a:r>
            <a:endParaRPr sz="6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b="1" lang="es" sz="6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const</a:t>
            </a: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600">
                <a:solidFill>
                  <a:srgbClr val="0000F0"/>
                </a:solidFill>
                <a:latin typeface="Roboto Mono"/>
                <a:ea typeface="Roboto Mono"/>
                <a:cs typeface="Roboto Mono"/>
                <a:sym typeface="Roboto Mono"/>
              </a:rPr>
              <a:t>currentHour</a:t>
            </a: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s" sz="6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600">
                <a:solidFill>
                  <a:srgbClr val="0050A0"/>
                </a:solidFill>
                <a:latin typeface="Roboto Mono"/>
                <a:ea typeface="Roboto Mono"/>
                <a:cs typeface="Roboto Mono"/>
                <a:sym typeface="Roboto Mono"/>
              </a:rPr>
              <a:t>now</a:t>
            </a: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es" sz="60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getHours</a:t>
            </a: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();</a:t>
            </a:r>
            <a:endParaRPr sz="6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b="1" lang="es" sz="6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const</a:t>
            </a: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600">
                <a:solidFill>
                  <a:srgbClr val="0000F0"/>
                </a:solidFill>
                <a:latin typeface="Roboto Mono"/>
                <a:ea typeface="Roboto Mono"/>
                <a:cs typeface="Roboto Mono"/>
                <a:sym typeface="Roboto Mono"/>
              </a:rPr>
              <a:t>currentDay</a:t>
            </a: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s" sz="6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600">
                <a:solidFill>
                  <a:srgbClr val="0050A0"/>
                </a:solidFill>
                <a:latin typeface="Roboto Mono"/>
                <a:ea typeface="Roboto Mono"/>
                <a:cs typeface="Roboto Mono"/>
                <a:sym typeface="Roboto Mono"/>
              </a:rPr>
              <a:t>now</a:t>
            </a: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es" sz="60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getDay</a:t>
            </a: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(); </a:t>
            </a:r>
            <a:r>
              <a:rPr i="1" lang="es" sz="600">
                <a:solidFill>
                  <a:srgbClr val="A05000"/>
                </a:solidFill>
                <a:latin typeface="Roboto Mono"/>
                <a:ea typeface="Roboto Mono"/>
                <a:cs typeface="Roboto Mono"/>
                <a:sym typeface="Roboto Mono"/>
              </a:rPr>
              <a:t>// 0 = Sunday, 6 = Saturday</a:t>
            </a:r>
            <a:endParaRPr sz="6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b="1" lang="es" sz="6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let</a:t>
            </a: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600">
                <a:solidFill>
                  <a:srgbClr val="0000F0"/>
                </a:solidFill>
                <a:latin typeface="Roboto Mono"/>
                <a:ea typeface="Roboto Mono"/>
                <a:cs typeface="Roboto Mono"/>
                <a:sym typeface="Roboto Mono"/>
              </a:rPr>
              <a:t>score</a:t>
            </a: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s" sz="6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600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0.1</a:t>
            </a: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; </a:t>
            </a:r>
            <a:r>
              <a:rPr i="1" lang="es" sz="600">
                <a:solidFill>
                  <a:srgbClr val="A05000"/>
                </a:solidFill>
                <a:latin typeface="Roboto Mono"/>
                <a:ea typeface="Roboto Mono"/>
                <a:cs typeface="Roboto Mono"/>
                <a:sym typeface="Roboto Mono"/>
              </a:rPr>
              <a:t>// Give </a:t>
            </a:r>
            <a:r>
              <a:rPr i="1" lang="es" sz="600">
                <a:solidFill>
                  <a:srgbClr val="A05000"/>
                </a:solidFill>
                <a:latin typeface="Roboto Mono"/>
                <a:ea typeface="Roboto Mono"/>
                <a:cs typeface="Roboto Mono"/>
                <a:sym typeface="Roboto Mono"/>
              </a:rPr>
              <a:t>importance to the pattern</a:t>
            </a:r>
            <a:endParaRPr sz="6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b="1" lang="es" sz="6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let</a:t>
            </a: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600">
                <a:solidFill>
                  <a:srgbClr val="0000F0"/>
                </a:solidFill>
                <a:latin typeface="Roboto Mono"/>
                <a:ea typeface="Roboto Mono"/>
                <a:cs typeface="Roboto Mono"/>
                <a:sym typeface="Roboto Mono"/>
              </a:rPr>
              <a:t>hasTimePattern</a:t>
            </a: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s" sz="6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600">
                <a:solidFill>
                  <a:srgbClr val="201090"/>
                </a:solidFill>
                <a:latin typeface="Roboto Mono"/>
                <a:ea typeface="Roboto Mono"/>
                <a:cs typeface="Roboto Mono"/>
                <a:sym typeface="Roboto Mono"/>
              </a:rPr>
              <a:t>false</a:t>
            </a: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;   </a:t>
            </a:r>
            <a:r>
              <a:rPr b="1" lang="es" sz="6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let</a:t>
            </a: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600">
                <a:solidFill>
                  <a:srgbClr val="0000F0"/>
                </a:solidFill>
                <a:latin typeface="Roboto Mono"/>
                <a:ea typeface="Roboto Mono"/>
                <a:cs typeface="Roboto Mono"/>
                <a:sym typeface="Roboto Mono"/>
              </a:rPr>
              <a:t>currentTimeSlot</a:t>
            </a: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s" sz="6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600">
                <a:solidFill>
                  <a:srgbClr val="201090"/>
                </a:solidFill>
                <a:latin typeface="Roboto Mono"/>
                <a:ea typeface="Roboto Mono"/>
                <a:cs typeface="Roboto Mono"/>
                <a:sym typeface="Roboto Mono"/>
              </a:rPr>
              <a:t>null</a:t>
            </a: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;   </a:t>
            </a:r>
            <a:r>
              <a:rPr b="1" lang="es" sz="6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let</a:t>
            </a: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600">
                <a:solidFill>
                  <a:srgbClr val="0000F0"/>
                </a:solidFill>
                <a:latin typeface="Roboto Mono"/>
                <a:ea typeface="Roboto Mono"/>
                <a:cs typeface="Roboto Mono"/>
                <a:sym typeface="Roboto Mono"/>
              </a:rPr>
              <a:t>visitRateInSlot</a:t>
            </a: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s" sz="6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600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0</a:t>
            </a: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; </a:t>
            </a:r>
            <a:r>
              <a:rPr b="1" lang="es" sz="6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let</a:t>
            </a: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600">
                <a:solidFill>
                  <a:srgbClr val="0000F0"/>
                </a:solidFill>
                <a:latin typeface="Roboto Mono"/>
                <a:ea typeface="Roboto Mono"/>
                <a:cs typeface="Roboto Mono"/>
                <a:sym typeface="Roboto Mono"/>
              </a:rPr>
              <a:t>visitsInTimeSlot</a:t>
            </a: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s" sz="6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600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0</a:t>
            </a: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5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   </a:t>
            </a:r>
            <a:endParaRPr sz="6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b="1" lang="es" sz="6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if</a:t>
            </a: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 (</a:t>
            </a:r>
            <a:r>
              <a:rPr lang="es" sz="6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userData</a:t>
            </a: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s" sz="6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&amp;&amp;</a:t>
            </a: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6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userData</a:t>
            </a: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es" sz="60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id</a:t>
            </a: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) {</a:t>
            </a:r>
            <a:endParaRPr sz="6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      </a:t>
            </a:r>
            <a:r>
              <a:rPr b="1" lang="es" sz="6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try</a:t>
            </a: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 {</a:t>
            </a:r>
            <a:endParaRPr sz="6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        </a:t>
            </a:r>
            <a:r>
              <a:rPr b="1" lang="es" sz="6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const</a:t>
            </a: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 { </a:t>
            </a:r>
            <a:r>
              <a:rPr lang="es" sz="600">
                <a:solidFill>
                  <a:srgbClr val="0000F0"/>
                </a:solidFill>
                <a:latin typeface="Roboto Mono"/>
                <a:ea typeface="Roboto Mono"/>
                <a:cs typeface="Roboto Mono"/>
                <a:sym typeface="Roboto Mono"/>
              </a:rPr>
              <a:t>RoomAccessHistory</a:t>
            </a: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 } </a:t>
            </a:r>
            <a:r>
              <a:rPr b="1" lang="es" sz="6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6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require</a:t>
            </a: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s" sz="6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'../models'</a:t>
            </a: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 sz="6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        </a:t>
            </a:r>
            <a:r>
              <a:rPr b="1" lang="es" sz="6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if</a:t>
            </a: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 (</a:t>
            </a:r>
            <a:r>
              <a:rPr lang="es" sz="600">
                <a:solidFill>
                  <a:srgbClr val="0050A0"/>
                </a:solidFill>
                <a:latin typeface="Roboto Mono"/>
                <a:ea typeface="Roboto Mono"/>
                <a:cs typeface="Roboto Mono"/>
                <a:sym typeface="Roboto Mono"/>
              </a:rPr>
              <a:t>RoomAccessHistory</a:t>
            </a: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) {</a:t>
            </a:r>
            <a:endParaRPr sz="6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          </a:t>
            </a:r>
            <a:r>
              <a:rPr b="1" lang="es" sz="6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const</a:t>
            </a: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600">
                <a:solidFill>
                  <a:srgbClr val="0000F0"/>
                </a:solidFill>
                <a:latin typeface="Roboto Mono"/>
                <a:ea typeface="Roboto Mono"/>
                <a:cs typeface="Roboto Mono"/>
                <a:sym typeface="Roboto Mono"/>
              </a:rPr>
              <a:t>visits</a:t>
            </a: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s" sz="6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s" sz="6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await</a:t>
            </a: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600">
                <a:solidFill>
                  <a:srgbClr val="0050A0"/>
                </a:solidFill>
                <a:latin typeface="Roboto Mono"/>
                <a:ea typeface="Roboto Mono"/>
                <a:cs typeface="Roboto Mono"/>
                <a:sym typeface="Roboto Mono"/>
              </a:rPr>
              <a:t>RoomAccessHistory</a:t>
            </a: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es" sz="60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findAll</a:t>
            </a: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({</a:t>
            </a:r>
            <a:endParaRPr sz="6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            </a:t>
            </a:r>
            <a:r>
              <a:rPr lang="es" sz="60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where</a:t>
            </a: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: {</a:t>
            </a:r>
            <a:endParaRPr sz="6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              </a:t>
            </a:r>
            <a:r>
              <a:rPr lang="es" sz="60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userId</a:t>
            </a: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es" sz="6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userData</a:t>
            </a: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es" sz="60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id</a:t>
            </a: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,</a:t>
            </a:r>
            <a:endParaRPr sz="6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              </a:t>
            </a:r>
            <a:r>
              <a:rPr lang="es" sz="60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roomId</a:t>
            </a: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es" sz="6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room</a:t>
            </a: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es" sz="60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id</a:t>
            </a: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,</a:t>
            </a:r>
            <a:endParaRPr sz="6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              </a:t>
            </a:r>
            <a:r>
              <a:rPr lang="es" sz="60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action</a:t>
            </a: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es" sz="6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'ENTER'</a:t>
            </a:r>
            <a:endParaRPr sz="6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            },</a:t>
            </a:r>
            <a:endParaRPr sz="6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            </a:t>
            </a:r>
            <a:r>
              <a:rPr lang="es" sz="60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attributes</a:t>
            </a: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: [</a:t>
            </a:r>
            <a:r>
              <a:rPr lang="es" sz="6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'createdAt'</a:t>
            </a: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s" sz="6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'timestamp'</a:t>
            </a: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],</a:t>
            </a:r>
            <a:endParaRPr sz="6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            </a:t>
            </a:r>
            <a:r>
              <a:rPr lang="es" sz="60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limit</a:t>
            </a: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es" sz="600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50</a:t>
            </a:r>
            <a:endParaRPr sz="6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          }); </a:t>
            </a:r>
            <a:r>
              <a:rPr i="1" lang="es" sz="600">
                <a:solidFill>
                  <a:srgbClr val="A05000"/>
                </a:solidFill>
                <a:latin typeface="Roboto Mono"/>
                <a:ea typeface="Roboto Mono"/>
                <a:cs typeface="Roboto Mono"/>
                <a:sym typeface="Roboto Mono"/>
              </a:rPr>
              <a:t>/</a:t>
            </a:r>
            <a:r>
              <a:rPr i="1" lang="es" sz="600">
                <a:solidFill>
                  <a:srgbClr val="A05000"/>
                </a:solidFill>
                <a:latin typeface="Roboto Mono"/>
                <a:ea typeface="Roboto Mono"/>
                <a:cs typeface="Roboto Mono"/>
                <a:sym typeface="Roboto Mono"/>
              </a:rPr>
              <a:t>/ Retrieve previous visits from this room</a:t>
            </a:r>
            <a:endParaRPr sz="6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         </a:t>
            </a:r>
            <a:r>
              <a:rPr i="1" lang="es" sz="600">
                <a:solidFill>
                  <a:srgbClr val="A05000"/>
                </a:solidFill>
                <a:latin typeface="Roboto Mono"/>
                <a:ea typeface="Roboto Mono"/>
                <a:cs typeface="Roboto Mono"/>
                <a:sym typeface="Roboto Mono"/>
              </a:rPr>
              <a:t>// Analyze at what times this room is visited</a:t>
            </a:r>
            <a:endParaRPr sz="6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         </a:t>
            </a:r>
            <a:r>
              <a:rPr i="1" lang="es" sz="600">
                <a:solidFill>
                  <a:srgbClr val="A05000"/>
                </a:solidFill>
                <a:latin typeface="Roboto Mono"/>
                <a:ea typeface="Roboto Mono"/>
                <a:cs typeface="Roboto Mono"/>
                <a:sym typeface="Roboto Mono"/>
              </a:rPr>
              <a:t>// Determine the current time slot of the day</a:t>
            </a:r>
            <a:endParaRPr sz="6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         </a:t>
            </a:r>
            <a:r>
              <a:rPr i="1" lang="es" sz="600">
                <a:solidFill>
                  <a:srgbClr val="A05000"/>
                </a:solidFill>
                <a:latin typeface="Roboto Mono"/>
                <a:ea typeface="Roboto Mono"/>
                <a:cs typeface="Roboto Mono"/>
                <a:sym typeface="Roboto Mono"/>
              </a:rPr>
              <a:t>// morning: 6-11, afternoon: 12-17, evening: 18-23, night: 0-5</a:t>
            </a:r>
            <a:endParaRPr sz="6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            . . .</a:t>
            </a:r>
            <a:endParaRPr sz="6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         </a:t>
            </a:r>
            <a:r>
              <a:rPr i="1" lang="es" sz="600">
                <a:solidFill>
                  <a:srgbClr val="A05000"/>
                </a:solidFill>
                <a:latin typeface="Roboto Mono"/>
                <a:ea typeface="Roboto Mono"/>
                <a:cs typeface="Roboto Mono"/>
                <a:sym typeface="Roboto Mono"/>
              </a:rPr>
              <a:t>// Count visits from the same part of the day (morning/afternoon/evening)</a:t>
            </a:r>
            <a:endParaRPr sz="6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            </a:t>
            </a: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. . .</a:t>
            </a:r>
            <a:endParaRPr sz="6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            </a:t>
            </a:r>
            <a:r>
              <a:rPr i="1" lang="es" sz="600">
                <a:solidFill>
                  <a:srgbClr val="A05000"/>
                </a:solidFill>
                <a:latin typeface="Roboto Mono"/>
                <a:ea typeface="Roboto Mono"/>
                <a:cs typeface="Roboto Mono"/>
                <a:sym typeface="Roboto Mono"/>
              </a:rPr>
              <a:t>// Percentage calculation</a:t>
            </a:r>
            <a:endParaRPr sz="6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            </a:t>
            </a:r>
            <a:r>
              <a:rPr lang="es" sz="6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const</a:t>
            </a: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6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hourlyVisitRate</a:t>
            </a: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s" sz="6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6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visitsInCurrentHour</a:t>
            </a: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s" sz="6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/</a:t>
            </a: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600">
                <a:solidFill>
                  <a:srgbClr val="0050A0"/>
                </a:solidFill>
                <a:latin typeface="Roboto Mono"/>
                <a:ea typeface="Roboto Mono"/>
                <a:cs typeface="Roboto Mono"/>
                <a:sym typeface="Roboto Mono"/>
              </a:rPr>
              <a:t>visits</a:t>
            </a: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es" sz="60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length</a:t>
            </a: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6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            </a:t>
            </a:r>
            <a:r>
              <a:rPr lang="es" sz="600">
                <a:solidFill>
                  <a:srgbClr val="0050A0"/>
                </a:solidFill>
                <a:latin typeface="Roboto Mono"/>
                <a:ea typeface="Roboto Mono"/>
                <a:cs typeface="Roboto Mono"/>
                <a:sym typeface="Roboto Mono"/>
              </a:rPr>
              <a:t>visitRateInSlot</a:t>
            </a: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s" sz="6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6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visitsInTimeSlot</a:t>
            </a: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s" sz="6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/</a:t>
            </a: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600">
                <a:solidFill>
                  <a:srgbClr val="0050A0"/>
                </a:solidFill>
                <a:latin typeface="Roboto Mono"/>
                <a:ea typeface="Roboto Mono"/>
                <a:cs typeface="Roboto Mono"/>
                <a:sym typeface="Roboto Mono"/>
              </a:rPr>
              <a:t>visits</a:t>
            </a: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es" sz="60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length</a:t>
            </a: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6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            . . .</a:t>
            </a:r>
            <a:endParaRPr sz="6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           </a:t>
            </a:r>
            <a:endParaRPr sz="6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            </a:t>
            </a:r>
            <a:r>
              <a:rPr lang="es" sz="6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if</a:t>
            </a: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 (</a:t>
            </a:r>
            <a:r>
              <a:rPr lang="es" sz="6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visitsInCurrentHour</a:t>
            </a: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s" sz="6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600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0</a:t>
            </a: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) { . . . } </a:t>
            </a:r>
            <a:r>
              <a:rPr i="1" lang="es" sz="600">
                <a:solidFill>
                  <a:srgbClr val="A05000"/>
                </a:solidFill>
                <a:latin typeface="Roboto Mono"/>
                <a:ea typeface="Roboto Mono"/>
                <a:cs typeface="Roboto Mono"/>
                <a:sym typeface="Roboto Mono"/>
              </a:rPr>
              <a:t>// Progressive scoring</a:t>
            </a:r>
            <a:endParaRPr sz="6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            . . .</a:t>
            </a:r>
            <a:endParaRPr sz="6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            </a:t>
            </a:r>
            <a:r>
              <a:rPr lang="es" sz="6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return</a:t>
            </a: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 {</a:t>
            </a:r>
            <a:endParaRPr sz="6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              </a:t>
            </a:r>
            <a:r>
              <a:rPr lang="es" sz="600">
                <a:solidFill>
                  <a:srgbClr val="0050A0"/>
                </a:solidFill>
                <a:latin typeface="Roboto Mono"/>
                <a:ea typeface="Roboto Mono"/>
                <a:cs typeface="Roboto Mono"/>
                <a:sym typeface="Roboto Mono"/>
              </a:rPr>
              <a:t>score</a:t>
            </a: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es" sz="6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Math</a:t>
            </a: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es" sz="60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min</a:t>
            </a: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s" sz="600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1.0</a:t>
            </a: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s" sz="600">
                <a:solidFill>
                  <a:srgbClr val="0050A0"/>
                </a:solidFill>
                <a:latin typeface="Roboto Mono"/>
                <a:ea typeface="Roboto Mono"/>
                <a:cs typeface="Roboto Mono"/>
                <a:sym typeface="Roboto Mono"/>
              </a:rPr>
              <a:t>score</a:t>
            </a: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),</a:t>
            </a:r>
            <a:endParaRPr sz="6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              </a:t>
            </a:r>
            <a:r>
              <a:rPr lang="es" sz="600">
                <a:solidFill>
                  <a:srgbClr val="0050A0"/>
                </a:solidFill>
                <a:latin typeface="Roboto Mono"/>
                <a:ea typeface="Roboto Mono"/>
                <a:cs typeface="Roboto Mono"/>
                <a:sym typeface="Roboto Mono"/>
              </a:rPr>
              <a:t>hasTimePattern</a:t>
            </a: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,</a:t>
            </a:r>
            <a:endParaRPr sz="6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              </a:t>
            </a:r>
            <a:r>
              <a:rPr lang="es" sz="6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timeSlot</a:t>
            </a: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es" sz="600">
                <a:solidFill>
                  <a:srgbClr val="0050A0"/>
                </a:solidFill>
                <a:latin typeface="Roboto Mono"/>
                <a:ea typeface="Roboto Mono"/>
                <a:cs typeface="Roboto Mono"/>
                <a:sym typeface="Roboto Mono"/>
              </a:rPr>
              <a:t>currentTimeSlot</a:t>
            </a: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,</a:t>
            </a:r>
            <a:endParaRPr sz="6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              </a:t>
            </a:r>
            <a:r>
              <a:rPr lang="es" sz="600">
                <a:solidFill>
                  <a:srgbClr val="0050A0"/>
                </a:solidFill>
                <a:latin typeface="Roboto Mono"/>
                <a:ea typeface="Roboto Mono"/>
                <a:cs typeface="Roboto Mono"/>
                <a:sym typeface="Roboto Mono"/>
              </a:rPr>
              <a:t>visitRateInSlot</a:t>
            </a: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,</a:t>
            </a:r>
            <a:endParaRPr sz="6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              </a:t>
            </a:r>
            <a:r>
              <a:rPr lang="es" sz="6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visitsInTimeSlot</a:t>
            </a: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i="1" lang="es" sz="600">
                <a:solidFill>
                  <a:srgbClr val="A05000"/>
                </a:solidFill>
                <a:latin typeface="Roboto Mono"/>
                <a:ea typeface="Roboto Mono"/>
                <a:cs typeface="Roboto Mono"/>
                <a:sym typeface="Roboto Mono"/>
              </a:rPr>
              <a:t>// Number of visits in that slot time</a:t>
            </a:r>
            <a:endParaRPr sz="6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            };</a:t>
            </a:r>
            <a:endParaRPr sz="6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     </a:t>
            </a: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     }</a:t>
            </a:r>
            <a:endParaRPr sz="6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    . . .</a:t>
            </a:r>
            <a:endParaRPr sz="6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latin typeface="Roboto Mono"/>
                <a:ea typeface="Roboto Mono"/>
                <a:cs typeface="Roboto Mono"/>
                <a:sym typeface="Roboto Mono"/>
              </a:rPr>
              <a:t>  }</a:t>
            </a:r>
            <a:endParaRPr sz="60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74" name="Google Shape;374;p40"/>
          <p:cNvSpPr/>
          <p:nvPr/>
        </p:nvSpPr>
        <p:spPr>
          <a:xfrm>
            <a:off x="4447979" y="2650850"/>
            <a:ext cx="413700" cy="35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latin typeface="Calibri"/>
                <a:ea typeface="Calibri"/>
                <a:cs typeface="Calibri"/>
                <a:sym typeface="Calibri"/>
              </a:rPr>
              <a:t>3</a:t>
            </a:r>
            <a:endParaRPr b="1" sz="15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41"/>
          <p:cNvSpPr txBox="1"/>
          <p:nvPr>
            <p:ph type="title"/>
          </p:nvPr>
        </p:nvSpPr>
        <p:spPr>
          <a:xfrm>
            <a:off x="582768" y="384025"/>
            <a:ext cx="38652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2700" marR="5080" rtl="0" algn="just">
              <a:lnSpc>
                <a:spcPct val="10812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1" lang="es" sz="2700">
                <a:latin typeface="Times New Roman"/>
                <a:ea typeface="Times New Roman"/>
                <a:cs typeface="Times New Roman"/>
                <a:sym typeface="Times New Roman"/>
              </a:rPr>
              <a:t>Training Phase </a:t>
            </a:r>
            <a:r>
              <a:rPr b="1" i="1" lang="es" sz="2700">
                <a:latin typeface="Times New Roman"/>
                <a:ea typeface="Times New Roman"/>
                <a:cs typeface="Times New Roman"/>
                <a:sym typeface="Times New Roman"/>
              </a:rPr>
              <a:t>(I)</a:t>
            </a:r>
            <a:endParaRPr b="1" i="1" sz="2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5080" rtl="0" algn="just">
              <a:lnSpc>
                <a:spcPct val="10812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1" i="1" sz="2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80" name="Google Shape;380;p41"/>
          <p:cNvPicPr preferRelativeResize="0"/>
          <p:nvPr/>
        </p:nvPicPr>
        <p:blipFill rotWithShape="1">
          <a:blip r:embed="rId3">
            <a:alphaModFix/>
          </a:blip>
          <a:srcRect b="16105" l="17335" r="16755" t="16112"/>
          <a:stretch/>
        </p:blipFill>
        <p:spPr>
          <a:xfrm>
            <a:off x="8582093" y="216279"/>
            <a:ext cx="348925" cy="358851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41"/>
          <p:cNvSpPr txBox="1"/>
          <p:nvPr>
            <p:ph idx="1" type="body"/>
          </p:nvPr>
        </p:nvSpPr>
        <p:spPr>
          <a:xfrm>
            <a:off x="573086" y="1027649"/>
            <a:ext cx="7688700" cy="35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Times New Roman"/>
              <a:buChar char="●"/>
            </a:pPr>
            <a:r>
              <a:rPr b="1" lang="e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Goal</a:t>
            </a:r>
            <a:r>
              <a:rPr lang="e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adjust the model weights based on real user feedback</a:t>
            </a:r>
            <a:endParaRPr sz="1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Times New Roman"/>
              <a:buChar char="●"/>
            </a:pPr>
            <a:r>
              <a:rPr lang="e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Divided into 6 steps</a:t>
            </a:r>
            <a:r>
              <a:rPr lang="e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 sz="1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Times New Roman"/>
              <a:buAutoNum type="arabicPeriod"/>
            </a:pPr>
            <a:r>
              <a:rPr b="1" lang="e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Feedback Validation</a:t>
            </a:r>
            <a:endParaRPr b="1" sz="1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Times New Roman"/>
              <a:buAutoNum type="arabicPeriod"/>
            </a:pPr>
            <a:r>
              <a:rPr b="1" lang="e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Retrieve Original Prediction</a:t>
            </a:r>
            <a:endParaRPr b="1" sz="1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Times New Roman"/>
              <a:buAutoNum type="arabicPeriod"/>
            </a:pPr>
            <a:r>
              <a:rPr b="1" lang="e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Target Score Calculation</a:t>
            </a:r>
            <a:endParaRPr b="1" sz="1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Times New Roman"/>
              <a:buAutoNum type="arabicPeriod"/>
            </a:pPr>
            <a:r>
              <a:rPr b="1" lang="e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Prediction Error Calculation</a:t>
            </a:r>
            <a:endParaRPr b="1" sz="1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Times New Roman"/>
              <a:buAutoNum type="arabicPeriod"/>
            </a:pPr>
            <a:r>
              <a:rPr b="1" lang="e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Wei</a:t>
            </a:r>
            <a:r>
              <a:rPr b="1" lang="e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ght Adjustment </a:t>
            </a:r>
            <a:r>
              <a:rPr lang="e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→ Gradient Descent</a:t>
            </a:r>
            <a:endParaRPr sz="1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Times New Roman"/>
              <a:buAutoNum type="arabicPeriod"/>
            </a:pPr>
            <a:r>
              <a:rPr b="1" lang="e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Save Metrics</a:t>
            </a:r>
            <a:endParaRPr b="1" sz="1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5080" rtl="0" algn="l">
              <a:lnSpc>
                <a:spcPct val="1208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382" name="Google Shape;382;p41"/>
          <p:cNvSpPr txBox="1"/>
          <p:nvPr/>
        </p:nvSpPr>
        <p:spPr>
          <a:xfrm>
            <a:off x="582775" y="3078850"/>
            <a:ext cx="4482600" cy="16755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5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async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75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trainModel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s" sz="75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feedback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) {</a:t>
            </a:r>
            <a:endParaRPr sz="75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b="1" lang="es" sz="75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const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{ </a:t>
            </a:r>
            <a:r>
              <a:rPr lang="es" sz="750">
                <a:solidFill>
                  <a:srgbClr val="0000F0"/>
                </a:solidFill>
                <a:latin typeface="Roboto Mono"/>
                <a:ea typeface="Roboto Mono"/>
                <a:cs typeface="Roboto Mono"/>
                <a:sym typeface="Roboto Mono"/>
              </a:rPr>
              <a:t>userId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s" sz="750">
                <a:solidFill>
                  <a:srgbClr val="0000F0"/>
                </a:solidFill>
                <a:latin typeface="Roboto Mono"/>
                <a:ea typeface="Roboto Mono"/>
                <a:cs typeface="Roboto Mono"/>
                <a:sym typeface="Roboto Mono"/>
              </a:rPr>
              <a:t>roomId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s" sz="750">
                <a:solidFill>
                  <a:srgbClr val="0000F0"/>
                </a:solidFill>
                <a:latin typeface="Roboto Mono"/>
                <a:ea typeface="Roboto Mono"/>
                <a:cs typeface="Roboto Mono"/>
                <a:sym typeface="Roboto Mono"/>
              </a:rPr>
              <a:t>rating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s" sz="750">
                <a:solidFill>
                  <a:srgbClr val="0000F0"/>
                </a:solidFill>
                <a:latin typeface="Roboto Mono"/>
                <a:ea typeface="Roboto Mono"/>
                <a:cs typeface="Roboto Mono"/>
                <a:sym typeface="Roboto Mono"/>
              </a:rPr>
              <a:t>actualUsage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s" sz="750">
                <a:solidFill>
                  <a:srgbClr val="0000F0"/>
                </a:solidFill>
                <a:latin typeface="Roboto Mono"/>
                <a:ea typeface="Roboto Mono"/>
                <a:cs typeface="Roboto Mono"/>
                <a:sym typeface="Roboto Mono"/>
              </a:rPr>
              <a:t>satisfaction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} </a:t>
            </a:r>
            <a:r>
              <a:rPr b="1" lang="es" sz="75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75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feedback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75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 </a:t>
            </a:r>
            <a:endParaRPr sz="75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i="1" lang="es" sz="750">
                <a:solidFill>
                  <a:srgbClr val="A05000"/>
                </a:solidFill>
                <a:latin typeface="Roboto Mono"/>
                <a:ea typeface="Roboto Mono"/>
                <a:cs typeface="Roboto Mono"/>
                <a:sym typeface="Roboto Mono"/>
              </a:rPr>
              <a:t>// Data Validation</a:t>
            </a:r>
            <a:endParaRPr sz="75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b="1" lang="es" sz="75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if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(</a:t>
            </a:r>
            <a:r>
              <a:rPr b="1" lang="es" sz="75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!</a:t>
            </a:r>
            <a:r>
              <a:rPr lang="es" sz="750">
                <a:solidFill>
                  <a:srgbClr val="0050A0"/>
                </a:solidFill>
                <a:latin typeface="Roboto Mono"/>
                <a:ea typeface="Roboto Mono"/>
                <a:cs typeface="Roboto Mono"/>
                <a:sym typeface="Roboto Mono"/>
              </a:rPr>
              <a:t>userId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s" sz="75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||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s" sz="75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!</a:t>
            </a:r>
            <a:r>
              <a:rPr lang="es" sz="750">
                <a:solidFill>
                  <a:srgbClr val="0050A0"/>
                </a:solidFill>
                <a:latin typeface="Roboto Mono"/>
                <a:ea typeface="Roboto Mono"/>
                <a:cs typeface="Roboto Mono"/>
                <a:sym typeface="Roboto Mono"/>
              </a:rPr>
              <a:t>roomId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s" sz="75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||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750">
                <a:solidFill>
                  <a:srgbClr val="0050A0"/>
                </a:solidFill>
                <a:latin typeface="Roboto Mono"/>
                <a:ea typeface="Roboto Mono"/>
                <a:cs typeface="Roboto Mono"/>
                <a:sym typeface="Roboto Mono"/>
              </a:rPr>
              <a:t>rating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s" sz="75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===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750">
                <a:solidFill>
                  <a:srgbClr val="201090"/>
                </a:solidFill>
                <a:latin typeface="Roboto Mono"/>
                <a:ea typeface="Roboto Mono"/>
                <a:cs typeface="Roboto Mono"/>
                <a:sym typeface="Roboto Mono"/>
              </a:rPr>
              <a:t>undefined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) {</a:t>
            </a:r>
            <a:endParaRPr sz="75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b="1" lang="es" sz="75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return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{ </a:t>
            </a:r>
            <a:r>
              <a:rPr lang="es" sz="75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success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es" sz="750">
                <a:solidFill>
                  <a:srgbClr val="201090"/>
                </a:solidFill>
                <a:latin typeface="Roboto Mono"/>
                <a:ea typeface="Roboto Mono"/>
                <a:cs typeface="Roboto Mono"/>
                <a:sym typeface="Roboto Mono"/>
              </a:rPr>
              <a:t>false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s" sz="75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message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es" sz="75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'Invalid feedback'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};</a:t>
            </a:r>
            <a:endParaRPr sz="75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 }</a:t>
            </a:r>
            <a:endParaRPr sz="75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 </a:t>
            </a:r>
            <a:endParaRPr sz="75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b="1" lang="es" sz="75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if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(</a:t>
            </a:r>
            <a:r>
              <a:rPr lang="es" sz="750">
                <a:solidFill>
                  <a:srgbClr val="0050A0"/>
                </a:solidFill>
                <a:latin typeface="Roboto Mono"/>
                <a:ea typeface="Roboto Mono"/>
                <a:cs typeface="Roboto Mono"/>
                <a:sym typeface="Roboto Mono"/>
              </a:rPr>
              <a:t>rating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s" sz="75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&lt;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750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1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s" sz="75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||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750">
                <a:solidFill>
                  <a:srgbClr val="0050A0"/>
                </a:solidFill>
                <a:latin typeface="Roboto Mono"/>
                <a:ea typeface="Roboto Mono"/>
                <a:cs typeface="Roboto Mono"/>
                <a:sym typeface="Roboto Mono"/>
              </a:rPr>
              <a:t>rating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s" sz="75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750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5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) {</a:t>
            </a:r>
            <a:endParaRPr sz="75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b="1" lang="es" sz="75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return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{ </a:t>
            </a:r>
            <a:r>
              <a:rPr lang="es" sz="75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success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es" sz="750">
                <a:solidFill>
                  <a:srgbClr val="201090"/>
                </a:solidFill>
                <a:latin typeface="Roboto Mono"/>
                <a:ea typeface="Roboto Mono"/>
                <a:cs typeface="Roboto Mono"/>
                <a:sym typeface="Roboto Mono"/>
              </a:rPr>
              <a:t>false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s" sz="75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message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es" sz="75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'Rating must be between 1 and 5'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};</a:t>
            </a:r>
            <a:endParaRPr sz="75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 }</a:t>
            </a:r>
            <a:br>
              <a:rPr lang="es" sz="750"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 . . .</a:t>
            </a:r>
            <a:endParaRPr sz="75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75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83" name="Google Shape;383;p41"/>
          <p:cNvSpPr/>
          <p:nvPr/>
        </p:nvSpPr>
        <p:spPr>
          <a:xfrm>
            <a:off x="4651663" y="4395550"/>
            <a:ext cx="413700" cy="35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latin typeface="Calibri"/>
                <a:ea typeface="Calibri"/>
                <a:cs typeface="Calibri"/>
                <a:sym typeface="Calibri"/>
              </a:rPr>
              <a:t>1</a:t>
            </a:r>
            <a:endParaRPr b="1" sz="15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41"/>
          <p:cNvSpPr txBox="1"/>
          <p:nvPr/>
        </p:nvSpPr>
        <p:spPr>
          <a:xfrm>
            <a:off x="5197825" y="2233450"/>
            <a:ext cx="3649200" cy="25209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console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es" sz="75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log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s" sz="75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'[TRAINING] Calculating original prediction with current weights...'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 sz="75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5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5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const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750">
                <a:solidFill>
                  <a:srgbClr val="0000F0"/>
                </a:solidFill>
                <a:latin typeface="Roboto Mono"/>
                <a:ea typeface="Roboto Mono"/>
                <a:cs typeface="Roboto Mono"/>
                <a:sym typeface="Roboto Mono"/>
              </a:rPr>
              <a:t>preferences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s" sz="75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{ </a:t>
            </a:r>
            <a:r>
              <a:rPr lang="es" sz="75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preferredCapacity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es" sz="75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'medium'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};</a:t>
            </a:r>
            <a:endParaRPr sz="75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5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const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750">
                <a:solidFill>
                  <a:srgbClr val="0000F0"/>
                </a:solidFill>
                <a:latin typeface="Roboto Mono"/>
                <a:ea typeface="Roboto Mono"/>
                <a:cs typeface="Roboto Mono"/>
                <a:sym typeface="Roboto Mono"/>
              </a:rPr>
              <a:t>originalScore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s" sz="75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s" sz="75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await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s" sz="75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this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es" sz="75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calculateRoomScore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s" sz="75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room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s" sz="75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user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s" sz="75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preferences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 sz="75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5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const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750">
                <a:solidFill>
                  <a:srgbClr val="0000F0"/>
                </a:solidFill>
                <a:latin typeface="Roboto Mono"/>
                <a:ea typeface="Roboto Mono"/>
                <a:cs typeface="Roboto Mono"/>
                <a:sym typeface="Roboto Mono"/>
              </a:rPr>
              <a:t>user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s" sz="75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s" sz="75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await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s" sz="75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this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es" sz="75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getUserData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s" sz="75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userId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 sz="75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5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const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750">
                <a:solidFill>
                  <a:srgbClr val="0000F0"/>
                </a:solidFill>
                <a:latin typeface="Roboto Mono"/>
                <a:ea typeface="Roboto Mono"/>
                <a:cs typeface="Roboto Mono"/>
                <a:sym typeface="Roboto Mono"/>
              </a:rPr>
              <a:t>room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s" sz="75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s" sz="75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await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75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Rooms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es" sz="75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findByPk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s" sz="75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roomId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 sz="75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5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5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if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(</a:t>
            </a:r>
            <a:r>
              <a:rPr b="1" lang="es" sz="75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!</a:t>
            </a:r>
            <a:r>
              <a:rPr lang="es" sz="75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user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s" sz="75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||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s" sz="75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!</a:t>
            </a:r>
            <a:r>
              <a:rPr lang="es" sz="75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room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) {</a:t>
            </a:r>
            <a:endParaRPr sz="75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b="1" lang="es" sz="75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return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{</a:t>
            </a:r>
            <a:endParaRPr sz="75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     	</a:t>
            </a:r>
            <a:r>
              <a:rPr lang="es" sz="75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success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es" sz="750">
                <a:solidFill>
                  <a:srgbClr val="201090"/>
                </a:solidFill>
                <a:latin typeface="Roboto Mono"/>
                <a:ea typeface="Roboto Mono"/>
                <a:cs typeface="Roboto Mono"/>
                <a:sym typeface="Roboto Mono"/>
              </a:rPr>
              <a:t>false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,</a:t>
            </a:r>
            <a:endParaRPr sz="75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       </a:t>
            </a:r>
            <a:r>
              <a:rPr lang="es" sz="75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message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es" sz="75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'User or room not found'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,</a:t>
            </a:r>
            <a:endParaRPr sz="75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       </a:t>
            </a:r>
            <a:r>
              <a:rPr lang="es" sz="75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feedback</a:t>
            </a:r>
            <a:endParaRPr sz="75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   };</a:t>
            </a:r>
            <a:endParaRPr sz="75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75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5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console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es" sz="75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log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s" sz="750">
                <a:solidFill>
                  <a:srgbClr val="F05000"/>
                </a:solidFill>
                <a:latin typeface="Roboto Mono"/>
                <a:ea typeface="Roboto Mono"/>
                <a:cs typeface="Roboto Mono"/>
                <a:sym typeface="Roboto Mono"/>
              </a:rPr>
              <a:t>`  - Predicted score:${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s" sz="75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originalScore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es" sz="75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totalScore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s" sz="75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*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750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100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).</a:t>
            </a:r>
            <a:r>
              <a:rPr lang="es" sz="75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toFixed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s" sz="750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2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)</a:t>
            </a:r>
            <a:r>
              <a:rPr lang="es" sz="750">
                <a:solidFill>
                  <a:srgbClr val="F05000"/>
                </a:solidFill>
                <a:latin typeface="Roboto Mono"/>
                <a:ea typeface="Roboto Mono"/>
                <a:cs typeface="Roboto Mono"/>
                <a:sym typeface="Roboto Mono"/>
              </a:rPr>
              <a:t>}%`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 sz="75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console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es" sz="75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log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s" sz="75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'  - Score breakdown:'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); . . .</a:t>
            </a:r>
            <a:endParaRPr sz="75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5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endParaRPr sz="75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85" name="Google Shape;385;p41"/>
          <p:cNvSpPr/>
          <p:nvPr/>
        </p:nvSpPr>
        <p:spPr>
          <a:xfrm>
            <a:off x="8363388" y="3438725"/>
            <a:ext cx="413700" cy="35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latin typeface="Calibri"/>
                <a:ea typeface="Calibri"/>
                <a:cs typeface="Calibri"/>
                <a:sym typeface="Calibri"/>
              </a:rPr>
              <a:t>2</a:t>
            </a:r>
            <a:endParaRPr b="1" sz="15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42"/>
          <p:cNvSpPr txBox="1"/>
          <p:nvPr>
            <p:ph type="title"/>
          </p:nvPr>
        </p:nvSpPr>
        <p:spPr>
          <a:xfrm>
            <a:off x="582768" y="384025"/>
            <a:ext cx="38652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2700" marR="5080" rtl="0" algn="just">
              <a:lnSpc>
                <a:spcPct val="10812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1" lang="es" sz="2700">
                <a:latin typeface="Times New Roman"/>
                <a:ea typeface="Times New Roman"/>
                <a:cs typeface="Times New Roman"/>
                <a:sym typeface="Times New Roman"/>
              </a:rPr>
              <a:t>Training Phase </a:t>
            </a:r>
            <a:r>
              <a:rPr b="1" i="1" lang="es" sz="2700">
                <a:latin typeface="Times New Roman"/>
                <a:ea typeface="Times New Roman"/>
                <a:cs typeface="Times New Roman"/>
                <a:sym typeface="Times New Roman"/>
              </a:rPr>
              <a:t>(II)</a:t>
            </a:r>
            <a:endParaRPr b="1" i="1" sz="2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5080" rtl="0" algn="just">
              <a:lnSpc>
                <a:spcPct val="10812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1" i="1" sz="2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91" name="Google Shape;391;p42"/>
          <p:cNvPicPr preferRelativeResize="0"/>
          <p:nvPr/>
        </p:nvPicPr>
        <p:blipFill rotWithShape="1">
          <a:blip r:embed="rId3">
            <a:alphaModFix/>
          </a:blip>
          <a:srcRect b="16105" l="17335" r="16755" t="16112"/>
          <a:stretch/>
        </p:blipFill>
        <p:spPr>
          <a:xfrm>
            <a:off x="8582093" y="216279"/>
            <a:ext cx="348925" cy="358851"/>
          </a:xfrm>
          <a:prstGeom prst="rect">
            <a:avLst/>
          </a:prstGeom>
          <a:noFill/>
          <a:ln>
            <a:noFill/>
          </a:ln>
        </p:spPr>
      </p:pic>
      <p:sp>
        <p:nvSpPr>
          <p:cNvPr id="392" name="Google Shape;392;p42"/>
          <p:cNvSpPr txBox="1"/>
          <p:nvPr/>
        </p:nvSpPr>
        <p:spPr>
          <a:xfrm>
            <a:off x="2481750" y="1974900"/>
            <a:ext cx="50334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42"/>
          <p:cNvSpPr txBox="1"/>
          <p:nvPr/>
        </p:nvSpPr>
        <p:spPr>
          <a:xfrm>
            <a:off x="4080900" y="323325"/>
            <a:ext cx="4404300" cy="45177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" sz="750">
                <a:solidFill>
                  <a:srgbClr val="A05000"/>
                </a:solidFill>
                <a:latin typeface="Roboto Mono"/>
                <a:ea typeface="Roboto Mono"/>
                <a:cs typeface="Roboto Mono"/>
                <a:sym typeface="Roboto Mono"/>
              </a:rPr>
              <a:t>// Normalize rating (1-5) to score (0-1)</a:t>
            </a:r>
            <a:endParaRPr sz="75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5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const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750">
                <a:solidFill>
                  <a:srgbClr val="0000F0"/>
                </a:solidFill>
                <a:latin typeface="Roboto Mono"/>
                <a:ea typeface="Roboto Mono"/>
                <a:cs typeface="Roboto Mono"/>
                <a:sym typeface="Roboto Mono"/>
              </a:rPr>
              <a:t>targetScore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s" sz="75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75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rating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s" sz="75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/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750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5.0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75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5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" sz="750">
                <a:solidFill>
                  <a:srgbClr val="A05000"/>
                </a:solidFill>
                <a:latin typeface="Roboto Mono"/>
                <a:ea typeface="Roboto Mono"/>
                <a:cs typeface="Roboto Mono"/>
                <a:sym typeface="Roboto Mono"/>
              </a:rPr>
              <a:t>// If the person stayed a long time = good recommendation)</a:t>
            </a:r>
            <a:endParaRPr sz="75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5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let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750">
                <a:solidFill>
                  <a:srgbClr val="0000F0"/>
                </a:solidFill>
                <a:latin typeface="Roboto Mono"/>
                <a:ea typeface="Roboto Mono"/>
                <a:cs typeface="Roboto Mono"/>
                <a:sym typeface="Roboto Mono"/>
              </a:rPr>
              <a:t>adjustedTarget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s" sz="75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75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targetScore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75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5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if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(</a:t>
            </a:r>
            <a:r>
              <a:rPr lang="es" sz="75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actualUsage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s" sz="75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!==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750">
                <a:solidFill>
                  <a:srgbClr val="201090"/>
                </a:solidFill>
                <a:latin typeface="Roboto Mono"/>
                <a:ea typeface="Roboto Mono"/>
                <a:cs typeface="Roboto Mono"/>
                <a:sym typeface="Roboto Mono"/>
              </a:rPr>
              <a:t>undefined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s" sz="75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&amp;&amp;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75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actualUsage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s" sz="75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!==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750">
                <a:solidFill>
                  <a:srgbClr val="201090"/>
                </a:solidFill>
                <a:latin typeface="Roboto Mono"/>
                <a:ea typeface="Roboto Mono"/>
                <a:cs typeface="Roboto Mono"/>
                <a:sym typeface="Roboto Mono"/>
              </a:rPr>
              <a:t>null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) {</a:t>
            </a:r>
            <a:endParaRPr sz="75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    </a:t>
            </a:r>
            <a:r>
              <a:rPr b="1" lang="es" sz="75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if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(</a:t>
            </a:r>
            <a:r>
              <a:rPr lang="es" sz="75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actualUsage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s" sz="75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&gt;=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750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60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) {</a:t>
            </a:r>
            <a:endParaRPr sz="75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      </a:t>
            </a:r>
            <a:r>
              <a:rPr lang="es" sz="75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adjustedTarget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s" sz="75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75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Math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es" sz="75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min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s" sz="750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1.0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s" sz="75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targetScore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s" sz="75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+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750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0.1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); </a:t>
            </a:r>
            <a:r>
              <a:rPr i="1" lang="es" sz="750">
                <a:solidFill>
                  <a:srgbClr val="A05000"/>
                </a:solidFill>
                <a:latin typeface="Roboto Mono"/>
                <a:ea typeface="Roboto Mono"/>
                <a:cs typeface="Roboto Mono"/>
                <a:sym typeface="Roboto Mono"/>
              </a:rPr>
              <a:t>// </a:t>
            </a:r>
            <a:r>
              <a:rPr i="1" lang="es" sz="750">
                <a:solidFill>
                  <a:srgbClr val="A05000"/>
                </a:solidFill>
                <a:latin typeface="Roboto Mono"/>
                <a:ea typeface="Roboto Mono"/>
                <a:cs typeface="Roboto Mono"/>
                <a:sym typeface="Roboto Mono"/>
              </a:rPr>
              <a:t>Interested</a:t>
            </a:r>
            <a:endParaRPr sz="75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    } </a:t>
            </a:r>
            <a:r>
              <a:rPr b="1" lang="es" sz="75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else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s" sz="75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if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(</a:t>
            </a:r>
            <a:r>
              <a:rPr lang="es" sz="75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actualUsage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s" sz="75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&lt;=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750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10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) {</a:t>
            </a:r>
            <a:endParaRPr sz="75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      </a:t>
            </a:r>
            <a:r>
              <a:rPr lang="es" sz="75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adjustedTarget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s" sz="75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75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Math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es" sz="75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max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s" sz="750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0.0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s" sz="75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targetScore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s" sz="75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-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750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0.1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); </a:t>
            </a:r>
            <a:r>
              <a:rPr i="1" lang="es" sz="750">
                <a:solidFill>
                  <a:srgbClr val="A05000"/>
                </a:solidFill>
                <a:latin typeface="Roboto Mono"/>
                <a:ea typeface="Roboto Mono"/>
                <a:cs typeface="Roboto Mono"/>
                <a:sym typeface="Roboto Mono"/>
              </a:rPr>
              <a:t>// Not interest.</a:t>
            </a:r>
            <a:endParaRPr sz="75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    }</a:t>
            </a:r>
            <a:endParaRPr sz="75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75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5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" sz="750">
                <a:solidFill>
                  <a:srgbClr val="A05000"/>
                </a:solidFill>
                <a:latin typeface="Roboto Mono"/>
                <a:ea typeface="Roboto Mono"/>
                <a:cs typeface="Roboto Mono"/>
                <a:sym typeface="Roboto Mono"/>
              </a:rPr>
              <a:t>// How the user felt</a:t>
            </a:r>
            <a:endParaRPr sz="75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5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if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(</a:t>
            </a:r>
            <a:r>
              <a:rPr lang="es" sz="75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satisfaction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) {</a:t>
            </a:r>
            <a:endParaRPr sz="75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    </a:t>
            </a:r>
            <a:r>
              <a:rPr b="1" lang="es" sz="75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if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(</a:t>
            </a:r>
            <a:r>
              <a:rPr lang="es" sz="75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satisfaction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s" sz="75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===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75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'good'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) {</a:t>
            </a:r>
            <a:endParaRPr sz="75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      </a:t>
            </a:r>
            <a:r>
              <a:rPr lang="es" sz="75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adjustedTarget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s" sz="75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75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Math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es" sz="75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min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s" sz="750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1.0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s" sz="75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adjustedTarget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s" sz="75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+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750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0.15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); </a:t>
            </a:r>
            <a:r>
              <a:rPr i="1" lang="es" sz="750">
                <a:solidFill>
                  <a:srgbClr val="A05000"/>
                </a:solidFill>
                <a:latin typeface="Roboto Mono"/>
                <a:ea typeface="Roboto Mono"/>
                <a:cs typeface="Roboto Mono"/>
                <a:sym typeface="Roboto Mono"/>
              </a:rPr>
              <a:t>// Increase</a:t>
            </a:r>
            <a:endParaRPr sz="75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    } </a:t>
            </a:r>
            <a:r>
              <a:rPr b="1" lang="es" sz="75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else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s" sz="75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if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(</a:t>
            </a:r>
            <a:r>
              <a:rPr lang="es" sz="75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satisfaction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s" sz="75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===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75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'poor'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) {</a:t>
            </a:r>
            <a:endParaRPr sz="75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      </a:t>
            </a:r>
            <a:r>
              <a:rPr lang="es" sz="75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adjustedTarget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s" sz="75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75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Math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es" sz="75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max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s" sz="750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0.0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s" sz="75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adjustedTarget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s" sz="75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-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750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0.15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); </a:t>
            </a:r>
            <a:r>
              <a:rPr i="1" lang="es" sz="750">
                <a:solidFill>
                  <a:srgbClr val="A05000"/>
                </a:solidFill>
                <a:latin typeface="Roboto Mono"/>
                <a:ea typeface="Roboto Mono"/>
                <a:cs typeface="Roboto Mono"/>
                <a:sym typeface="Roboto Mono"/>
              </a:rPr>
              <a:t>// Reduce</a:t>
            </a:r>
            <a:endParaRPr sz="75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    }</a:t>
            </a:r>
            <a:endParaRPr sz="75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       </a:t>
            </a:r>
            <a:r>
              <a:rPr i="1" lang="es" sz="750">
                <a:solidFill>
                  <a:srgbClr val="A05000"/>
                </a:solidFill>
                <a:latin typeface="Roboto Mono"/>
                <a:ea typeface="Roboto Mono"/>
                <a:cs typeface="Roboto Mono"/>
                <a:sym typeface="Roboto Mono"/>
              </a:rPr>
              <a:t>// 'neutral' no adjustment</a:t>
            </a:r>
            <a:endParaRPr sz="75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75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     </a:t>
            </a:r>
            <a:endParaRPr sz="75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console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es" sz="75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log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s" sz="75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'[TRAINING] Target calculation:'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 sz="75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console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es" sz="75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log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s" sz="750">
                <a:solidFill>
                  <a:srgbClr val="F05000"/>
                </a:solidFill>
                <a:latin typeface="Roboto Mono"/>
                <a:ea typeface="Roboto Mono"/>
                <a:cs typeface="Roboto Mono"/>
                <a:sym typeface="Roboto Mono"/>
              </a:rPr>
              <a:t>`  - Base target (from rating): ${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s" sz="75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targetScore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s" sz="75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*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750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100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).</a:t>
            </a:r>
            <a:r>
              <a:rPr lang="es" sz="75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toFixed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s" sz="750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2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)</a:t>
            </a:r>
            <a:r>
              <a:rPr lang="es" sz="750">
                <a:solidFill>
                  <a:srgbClr val="F05000"/>
                </a:solidFill>
                <a:latin typeface="Roboto Mono"/>
                <a:ea typeface="Roboto Mono"/>
                <a:cs typeface="Roboto Mono"/>
                <a:sym typeface="Roboto Mono"/>
              </a:rPr>
              <a:t>}%`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 sz="75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     </a:t>
            </a:r>
            <a:endParaRPr sz="75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5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if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(</a:t>
            </a:r>
            <a:r>
              <a:rPr lang="es" sz="75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actualUsage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s" sz="75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!==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750">
                <a:solidFill>
                  <a:srgbClr val="201090"/>
                </a:solidFill>
                <a:latin typeface="Roboto Mono"/>
                <a:ea typeface="Roboto Mono"/>
                <a:cs typeface="Roboto Mono"/>
                <a:sym typeface="Roboto Mono"/>
              </a:rPr>
              <a:t>undefined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s" sz="75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&amp;&amp;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75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actualUsage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s" sz="75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!==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750">
                <a:solidFill>
                  <a:srgbClr val="201090"/>
                </a:solidFill>
                <a:latin typeface="Roboto Mono"/>
                <a:ea typeface="Roboto Mono"/>
                <a:cs typeface="Roboto Mono"/>
                <a:sym typeface="Roboto Mono"/>
              </a:rPr>
              <a:t>null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) {</a:t>
            </a:r>
            <a:endParaRPr sz="75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  </a:t>
            </a:r>
            <a:r>
              <a:rPr lang="es" sz="75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console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es" sz="75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log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s" sz="750">
                <a:solidFill>
                  <a:srgbClr val="F05000"/>
                </a:solidFill>
                <a:latin typeface="Roboto Mono"/>
                <a:ea typeface="Roboto Mono"/>
                <a:cs typeface="Roboto Mono"/>
                <a:sym typeface="Roboto Mono"/>
              </a:rPr>
              <a:t>`  - After usage adjustment: ${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s" sz="75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adjustedTarget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s" sz="75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*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750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100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).</a:t>
            </a:r>
            <a:r>
              <a:rPr lang="es" sz="75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toFixed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s" sz="750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2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)</a:t>
            </a:r>
            <a:r>
              <a:rPr lang="es" sz="750">
                <a:solidFill>
                  <a:srgbClr val="F05000"/>
                </a:solidFill>
                <a:latin typeface="Roboto Mono"/>
                <a:ea typeface="Roboto Mono"/>
                <a:cs typeface="Roboto Mono"/>
                <a:sym typeface="Roboto Mono"/>
              </a:rPr>
              <a:t>}%`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 sz="75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75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     </a:t>
            </a:r>
            <a:endParaRPr sz="75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5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if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(</a:t>
            </a:r>
            <a:r>
              <a:rPr lang="es" sz="75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satisfaction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) {</a:t>
            </a:r>
            <a:endParaRPr sz="75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  </a:t>
            </a:r>
            <a:r>
              <a:rPr lang="es" sz="75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console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es" sz="75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log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s" sz="750">
                <a:solidFill>
                  <a:srgbClr val="F05000"/>
                </a:solidFill>
                <a:latin typeface="Roboto Mono"/>
                <a:ea typeface="Roboto Mono"/>
                <a:cs typeface="Roboto Mono"/>
                <a:sym typeface="Roboto Mono"/>
              </a:rPr>
              <a:t>`  - After satisfaction adjustment (${</a:t>
            </a:r>
            <a:r>
              <a:rPr lang="es" sz="75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satisfaction</a:t>
            </a:r>
            <a:r>
              <a:rPr lang="es" sz="750">
                <a:solidFill>
                  <a:srgbClr val="F05000"/>
                </a:solidFill>
                <a:latin typeface="Roboto Mono"/>
                <a:ea typeface="Roboto Mono"/>
                <a:cs typeface="Roboto Mono"/>
                <a:sym typeface="Roboto Mono"/>
              </a:rPr>
              <a:t>}): ${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s" sz="75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adjustedTarget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s" sz="75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*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750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100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).</a:t>
            </a:r>
            <a:r>
              <a:rPr lang="es" sz="75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toFixed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s" sz="750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2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)</a:t>
            </a:r>
            <a:r>
              <a:rPr lang="es" sz="750">
                <a:solidFill>
                  <a:srgbClr val="F05000"/>
                </a:solidFill>
                <a:latin typeface="Roboto Mono"/>
                <a:ea typeface="Roboto Mono"/>
                <a:cs typeface="Roboto Mono"/>
                <a:sym typeface="Roboto Mono"/>
              </a:rPr>
              <a:t>}%`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 sz="75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75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console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es" sz="75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log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s" sz="750">
                <a:solidFill>
                  <a:srgbClr val="F05000"/>
                </a:solidFill>
                <a:latin typeface="Roboto Mono"/>
                <a:ea typeface="Roboto Mono"/>
                <a:cs typeface="Roboto Mono"/>
                <a:sym typeface="Roboto Mono"/>
              </a:rPr>
              <a:t>`  - Final adjusted target: ${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s" sz="75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adjustedTarget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s" sz="75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*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750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100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).</a:t>
            </a:r>
            <a:r>
              <a:rPr lang="es" sz="75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toFixed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s" sz="750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2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)</a:t>
            </a:r>
            <a:r>
              <a:rPr lang="es" sz="750">
                <a:solidFill>
                  <a:srgbClr val="F05000"/>
                </a:solidFill>
                <a:latin typeface="Roboto Mono"/>
                <a:ea typeface="Roboto Mono"/>
                <a:cs typeface="Roboto Mono"/>
                <a:sym typeface="Roboto Mono"/>
              </a:rPr>
              <a:t>}%`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 sz="75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94" name="Google Shape;394;p42"/>
          <p:cNvSpPr/>
          <p:nvPr/>
        </p:nvSpPr>
        <p:spPr>
          <a:xfrm>
            <a:off x="8071499" y="4482225"/>
            <a:ext cx="413700" cy="35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latin typeface="Calibri"/>
                <a:ea typeface="Calibri"/>
                <a:cs typeface="Calibri"/>
                <a:sym typeface="Calibri"/>
              </a:rPr>
              <a:t>3</a:t>
            </a:r>
            <a:endParaRPr b="1" sz="15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42"/>
          <p:cNvSpPr txBox="1"/>
          <p:nvPr/>
        </p:nvSpPr>
        <p:spPr>
          <a:xfrm>
            <a:off x="690350" y="987450"/>
            <a:ext cx="3294300" cy="38538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" sz="750">
                <a:solidFill>
                  <a:srgbClr val="A05000"/>
                </a:solidFill>
                <a:latin typeface="Roboto Mono"/>
                <a:ea typeface="Roboto Mono"/>
                <a:cs typeface="Roboto Mono"/>
                <a:sym typeface="Roboto Mono"/>
              </a:rPr>
              <a:t>/* Decision: </a:t>
            </a:r>
            <a:endParaRPr sz="75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" sz="750">
                <a:solidFill>
                  <a:srgbClr val="A05000"/>
                </a:solidFill>
                <a:latin typeface="Roboto Mono"/>
                <a:ea typeface="Roboto Mono"/>
                <a:cs typeface="Roboto Mono"/>
                <a:sym typeface="Roboto Mono"/>
              </a:rPr>
              <a:t>* </a:t>
            </a:r>
            <a:r>
              <a:rPr i="1" lang="es" sz="750">
                <a:solidFill>
                  <a:srgbClr val="A05000"/>
                </a:solidFill>
                <a:latin typeface="Roboto Mono"/>
                <a:ea typeface="Roboto Mono"/>
                <a:cs typeface="Roboto Mono"/>
                <a:sym typeface="Roboto Mono"/>
              </a:rPr>
              <a:t>|Error| &lt; 0.05  → No adjustment (excellent predict)</a:t>
            </a:r>
            <a:endParaRPr sz="75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" sz="750">
                <a:solidFill>
                  <a:srgbClr val="A05000"/>
                </a:solidFill>
                <a:latin typeface="Roboto Mono"/>
                <a:ea typeface="Roboto Mono"/>
                <a:cs typeface="Roboto Mono"/>
                <a:sym typeface="Roboto Mono"/>
              </a:rPr>
              <a:t>* </a:t>
            </a:r>
            <a:r>
              <a:rPr i="1" lang="es" sz="750">
                <a:solidFill>
                  <a:srgbClr val="A05000"/>
                </a:solidFill>
                <a:latin typeface="Roboto Mono"/>
                <a:ea typeface="Roboto Mono"/>
                <a:cs typeface="Roboto Mono"/>
                <a:sym typeface="Roboto Mono"/>
              </a:rPr>
              <a:t>|Error| ≥ 0.05  → Apply Gradient Descent</a:t>
            </a:r>
            <a:endParaRPr sz="75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" sz="750">
                <a:solidFill>
                  <a:srgbClr val="A05000"/>
                </a:solidFill>
                <a:latin typeface="Roboto Mono"/>
                <a:ea typeface="Roboto Mono"/>
                <a:cs typeface="Roboto Mono"/>
                <a:sym typeface="Roboto Mono"/>
              </a:rPr>
              <a:t>*/</a:t>
            </a:r>
            <a:endParaRPr sz="75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5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5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const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750">
                <a:solidFill>
                  <a:srgbClr val="0000F0"/>
                </a:solidFill>
                <a:latin typeface="Roboto Mono"/>
                <a:ea typeface="Roboto Mono"/>
                <a:cs typeface="Roboto Mono"/>
                <a:sym typeface="Roboto Mono"/>
              </a:rPr>
              <a:t>error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s" sz="75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endParaRPr sz="75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adjustedTarget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s" sz="75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-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75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originalScore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es" sz="75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totalScore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75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endParaRPr sz="75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5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const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750">
                <a:solidFill>
                  <a:srgbClr val="0000F0"/>
                </a:solidFill>
                <a:latin typeface="Roboto Mono"/>
                <a:ea typeface="Roboto Mono"/>
                <a:cs typeface="Roboto Mono"/>
                <a:sym typeface="Roboto Mono"/>
              </a:rPr>
              <a:t>errorPercentage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s" sz="75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75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error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s" sz="75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*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750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100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75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5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console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es" sz="75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log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s" sz="750">
                <a:solidFill>
                  <a:srgbClr val="F05000"/>
                </a:solidFill>
                <a:latin typeface="Roboto Mono"/>
                <a:ea typeface="Roboto Mono"/>
                <a:cs typeface="Roboto Mono"/>
                <a:sym typeface="Roboto Mono"/>
              </a:rPr>
              <a:t>`  - Prediction error: ${</a:t>
            </a:r>
            <a:r>
              <a:rPr lang="es" sz="75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errorPercentage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s" sz="75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750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0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s" sz="75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?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75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'+'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: </a:t>
            </a:r>
            <a:r>
              <a:rPr lang="es" sz="75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''</a:t>
            </a:r>
            <a:r>
              <a:rPr lang="es" sz="750">
                <a:solidFill>
                  <a:srgbClr val="F05000"/>
                </a:solidFill>
                <a:latin typeface="Roboto Mono"/>
                <a:ea typeface="Roboto Mono"/>
                <a:cs typeface="Roboto Mono"/>
                <a:sym typeface="Roboto Mono"/>
              </a:rPr>
              <a:t>}${</a:t>
            </a:r>
            <a:r>
              <a:rPr lang="es" sz="75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errorPercentage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es" sz="75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toFixed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s" sz="750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2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)</a:t>
            </a:r>
            <a:r>
              <a:rPr lang="es" sz="750">
                <a:solidFill>
                  <a:srgbClr val="F05000"/>
                </a:solidFill>
                <a:latin typeface="Roboto Mono"/>
                <a:ea typeface="Roboto Mono"/>
                <a:cs typeface="Roboto Mono"/>
                <a:sym typeface="Roboto Mono"/>
              </a:rPr>
              <a:t>}%`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 sz="75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5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5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if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(</a:t>
            </a:r>
            <a:r>
              <a:rPr lang="es" sz="75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Math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es" sz="75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abs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s" sz="75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error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) </a:t>
            </a:r>
            <a:r>
              <a:rPr b="1" lang="es" sz="75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&lt;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750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0.05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) {</a:t>
            </a:r>
            <a:endParaRPr sz="75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lang="es" sz="75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console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es" sz="75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log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s" sz="75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'  - Status: EXCELLENT (error &lt; 5%) - No weight adjustment needed\n'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 sz="75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b="1" lang="es" sz="75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return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{</a:t>
            </a:r>
            <a:endParaRPr sz="75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     </a:t>
            </a:r>
            <a:r>
              <a:rPr lang="es" sz="75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success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es" sz="750">
                <a:solidFill>
                  <a:srgbClr val="201090"/>
                </a:solidFill>
                <a:latin typeface="Roboto Mono"/>
                <a:ea typeface="Roboto Mono"/>
                <a:cs typeface="Roboto Mono"/>
                <a:sym typeface="Roboto Mono"/>
              </a:rPr>
              <a:t>true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,</a:t>
            </a:r>
            <a:endParaRPr sz="75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     </a:t>
            </a:r>
            <a:r>
              <a:rPr lang="es" sz="75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message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es" sz="75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'Prediction was already accurate. No training needed.'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,</a:t>
            </a:r>
            <a:endParaRPr sz="75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     </a:t>
            </a:r>
            <a:r>
              <a:rPr lang="es" sz="75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metrics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: {</a:t>
            </a:r>
            <a:endParaRPr sz="75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     </a:t>
            </a:r>
            <a:r>
              <a:rPr lang="es" sz="75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originalScore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es" sz="75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originalScore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es" sz="75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totalScore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,</a:t>
            </a:r>
            <a:endParaRPr sz="75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     </a:t>
            </a:r>
            <a:r>
              <a:rPr lang="es" sz="75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targetScore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es" sz="75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adjustedTarget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,</a:t>
            </a:r>
            <a:endParaRPr sz="75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     </a:t>
            </a:r>
            <a:r>
              <a:rPr lang="es" sz="75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error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es" sz="75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error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,</a:t>
            </a:r>
            <a:endParaRPr sz="75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     </a:t>
            </a:r>
            <a:r>
              <a:rPr lang="es" sz="75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weightsAdjusted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es" sz="750">
                <a:solidFill>
                  <a:srgbClr val="201090"/>
                </a:solidFill>
                <a:latin typeface="Roboto Mono"/>
                <a:ea typeface="Roboto Mono"/>
                <a:cs typeface="Roboto Mono"/>
                <a:sym typeface="Roboto Mono"/>
              </a:rPr>
              <a:t>false</a:t>
            </a:r>
            <a:endParaRPr sz="75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     }</a:t>
            </a:r>
            <a:endParaRPr sz="75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 };</a:t>
            </a:r>
            <a:endParaRPr sz="75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75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5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console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es" sz="75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log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s" sz="750">
                <a:solidFill>
                  <a:srgbClr val="F05000"/>
                </a:solidFill>
                <a:latin typeface="Roboto Mono"/>
                <a:ea typeface="Roboto Mono"/>
                <a:cs typeface="Roboto Mono"/>
                <a:sym typeface="Roboto Mono"/>
              </a:rPr>
              <a:t>`  - Status: ${</a:t>
            </a:r>
            <a:r>
              <a:rPr lang="es" sz="75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Math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es" sz="75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abs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s" sz="75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error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) </a:t>
            </a:r>
            <a:r>
              <a:rPr b="1" lang="es" sz="75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&lt;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750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0.15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s" sz="75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?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75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'GOOD'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: </a:t>
            </a:r>
            <a:r>
              <a:rPr lang="es" sz="75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'NEEDS IMPROVEMENT'</a:t>
            </a:r>
            <a:r>
              <a:rPr lang="es" sz="750">
                <a:solidFill>
                  <a:srgbClr val="F05000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750">
                <a:solidFill>
                  <a:srgbClr val="F05000"/>
                </a:solidFill>
                <a:latin typeface="Roboto Mono"/>
                <a:ea typeface="Roboto Mono"/>
                <a:cs typeface="Roboto Mono"/>
                <a:sym typeface="Roboto Mono"/>
              </a:rPr>
              <a:t>- Adjusting weights...\n`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 sz="75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96" name="Google Shape;396;p42"/>
          <p:cNvSpPr/>
          <p:nvPr/>
        </p:nvSpPr>
        <p:spPr>
          <a:xfrm>
            <a:off x="3496349" y="3804450"/>
            <a:ext cx="413700" cy="35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latin typeface="Calibri"/>
                <a:ea typeface="Calibri"/>
                <a:cs typeface="Calibri"/>
                <a:sym typeface="Calibri"/>
              </a:rPr>
              <a:t>4</a:t>
            </a:r>
            <a:endParaRPr b="1" sz="15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43"/>
          <p:cNvSpPr txBox="1"/>
          <p:nvPr>
            <p:ph type="title"/>
          </p:nvPr>
        </p:nvSpPr>
        <p:spPr>
          <a:xfrm>
            <a:off x="582768" y="384025"/>
            <a:ext cx="38652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2700" marR="5080" rtl="0" algn="just">
              <a:lnSpc>
                <a:spcPct val="10812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1" lang="es" sz="2700">
                <a:latin typeface="Times New Roman"/>
                <a:ea typeface="Times New Roman"/>
                <a:cs typeface="Times New Roman"/>
                <a:sym typeface="Times New Roman"/>
              </a:rPr>
              <a:t>Training Phase (III)</a:t>
            </a:r>
            <a:endParaRPr b="1" i="1" sz="2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5080" rtl="0" algn="just">
              <a:lnSpc>
                <a:spcPct val="10812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1" i="1" sz="2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02" name="Google Shape;402;p43"/>
          <p:cNvPicPr preferRelativeResize="0"/>
          <p:nvPr/>
        </p:nvPicPr>
        <p:blipFill rotWithShape="1">
          <a:blip r:embed="rId3">
            <a:alphaModFix/>
          </a:blip>
          <a:srcRect b="16105" l="17335" r="16755" t="16112"/>
          <a:stretch/>
        </p:blipFill>
        <p:spPr>
          <a:xfrm>
            <a:off x="8582093" y="216279"/>
            <a:ext cx="348925" cy="358851"/>
          </a:xfrm>
          <a:prstGeom prst="rect">
            <a:avLst/>
          </a:prstGeom>
          <a:noFill/>
          <a:ln>
            <a:noFill/>
          </a:ln>
        </p:spPr>
      </p:pic>
      <p:sp>
        <p:nvSpPr>
          <p:cNvPr id="403" name="Google Shape;403;p43"/>
          <p:cNvSpPr txBox="1"/>
          <p:nvPr/>
        </p:nvSpPr>
        <p:spPr>
          <a:xfrm>
            <a:off x="716550" y="987450"/>
            <a:ext cx="2988600" cy="3871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5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const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750">
                <a:solidFill>
                  <a:srgbClr val="0000F0"/>
                </a:solidFill>
                <a:latin typeface="Roboto Mono"/>
                <a:ea typeface="Roboto Mono"/>
                <a:cs typeface="Roboto Mono"/>
                <a:sym typeface="Roboto Mono"/>
              </a:rPr>
              <a:t>trainingMetrics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s" sz="75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{</a:t>
            </a:r>
            <a:endParaRPr sz="75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es" sz="75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userId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,</a:t>
            </a:r>
            <a:endParaRPr sz="75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es" sz="75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r</a:t>
            </a:r>
            <a:r>
              <a:rPr lang="es" sz="75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oomId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,</a:t>
            </a:r>
            <a:endParaRPr sz="75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es" sz="75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rating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,</a:t>
            </a:r>
            <a:endParaRPr sz="75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es" sz="75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actualUsage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,</a:t>
            </a:r>
            <a:endParaRPr sz="75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es" sz="75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satisfaction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,</a:t>
            </a:r>
            <a:endParaRPr sz="75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es" sz="75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originalScore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es" sz="75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originalScore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es" sz="75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totalScore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,</a:t>
            </a:r>
            <a:endParaRPr sz="75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es" sz="75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scoreBreakdown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es" sz="75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originalScore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es" sz="75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scoreBreakdown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,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endParaRPr sz="75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es" sz="75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targetScore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es" sz="75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adjustedTarget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,</a:t>
            </a:r>
            <a:endParaRPr sz="75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es" sz="75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error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es" sz="75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error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,</a:t>
            </a:r>
            <a:endParaRPr sz="75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es" sz="75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newScore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es" sz="75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newScore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es" sz="75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totalScore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,</a:t>
            </a:r>
            <a:endParaRPr sz="75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es" sz="75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newError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es" sz="75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newError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,</a:t>
            </a:r>
            <a:endParaRPr sz="75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es" sz="75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improvement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es" sz="75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Math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es" sz="75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abs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s" sz="75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error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) </a:t>
            </a:r>
            <a:r>
              <a:rPr b="1" lang="es" sz="75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-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75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Math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es" sz="75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abs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s" sz="75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newError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),</a:t>
            </a:r>
            <a:endParaRPr sz="75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es" sz="75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weightsAdjusted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es" sz="750">
                <a:solidFill>
                  <a:srgbClr val="201090"/>
                </a:solidFill>
                <a:latin typeface="Roboto Mono"/>
                <a:ea typeface="Roboto Mono"/>
                <a:cs typeface="Roboto Mono"/>
                <a:sym typeface="Roboto Mono"/>
              </a:rPr>
              <a:t>true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,</a:t>
            </a:r>
            <a:endParaRPr sz="75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es" sz="75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oldWeights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,</a:t>
            </a:r>
            <a:endParaRPr sz="75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es" sz="75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newWeights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: { </a:t>
            </a:r>
            <a:r>
              <a:rPr lang="es" sz="750">
                <a:solidFill>
                  <a:srgbClr val="505050"/>
                </a:solidFill>
                <a:latin typeface="Roboto Mono"/>
                <a:ea typeface="Roboto Mono"/>
                <a:cs typeface="Roboto Mono"/>
                <a:sym typeface="Roboto Mono"/>
              </a:rPr>
              <a:t>...</a:t>
            </a:r>
            <a:r>
              <a:rPr b="1" lang="es" sz="75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this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es" sz="75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weights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},</a:t>
            </a:r>
            <a:endParaRPr sz="75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es" sz="75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learningRate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es" sz="750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0.05</a:t>
            </a:r>
            <a:r>
              <a:rPr i="1" lang="es" sz="750">
                <a:solidFill>
                  <a:srgbClr val="A05000"/>
                </a:solidFill>
                <a:latin typeface="Roboto Mono"/>
                <a:ea typeface="Roboto Mono"/>
                <a:cs typeface="Roboto Mono"/>
                <a:sym typeface="Roboto Mono"/>
              </a:rPr>
              <a:t>// Not high drastic changes</a:t>
            </a:r>
            <a:endParaRPr sz="75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};</a:t>
            </a:r>
            <a:endParaRPr sz="75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5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5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" sz="750">
                <a:solidFill>
                  <a:srgbClr val="A05000"/>
                </a:solidFill>
                <a:latin typeface="Roboto Mono"/>
                <a:ea typeface="Roboto Mono"/>
                <a:cs typeface="Roboto Mono"/>
                <a:sym typeface="Roboto Mono"/>
              </a:rPr>
              <a:t>// Save in the metrics table</a:t>
            </a:r>
            <a:endParaRPr sz="75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5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try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{</a:t>
            </a:r>
            <a:endParaRPr sz="75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5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const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{ </a:t>
            </a:r>
            <a:r>
              <a:rPr lang="es" sz="750">
                <a:solidFill>
                  <a:srgbClr val="0000F0"/>
                </a:solidFill>
                <a:latin typeface="Roboto Mono"/>
                <a:ea typeface="Roboto Mono"/>
                <a:cs typeface="Roboto Mono"/>
                <a:sym typeface="Roboto Mono"/>
              </a:rPr>
              <a:t>TrainingMetrics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} </a:t>
            </a:r>
            <a:r>
              <a:rPr b="1" lang="es" sz="75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75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require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s" sz="75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'../models'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 sz="75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5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if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(</a:t>
            </a:r>
            <a:r>
              <a:rPr lang="es" sz="750">
                <a:solidFill>
                  <a:srgbClr val="0050A0"/>
                </a:solidFill>
                <a:latin typeface="Roboto Mono"/>
                <a:ea typeface="Roboto Mono"/>
                <a:cs typeface="Roboto Mono"/>
                <a:sym typeface="Roboto Mono"/>
              </a:rPr>
              <a:t>TrainingMetrics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) {</a:t>
            </a:r>
            <a:endParaRPr sz="75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b="1" lang="es" sz="75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await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750">
                <a:solidFill>
                  <a:srgbClr val="0050A0"/>
                </a:solidFill>
                <a:latin typeface="Roboto Mono"/>
                <a:ea typeface="Roboto Mono"/>
                <a:cs typeface="Roboto Mono"/>
                <a:sym typeface="Roboto Mono"/>
              </a:rPr>
              <a:t>TrainingMetrics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es" sz="75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create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s" sz="75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trainingMetrics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 sz="75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lang="es" sz="75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console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es" sz="75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log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s" sz="75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'[TRAINING] Training metrics saved to database ✓'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 sz="75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75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} </a:t>
            </a:r>
            <a:r>
              <a:rPr b="1" lang="es" sz="75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catch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(</a:t>
            </a:r>
            <a:r>
              <a:rPr lang="es" sz="750">
                <a:solidFill>
                  <a:srgbClr val="0000F0"/>
                </a:solidFill>
                <a:latin typeface="Roboto Mono"/>
                <a:ea typeface="Roboto Mono"/>
                <a:cs typeface="Roboto Mono"/>
                <a:sym typeface="Roboto Mono"/>
              </a:rPr>
              <a:t>dbError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) {</a:t>
            </a:r>
            <a:endParaRPr sz="75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    . . .</a:t>
            </a:r>
            <a:endParaRPr sz="75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75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404" name="Google Shape;404;p43"/>
          <p:cNvSpPr/>
          <p:nvPr/>
        </p:nvSpPr>
        <p:spPr>
          <a:xfrm>
            <a:off x="3291438" y="4499850"/>
            <a:ext cx="413700" cy="35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latin typeface="Calibri"/>
                <a:ea typeface="Calibri"/>
                <a:cs typeface="Calibri"/>
                <a:sym typeface="Calibri"/>
              </a:rPr>
              <a:t>6</a:t>
            </a:r>
            <a:endParaRPr b="1" sz="15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43"/>
          <p:cNvSpPr txBox="1"/>
          <p:nvPr/>
        </p:nvSpPr>
        <p:spPr>
          <a:xfrm>
            <a:off x="3827475" y="575125"/>
            <a:ext cx="4561500" cy="42834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console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es" sz="75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log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s" sz="75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'[TRAINING] Applying gradient descent to adjust weights...'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 sz="75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5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const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750">
                <a:solidFill>
                  <a:srgbClr val="0000F0"/>
                </a:solidFill>
                <a:latin typeface="Roboto Mono"/>
                <a:ea typeface="Roboto Mono"/>
                <a:cs typeface="Roboto Mono"/>
                <a:sym typeface="Roboto Mono"/>
              </a:rPr>
              <a:t>learningRate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s" sz="75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750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0.05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; </a:t>
            </a:r>
            <a:r>
              <a:rPr i="1" lang="es" sz="750">
                <a:solidFill>
                  <a:srgbClr val="A05000"/>
                </a:solidFill>
                <a:latin typeface="Roboto Mono"/>
                <a:ea typeface="Roboto Mono"/>
                <a:cs typeface="Roboto Mono"/>
                <a:sym typeface="Roboto Mono"/>
              </a:rPr>
              <a:t>// Conservative learning rate</a:t>
            </a:r>
            <a:endParaRPr i="1" sz="750">
              <a:solidFill>
                <a:srgbClr val="A05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5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const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750">
                <a:solidFill>
                  <a:srgbClr val="0000F0"/>
                </a:solidFill>
                <a:latin typeface="Roboto Mono"/>
                <a:ea typeface="Roboto Mono"/>
                <a:cs typeface="Roboto Mono"/>
                <a:sym typeface="Roboto Mono"/>
              </a:rPr>
              <a:t>oldWeights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s" sz="75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{ </a:t>
            </a:r>
            <a:r>
              <a:rPr lang="es" sz="750">
                <a:solidFill>
                  <a:srgbClr val="505050"/>
                </a:solidFill>
                <a:latin typeface="Roboto Mono"/>
                <a:ea typeface="Roboto Mono"/>
                <a:cs typeface="Roboto Mono"/>
                <a:sym typeface="Roboto Mono"/>
              </a:rPr>
              <a:t>...</a:t>
            </a:r>
            <a:r>
              <a:rPr b="1" lang="es" sz="75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this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es" sz="75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weights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};</a:t>
            </a:r>
            <a:endParaRPr sz="75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5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" sz="750">
                <a:solidFill>
                  <a:srgbClr val="A05000"/>
                </a:solidFill>
                <a:latin typeface="Roboto Mono"/>
                <a:ea typeface="Roboto Mono"/>
                <a:cs typeface="Roboto Mono"/>
                <a:sym typeface="Roboto Mono"/>
              </a:rPr>
              <a:t>// Gradient = error × score_factor × learning_rate</a:t>
            </a:r>
            <a:endParaRPr sz="75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5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const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750">
                <a:solidFill>
                  <a:srgbClr val="0000F0"/>
                </a:solidFill>
                <a:latin typeface="Roboto Mono"/>
                <a:ea typeface="Roboto Mono"/>
                <a:cs typeface="Roboto Mono"/>
                <a:sym typeface="Roboto Mono"/>
              </a:rPr>
              <a:t>gradients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s" sz="75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{</a:t>
            </a:r>
            <a:endParaRPr sz="75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75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roomFeatures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es" sz="75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error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s" sz="75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*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75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originalScore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es" sz="75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scoreBreakdown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es" sz="75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features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s" sz="75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*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75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learningRate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,</a:t>
            </a:r>
            <a:endParaRPr sz="75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75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availability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es" sz="75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error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s" sz="75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*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75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originalScore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es" sz="75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scoreBreakdown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es" sz="75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availability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s" sz="75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*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75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learningRate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,</a:t>
            </a:r>
            <a:endParaRPr sz="75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75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userHistory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es" sz="75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error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s" sz="75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*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75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originalScore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es" sz="75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scoreBreakdown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es" sz="75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history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s" sz="75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*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75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learningRate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,</a:t>
            </a:r>
            <a:endParaRPr sz="75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75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similarUsers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es" sz="75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error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s" sz="75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*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75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originalScore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es" sz="75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scoreBreakdown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es" sz="75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similarUsers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s" sz="75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*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75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learningRate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,</a:t>
            </a:r>
            <a:endParaRPr sz="75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75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temporalPattern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es" sz="75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error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s" sz="75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*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75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originalScore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es" sz="75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scoreBreakdown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es" sz="75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temporal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s" sz="75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*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75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learningRate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,</a:t>
            </a:r>
            <a:endParaRPr sz="75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75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capacityMatch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es" sz="75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error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s" sz="75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*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75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originalScore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es" sz="75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scoreBreakdown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es" sz="75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capacity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s" sz="75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*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75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learningRate</a:t>
            </a:r>
            <a:endParaRPr sz="75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};</a:t>
            </a:r>
            <a:endParaRPr sz="75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5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5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this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es" sz="75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weights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es" sz="75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roomFeatures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s" sz="75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+=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75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gradients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es" sz="75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roomFeatures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; </a:t>
            </a:r>
            <a:r>
              <a:rPr i="1" lang="es" sz="750">
                <a:solidFill>
                  <a:srgbClr val="A05000"/>
                </a:solidFill>
                <a:latin typeface="Roboto Mono"/>
                <a:ea typeface="Roboto Mono"/>
                <a:cs typeface="Roboto Mono"/>
                <a:sym typeface="Roboto Mono"/>
              </a:rPr>
              <a:t>// Apply gradients</a:t>
            </a:r>
            <a:endParaRPr sz="75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this.weights.availability += gradients.availability;</a:t>
            </a:r>
            <a:endParaRPr sz="75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this.weights.userHistory += gradients.userHistory;</a:t>
            </a:r>
            <a:endParaRPr sz="75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this.weights.similarUsers += gradients.similarUsers;</a:t>
            </a:r>
            <a:endParaRPr sz="75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this.weights.temporalPattern += gradients.temporalPattern;</a:t>
            </a:r>
            <a:endParaRPr sz="75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this.weights.capacityMatch += gradients.capacityMatch;</a:t>
            </a:r>
            <a:endParaRPr sz="75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5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Object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es" sz="75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keys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b="1" lang="es" sz="75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this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es" sz="75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weights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).</a:t>
            </a:r>
            <a:r>
              <a:rPr lang="es" sz="75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forEach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s" sz="750">
                <a:solidFill>
                  <a:srgbClr val="0000F0"/>
                </a:solidFill>
                <a:latin typeface="Roboto Mono"/>
                <a:ea typeface="Roboto Mono"/>
                <a:cs typeface="Roboto Mono"/>
                <a:sym typeface="Roboto Mono"/>
              </a:rPr>
              <a:t>key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s" sz="75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=&gt;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{ </a:t>
            </a:r>
            <a:endParaRPr sz="750"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5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this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es" sz="75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weights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[</a:t>
            </a:r>
            <a:r>
              <a:rPr lang="es" sz="750">
                <a:solidFill>
                  <a:srgbClr val="0050A0"/>
                </a:solidFill>
                <a:latin typeface="Roboto Mono"/>
                <a:ea typeface="Roboto Mono"/>
                <a:cs typeface="Roboto Mono"/>
                <a:sym typeface="Roboto Mono"/>
              </a:rPr>
              <a:t>key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] </a:t>
            </a:r>
            <a:r>
              <a:rPr b="1" lang="es" sz="75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75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Math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es" sz="75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max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s" sz="750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0.01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s" sz="75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Math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es" sz="75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min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s" sz="750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0.99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b="1" lang="es" sz="75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this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es" sz="75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weights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[</a:t>
            </a:r>
            <a:r>
              <a:rPr lang="es" sz="750">
                <a:solidFill>
                  <a:srgbClr val="0050A0"/>
                </a:solidFill>
                <a:latin typeface="Roboto Mono"/>
                <a:ea typeface="Roboto Mono"/>
                <a:cs typeface="Roboto Mono"/>
                <a:sym typeface="Roboto Mono"/>
              </a:rPr>
              <a:t>key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])); </a:t>
            </a:r>
            <a:endParaRPr sz="75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}); </a:t>
            </a:r>
            <a:r>
              <a:rPr i="1" lang="es" sz="750">
                <a:solidFill>
                  <a:srgbClr val="A05000"/>
                </a:solidFill>
                <a:latin typeface="Roboto Mono"/>
                <a:ea typeface="Roboto Mono"/>
                <a:cs typeface="Roboto Mono"/>
                <a:sym typeface="Roboto Mono"/>
              </a:rPr>
              <a:t>// Weights E [0, 1]</a:t>
            </a:r>
            <a:endParaRPr sz="75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5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" sz="750">
                <a:solidFill>
                  <a:srgbClr val="A05000"/>
                </a:solidFill>
                <a:latin typeface="Roboto Mono"/>
                <a:ea typeface="Roboto Mono"/>
                <a:cs typeface="Roboto Mono"/>
                <a:sym typeface="Roboto Mono"/>
              </a:rPr>
              <a:t>// Normalize (summation has to be 1.0)</a:t>
            </a:r>
            <a:endParaRPr sz="75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5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const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750">
                <a:solidFill>
                  <a:srgbClr val="0000F0"/>
                </a:solidFill>
                <a:latin typeface="Roboto Mono"/>
                <a:ea typeface="Roboto Mono"/>
                <a:cs typeface="Roboto Mono"/>
                <a:sym typeface="Roboto Mono"/>
              </a:rPr>
              <a:t>totalWeight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s" sz="75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75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Object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es" sz="75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values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b="1" lang="es" sz="75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this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es" sz="75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weights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).</a:t>
            </a:r>
            <a:r>
              <a:rPr lang="es" sz="75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reduce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((</a:t>
            </a:r>
            <a:r>
              <a:rPr lang="es" sz="750">
                <a:solidFill>
                  <a:srgbClr val="0000F0"/>
                </a:solidFill>
                <a:latin typeface="Roboto Mono"/>
                <a:ea typeface="Roboto Mono"/>
                <a:cs typeface="Roboto Mono"/>
                <a:sym typeface="Roboto Mono"/>
              </a:rPr>
              <a:t>sum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s" sz="750">
                <a:solidFill>
                  <a:srgbClr val="0000F0"/>
                </a:solidFill>
                <a:latin typeface="Roboto Mono"/>
                <a:ea typeface="Roboto Mono"/>
                <a:cs typeface="Roboto Mono"/>
                <a:sym typeface="Roboto Mono"/>
              </a:rPr>
              <a:t>w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) </a:t>
            </a:r>
            <a:r>
              <a:rPr b="1" lang="es" sz="75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=&gt;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750">
                <a:solidFill>
                  <a:srgbClr val="0050A0"/>
                </a:solidFill>
                <a:latin typeface="Roboto Mono"/>
                <a:ea typeface="Roboto Mono"/>
                <a:cs typeface="Roboto Mono"/>
                <a:sym typeface="Roboto Mono"/>
              </a:rPr>
              <a:t>sum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s" sz="75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+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750">
                <a:solidFill>
                  <a:srgbClr val="0050A0"/>
                </a:solidFill>
                <a:latin typeface="Roboto Mono"/>
                <a:ea typeface="Roboto Mono"/>
                <a:cs typeface="Roboto Mono"/>
                <a:sym typeface="Roboto Mono"/>
              </a:rPr>
              <a:t>w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s" sz="750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0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 sz="75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5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Object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es" sz="75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keys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b="1" lang="es" sz="75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this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es" sz="75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weights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).</a:t>
            </a:r>
            <a:r>
              <a:rPr lang="es" sz="75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forEach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s" sz="750">
                <a:solidFill>
                  <a:srgbClr val="0000F0"/>
                </a:solidFill>
                <a:latin typeface="Roboto Mono"/>
                <a:ea typeface="Roboto Mono"/>
                <a:cs typeface="Roboto Mono"/>
                <a:sym typeface="Roboto Mono"/>
              </a:rPr>
              <a:t>key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s" sz="75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=&gt;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{</a:t>
            </a:r>
            <a:endParaRPr sz="75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  </a:t>
            </a:r>
            <a:r>
              <a:rPr b="1" lang="es" sz="75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this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es" sz="75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weights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[</a:t>
            </a:r>
            <a:r>
              <a:rPr lang="es" sz="750">
                <a:solidFill>
                  <a:srgbClr val="0050A0"/>
                </a:solidFill>
                <a:latin typeface="Roboto Mono"/>
                <a:ea typeface="Roboto Mono"/>
                <a:cs typeface="Roboto Mono"/>
                <a:sym typeface="Roboto Mono"/>
              </a:rPr>
              <a:t>key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] </a:t>
            </a:r>
            <a:r>
              <a:rPr b="1" lang="es" sz="75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s" sz="75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this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es" sz="75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weights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[</a:t>
            </a:r>
            <a:r>
              <a:rPr lang="es" sz="750">
                <a:solidFill>
                  <a:srgbClr val="0050A0"/>
                </a:solidFill>
                <a:latin typeface="Roboto Mono"/>
                <a:ea typeface="Roboto Mono"/>
                <a:cs typeface="Roboto Mono"/>
                <a:sym typeface="Roboto Mono"/>
              </a:rPr>
              <a:t>key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] </a:t>
            </a:r>
            <a:r>
              <a:rPr b="1" lang="es" sz="75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/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75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totalWeight</a:t>
            </a: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75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});</a:t>
            </a:r>
            <a:endParaRPr sz="75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5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0">
                <a:latin typeface="Roboto Mono"/>
                <a:ea typeface="Roboto Mono"/>
                <a:cs typeface="Roboto Mono"/>
                <a:sym typeface="Roboto Mono"/>
              </a:rPr>
              <a:t>     </a:t>
            </a:r>
            <a:endParaRPr sz="75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406" name="Google Shape;406;p43"/>
          <p:cNvSpPr/>
          <p:nvPr/>
        </p:nvSpPr>
        <p:spPr>
          <a:xfrm>
            <a:off x="7975263" y="4499850"/>
            <a:ext cx="413700" cy="35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latin typeface="Calibri"/>
                <a:ea typeface="Calibri"/>
                <a:cs typeface="Calibri"/>
                <a:sym typeface="Calibri"/>
              </a:rPr>
              <a:t>5</a:t>
            </a:r>
            <a:endParaRPr b="1" sz="15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44"/>
          <p:cNvSpPr txBox="1"/>
          <p:nvPr>
            <p:ph type="title"/>
          </p:nvPr>
        </p:nvSpPr>
        <p:spPr>
          <a:xfrm>
            <a:off x="582763" y="384023"/>
            <a:ext cx="12465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2700" marR="5080" rtl="0" algn="just">
              <a:lnSpc>
                <a:spcPct val="10812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1" lang="es" sz="2700">
                <a:latin typeface="Times New Roman"/>
                <a:ea typeface="Times New Roman"/>
                <a:cs typeface="Times New Roman"/>
                <a:sym typeface="Times New Roman"/>
              </a:rPr>
              <a:t>Testing</a:t>
            </a:r>
            <a:endParaRPr b="1" i="1" sz="2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12" name="Google Shape;412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8650" y="1418852"/>
            <a:ext cx="4067376" cy="3436426"/>
          </a:xfrm>
          <a:prstGeom prst="rect">
            <a:avLst/>
          </a:prstGeom>
          <a:noFill/>
          <a:ln>
            <a:noFill/>
          </a:ln>
        </p:spPr>
      </p:pic>
      <p:sp>
        <p:nvSpPr>
          <p:cNvPr id="413" name="Google Shape;413;p44"/>
          <p:cNvSpPr txBox="1"/>
          <p:nvPr>
            <p:ph idx="1" type="body"/>
          </p:nvPr>
        </p:nvSpPr>
        <p:spPr>
          <a:xfrm>
            <a:off x="1024738" y="1029792"/>
            <a:ext cx="3355200" cy="36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s" sz="1600">
                <a:solidFill>
                  <a:srgbClr val="CCCC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backend/src/ml/</a:t>
            </a:r>
            <a:r>
              <a:rPr b="1" lang="es" sz="1600">
                <a:solidFill>
                  <a:srgbClr val="43434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testMLHistorical.js</a:t>
            </a:r>
            <a:endParaRPr sz="1500">
              <a:solidFill>
                <a:srgbClr val="43434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14" name="Google Shape;414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81295" y="2207981"/>
            <a:ext cx="4103173" cy="1904167"/>
          </a:xfrm>
          <a:prstGeom prst="rect">
            <a:avLst/>
          </a:prstGeom>
          <a:noFill/>
          <a:ln>
            <a:noFill/>
          </a:ln>
        </p:spPr>
      </p:pic>
      <p:pic>
        <p:nvPicPr>
          <p:cNvPr id="415" name="Google Shape;415;p4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975850" y="614125"/>
            <a:ext cx="6618425" cy="281625"/>
          </a:xfrm>
          <a:prstGeom prst="rect">
            <a:avLst/>
          </a:prstGeom>
          <a:noFill/>
          <a:ln>
            <a:noFill/>
          </a:ln>
        </p:spPr>
      </p:pic>
      <p:sp>
        <p:nvSpPr>
          <p:cNvPr id="416" name="Google Shape;416;p44"/>
          <p:cNvSpPr txBox="1"/>
          <p:nvPr>
            <p:ph idx="1" type="body"/>
          </p:nvPr>
        </p:nvSpPr>
        <p:spPr>
          <a:xfrm>
            <a:off x="5155275" y="1818911"/>
            <a:ext cx="3514200" cy="36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s" sz="1600">
                <a:solidFill>
                  <a:srgbClr val="CCCC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backend/src/ml/</a:t>
            </a:r>
            <a:r>
              <a:rPr b="1" lang="es" sz="1600">
                <a:solidFill>
                  <a:srgbClr val="43434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testTemporalSimple.js</a:t>
            </a:r>
            <a:endParaRPr sz="1500">
              <a:solidFill>
                <a:srgbClr val="43434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17" name="Google Shape;417;p44"/>
          <p:cNvPicPr preferRelativeResize="0"/>
          <p:nvPr/>
        </p:nvPicPr>
        <p:blipFill rotWithShape="1">
          <a:blip r:embed="rId6">
            <a:alphaModFix/>
          </a:blip>
          <a:srcRect b="16105" l="17335" r="16755" t="16112"/>
          <a:stretch/>
        </p:blipFill>
        <p:spPr>
          <a:xfrm>
            <a:off x="8582093" y="216279"/>
            <a:ext cx="348925" cy="358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45"/>
          <p:cNvSpPr txBox="1"/>
          <p:nvPr>
            <p:ph idx="1" type="body"/>
          </p:nvPr>
        </p:nvSpPr>
        <p:spPr>
          <a:xfrm>
            <a:off x="4817054" y="327300"/>
            <a:ext cx="3667200" cy="36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CCCC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backend/src/ml/</a:t>
            </a:r>
            <a:r>
              <a:rPr b="1" lang="es" sz="1600">
                <a:solidFill>
                  <a:srgbClr val="43434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testTrainingML.js</a:t>
            </a:r>
            <a:endParaRPr sz="1500">
              <a:solidFill>
                <a:srgbClr val="43434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23" name="Google Shape;423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7250" y="715375"/>
            <a:ext cx="3539005" cy="4148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424" name="Google Shape;424;p45"/>
          <p:cNvPicPr preferRelativeResize="0"/>
          <p:nvPr/>
        </p:nvPicPr>
        <p:blipFill rotWithShape="1">
          <a:blip r:embed="rId4">
            <a:alphaModFix/>
          </a:blip>
          <a:srcRect b="19361" l="0" r="0" t="0"/>
          <a:stretch/>
        </p:blipFill>
        <p:spPr>
          <a:xfrm>
            <a:off x="4817100" y="697251"/>
            <a:ext cx="3667325" cy="2497374"/>
          </a:xfrm>
          <a:prstGeom prst="rect">
            <a:avLst/>
          </a:prstGeom>
          <a:noFill/>
          <a:ln>
            <a:noFill/>
          </a:ln>
        </p:spPr>
      </p:pic>
      <p:pic>
        <p:nvPicPr>
          <p:cNvPr id="425" name="Google Shape;425;p4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17100" y="3194635"/>
            <a:ext cx="3667325" cy="7650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26" name="Google Shape;426;p4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817100" y="3948948"/>
            <a:ext cx="3667326" cy="934250"/>
          </a:xfrm>
          <a:prstGeom prst="rect">
            <a:avLst/>
          </a:prstGeom>
          <a:noFill/>
          <a:ln>
            <a:noFill/>
          </a:ln>
        </p:spPr>
      </p:pic>
      <p:sp>
        <p:nvSpPr>
          <p:cNvPr id="427" name="Google Shape;427;p45"/>
          <p:cNvSpPr txBox="1"/>
          <p:nvPr>
            <p:ph idx="1" type="body"/>
          </p:nvPr>
        </p:nvSpPr>
        <p:spPr>
          <a:xfrm>
            <a:off x="727250" y="327300"/>
            <a:ext cx="3539100" cy="36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s" sz="1600">
                <a:solidFill>
                  <a:srgbClr val="CCCC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backend/src/ml/</a:t>
            </a:r>
            <a:r>
              <a:rPr b="1" lang="es" sz="1600">
                <a:solidFill>
                  <a:srgbClr val="43434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testTemporalSimple.js</a:t>
            </a:r>
            <a:endParaRPr sz="1500">
              <a:solidFill>
                <a:srgbClr val="43434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28" name="Google Shape;428;p45"/>
          <p:cNvPicPr preferRelativeResize="0"/>
          <p:nvPr/>
        </p:nvPicPr>
        <p:blipFill rotWithShape="1">
          <a:blip r:embed="rId7">
            <a:alphaModFix/>
          </a:blip>
          <a:srcRect b="16105" l="17335" r="16755" t="16112"/>
          <a:stretch/>
        </p:blipFill>
        <p:spPr>
          <a:xfrm>
            <a:off x="8582093" y="216279"/>
            <a:ext cx="348925" cy="358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46"/>
          <p:cNvSpPr txBox="1"/>
          <p:nvPr>
            <p:ph type="title"/>
          </p:nvPr>
        </p:nvSpPr>
        <p:spPr>
          <a:xfrm>
            <a:off x="727650" y="71907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2700" marR="5080" rtl="0" algn="just">
              <a:lnSpc>
                <a:spcPct val="10812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1" lang="es" sz="2700">
                <a:latin typeface="Times New Roman"/>
                <a:ea typeface="Times New Roman"/>
                <a:cs typeface="Times New Roman"/>
                <a:sym typeface="Times New Roman"/>
              </a:rPr>
              <a:t>Future Improvements</a:t>
            </a:r>
            <a:endParaRPr b="1" i="1" sz="2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4" name="Google Shape;434;p46"/>
          <p:cNvSpPr txBox="1"/>
          <p:nvPr>
            <p:ph idx="1" type="body"/>
          </p:nvPr>
        </p:nvSpPr>
        <p:spPr>
          <a:xfrm>
            <a:off x="727650" y="1470714"/>
            <a:ext cx="7688700" cy="28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Times New Roman"/>
              <a:buChar char="●"/>
            </a:pPr>
            <a:r>
              <a:rPr lang="e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Physical QR code reader</a:t>
            </a:r>
            <a:endParaRPr sz="1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Times New Roman"/>
              <a:buChar char="●"/>
            </a:pPr>
            <a:r>
              <a:rPr lang="e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Multi-library management</a:t>
            </a:r>
            <a:endParaRPr sz="1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Times New Roman"/>
              <a:buChar char="●"/>
            </a:pPr>
            <a:r>
              <a:rPr lang="e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 Enhancement: addition of more variables (holidays or exams) or Deep Learning (hidden layers)</a:t>
            </a:r>
            <a:endParaRPr sz="1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Times New Roman"/>
              <a:buChar char="●"/>
            </a:pPr>
            <a:r>
              <a:rPr lang="e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Arduino Serial → ESP32 (Wifi)</a:t>
            </a:r>
            <a:endParaRPr sz="1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5080" rtl="0" algn="l">
              <a:lnSpc>
                <a:spcPct val="1108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35" name="Google Shape;435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42625" y="2893386"/>
            <a:ext cx="1994474" cy="1872739"/>
          </a:xfrm>
          <a:prstGeom prst="rect">
            <a:avLst/>
          </a:prstGeom>
          <a:noFill/>
          <a:ln>
            <a:noFill/>
          </a:ln>
        </p:spPr>
      </p:pic>
      <p:pic>
        <p:nvPicPr>
          <p:cNvPr id="436" name="Google Shape;436;p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14325" y="2893375"/>
            <a:ext cx="1994475" cy="1994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7" name="Google Shape;437;p46"/>
          <p:cNvPicPr preferRelativeResize="0"/>
          <p:nvPr/>
        </p:nvPicPr>
        <p:blipFill rotWithShape="1">
          <a:blip r:embed="rId5">
            <a:alphaModFix/>
          </a:blip>
          <a:srcRect b="16105" l="17335" r="16755" t="16112"/>
          <a:stretch/>
        </p:blipFill>
        <p:spPr>
          <a:xfrm>
            <a:off x="8582093" y="216279"/>
            <a:ext cx="348925" cy="358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hift">
  <a:themeElements>
    <a:clrScheme name="Shift">
      <a:dk1>
        <a:srgbClr val="FFFFFF"/>
      </a:dk1>
      <a:lt1>
        <a:srgbClr val="AF7B51"/>
      </a:lt1>
      <a:dk2>
        <a:srgbClr val="233A44"/>
      </a:dk2>
      <a:lt2>
        <a:srgbClr val="D9D9D9"/>
      </a:lt2>
      <a:accent1>
        <a:srgbClr val="00796B"/>
      </a:accent1>
      <a:accent2>
        <a:srgbClr val="D9563F"/>
      </a:accent2>
      <a:accent3>
        <a:srgbClr val="C4A15A"/>
      </a:accent3>
      <a:accent4>
        <a:srgbClr val="14F597"/>
      </a:accent4>
      <a:accent5>
        <a:srgbClr val="3D4594"/>
      </a:accent5>
      <a:accent6>
        <a:srgbClr val="163EF5"/>
      </a:accent6>
      <a:hlink>
        <a:srgbClr val="3D4594"/>
      </a:hlink>
      <a:folHlink>
        <a:srgbClr val="3D45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